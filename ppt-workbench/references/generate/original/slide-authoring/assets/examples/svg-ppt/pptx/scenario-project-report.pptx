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0560" y="784860"/>
            <a:ext cx="22399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652" y="1311402"/>
            <a:ext cx="8701773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4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总体进度可控，两项风险需要本周升级处理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512" y="2023872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当前已完成核心系统联调，风险集中在数据口径和资源排期。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1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进度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5830" y="4600575"/>
            <a:ext cx="17078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82% 核心任务完成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095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风险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30" y="46005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2 项需升级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486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909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诉求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8630" y="4600575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PMO 本周决策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5486400"/>
            <a:ext cx="10820400" cy="54864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0402" y="5706237"/>
            <a:ext cx="4626011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示例重点：这是一套多页 deck 的封面，不作为内容页结构复用。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656" y="6444996"/>
            <a:ext cx="370994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示例：项目阶段汇报 / 01-cover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53242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汇报目录：进度、风险、决策诉求和下周闭环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3588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项目 deck 必须让领导快速看到是否需要决策。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340" y="232791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4436" y="227304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总体进度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9770" y="254698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里程碑、完成率、验收窗口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1008" y="24185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进度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14400" y="299466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96340" y="322707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436" y="317220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风险阻塞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9770" y="344614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口径、排期、异常回流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008" y="33177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风险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" y="389382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6340" y="412623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4436" y="407136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决策诉求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434530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责任边界、资源协调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1008" y="42169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诉求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9298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6340" y="5025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4436" y="497052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行动台账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9770" y="524446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负责人、时限、验收材料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1008" y="51160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闭环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78675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示例：项目阶段汇报 / 02-agenda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4527271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第一部分：项目进度与验收窗口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319582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用进度和验收倒排解释为什么本周必须处理风险。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905000"/>
            <a:ext cx="3962400" cy="2971800"/>
          </a:xfrm>
          <a:prstGeom prst="roundRect">
            <a:avLst>
              <a:gd name="adj" fmla="val 7179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58596" y="228066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本章节回答什么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1644" y="2718054"/>
            <a:ext cx="156230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1. 进度是否真实可控？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1644" y="3038094"/>
            <a:ext cx="2053765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2. 哪些风险会影响月底验收？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644" y="3358134"/>
            <a:ext cx="190254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3. 需要领导本周拍板什么？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644" y="3678174"/>
            <a:ext cx="16001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4. 下周闭环如何追踪？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75360" y="4358640"/>
            <a:ext cx="289560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61288" y="4468368"/>
            <a:ext cx="2175053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结论先行：可控但必须升级两项风险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029200" y="1965960"/>
            <a:ext cx="64770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288280" y="212598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进度证据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90566" y="2389251"/>
            <a:ext cx="2382403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核心任务完成 82%，主流程通过 12/14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14132" y="2408682"/>
            <a:ext cx="214960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来源：项目周报台账；缺口：异常回流截图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29200" y="2941320"/>
            <a:ext cx="64770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288280" y="310134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风险证据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90566" y="3364611"/>
            <a:ext cx="231099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口径差异、驻场排期两项为红色风险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14132" y="3384042"/>
            <a:ext cx="17407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来源：联调问题清单、PMO 排期表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029200" y="3916680"/>
            <a:ext cx="64770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288280" y="407670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决策证据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90566" y="4339971"/>
            <a:ext cx="2739447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月底验收窗口不可后移，跨部门事项需授权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14132" y="4359402"/>
            <a:ext cx="194237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输出：本周三口径确认 + 周五排期锁定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29200" y="5059680"/>
            <a:ext cx="6477000" cy="670560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289804" y="521741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章节输出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35446" y="5223891"/>
            <a:ext cx="4417557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形成“里程碑-风险-决策-行动”闭环，避免只汇报动作、不暴露阻塞。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9656" y="6368796"/>
            <a:ext cx="168409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03-section-progress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740043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里程碑：主流程按计划推进，验收准备进入关键窗口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40743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项目页用进度、证据和阻塞共同表达，不用泛泛写“正常推进”。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41248" y="2014728"/>
            <a:ext cx="56205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总体进度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580" y="224409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82%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3174" y="2217039"/>
            <a:ext cx="6438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核心任务完成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83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783080" y="2423160"/>
            <a:ext cx="7772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337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508248" y="2014728"/>
            <a:ext cx="42763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主流程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97580" y="2244090"/>
            <a:ext cx="6127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12/14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0174" y="2217039"/>
            <a:ext cx="6438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联调用例通过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50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450080" y="2423160"/>
            <a:ext cx="8153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004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175248" y="2014728"/>
            <a:ext cx="56205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验收材料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64580" y="224409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70%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07174" y="2217039"/>
            <a:ext cx="53987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附件待补齐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117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117080" y="2423160"/>
            <a:ext cx="6629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671560" y="1828800"/>
            <a:ext cx="2286000" cy="8229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42248" y="2014728"/>
            <a:ext cx="69646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问题关闭率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1580" y="224409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78%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74174" y="2217039"/>
            <a:ext cx="6438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已关闭十一项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784080" y="2423160"/>
            <a:ext cx="960120" cy="76200"/>
          </a:xfrm>
          <a:prstGeom prst="roundRect">
            <a:avLst>
              <a:gd name="adj" fmla="val 50000"/>
            </a:avLst>
          </a:prstGeom>
          <a:solidFill>
            <a:srgbClr val="D7DEE8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9784080" y="2423160"/>
            <a:ext cx="739140" cy="76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70560" y="2849880"/>
            <a:ext cx="3276600" cy="2499360"/>
          </a:xfrm>
          <a:prstGeom prst="roundRect">
            <a:avLst>
              <a:gd name="adj" fmla="val 5488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97636" y="302742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领导先看结论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2208" y="3416808"/>
            <a:ext cx="230947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总体可控：核心链路已进入验收准备。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2208" y="3691128"/>
            <a:ext cx="271272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主要缺口：口径确认、驻场排期、截图证据。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2208" y="3965448"/>
            <a:ext cx="2175053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本周动作：两项红色风险必须升级。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208" y="4239768"/>
            <a:ext cx="236323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验收判断：6月14日前完成提交包复核。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4815840"/>
            <a:ext cx="2621280" cy="335280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85850" y="4932045"/>
            <a:ext cx="20958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本页输出：进度 + 证据 + 风险 + 行动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206240" y="2849880"/>
            <a:ext cx="4450080" cy="2499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372356" y="299694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验收倒排里程碑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55414" y="33600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节点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76494" y="336003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完成标准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24294" y="336003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证据材料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19694" y="33600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状态</a:t>
            </a:r>
          </a:p>
        </p:txBody>
      </p:sp>
      <p:sp>
        <p:nvSpPr>
          <p:cNvPr id="46" name="Line 46"/>
          <p:cNvSpPr/>
          <p:nvPr/>
        </p:nvSpPr>
        <p:spPr>
          <a:xfrm>
            <a:off x="4358640" y="352044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453890" y="36366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立项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76494" y="3649599"/>
            <a:ext cx="106280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范围/责任矩阵已归档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24294" y="3649599"/>
            <a:ext cx="84671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会议纪要、RACI表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77200" y="354330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5803D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203692" y="362788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15803D"/>
                </a:solidFill>
                <a:latin typeface="Arial"/>
                <a:ea typeface="PingFang SC"/>
                <a:cs typeface="Arial"/>
              </a:rPr>
              <a:t>绿</a:t>
            </a:r>
          </a:p>
        </p:txBody>
      </p:sp>
      <p:sp>
        <p:nvSpPr>
          <p:cNvPr id="52" name="Line 52"/>
          <p:cNvSpPr/>
          <p:nvPr/>
        </p:nvSpPr>
        <p:spPr>
          <a:xfrm>
            <a:off x="4358640" y="388620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4453890" y="40024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联调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76494" y="4015359"/>
            <a:ext cx="8771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主流程 12/14 通过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24294" y="4015359"/>
            <a:ext cx="74790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联调清单、截图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077200" y="390906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5803D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8203692" y="399364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15803D"/>
                </a:solidFill>
                <a:latin typeface="Arial"/>
                <a:ea typeface="PingFang SC"/>
                <a:cs typeface="Arial"/>
              </a:rPr>
              <a:t>绿</a:t>
            </a:r>
          </a:p>
        </p:txBody>
      </p:sp>
      <p:sp>
        <p:nvSpPr>
          <p:cNvPr id="58" name="Line 58"/>
          <p:cNvSpPr/>
          <p:nvPr/>
        </p:nvSpPr>
        <p:spPr>
          <a:xfrm>
            <a:off x="4358640" y="425196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4453890" y="436816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试点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76494" y="4381119"/>
            <a:ext cx="1024578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2家单位验收材料70%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24294" y="4381119"/>
            <a:ext cx="74790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材料包、签收表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077200" y="427482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9525">
            <a:solidFill>
              <a:srgbClr val="B45309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203692" y="435940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黄</a:t>
            </a:r>
          </a:p>
        </p:txBody>
      </p:sp>
      <p:sp>
        <p:nvSpPr>
          <p:cNvPr id="64" name="Line 64"/>
          <p:cNvSpPr/>
          <p:nvPr/>
        </p:nvSpPr>
        <p:spPr>
          <a:xfrm>
            <a:off x="4358640" y="4617720"/>
            <a:ext cx="4099560" cy="9525"/>
          </a:xfrm>
          <a:custGeom>
            <a:avLst/>
            <a:gdLst/>
            <a:ahLst/>
            <a:cxnLst/>
            <a:rect l="l" t="t" r="r" b="b"/>
            <a:pathLst>
              <a:path w="4099560" h="9525">
                <a:moveTo>
                  <a:pt x="0" y="0"/>
                </a:moveTo>
                <a:lnTo>
                  <a:pt x="4099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4453890" y="473392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验收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476494" y="4746879"/>
            <a:ext cx="89352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月底提交总结材料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924294" y="4746879"/>
            <a:ext cx="851916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口径说明、排期表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077200" y="464058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203692" y="472516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915400" y="2849880"/>
            <a:ext cx="2606040" cy="2499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111996" y="302742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进度趋势与阻塞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159240" y="4069080"/>
            <a:ext cx="228600" cy="48768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9121140" y="4705350"/>
            <a:ext cx="17906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5/13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44000" y="389763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48%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570720" y="3962400"/>
            <a:ext cx="228600" cy="59436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53262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5/20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55480" y="379095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58%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982200" y="3870960"/>
            <a:ext cx="228600" cy="68580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94410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5/27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966960" y="369951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67%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0393680" y="3779520"/>
            <a:ext cx="228600" cy="77724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035558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6/03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378440" y="360807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76%</a:t>
            </a:r>
          </a:p>
        </p:txBody>
      </p:sp>
      <p:sp>
        <p:nvSpPr>
          <p:cNvPr id="84" name="Rectangle 84"/>
          <p:cNvSpPr/>
          <p:nvPr/>
        </p:nvSpPr>
        <p:spPr>
          <a:xfrm>
            <a:off x="10805160" y="3718560"/>
            <a:ext cx="228600" cy="838200"/>
          </a:xfrm>
          <a:prstGeom prst="roundRect">
            <a:avLst>
              <a:gd name="adj" fmla="val 26667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0767060" y="4705350"/>
            <a:ext cx="20006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6/06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89920" y="3547110"/>
            <a:ext cx="153857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82%</a:t>
            </a:r>
          </a:p>
        </p:txBody>
      </p:sp>
      <p:sp>
        <p:nvSpPr>
          <p:cNvPr id="87" name="Rectangle 87"/>
          <p:cNvSpPr/>
          <p:nvPr/>
        </p:nvSpPr>
        <p:spPr>
          <a:xfrm>
            <a:off x="9159240" y="4953000"/>
            <a:ext cx="2118360" cy="259080"/>
          </a:xfrm>
          <a:prstGeom prst="roundRect">
            <a:avLst>
              <a:gd name="adj" fmla="val 41176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9301734" y="5036439"/>
            <a:ext cx="154880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红色阻塞：口径差异、驻场排期</a:t>
            </a:r>
          </a:p>
        </p:txBody>
      </p:sp>
      <p:sp>
        <p:nvSpPr>
          <p:cNvPr id="89" name="Rectangle 89"/>
          <p:cNvSpPr/>
          <p:nvPr/>
        </p:nvSpPr>
        <p:spPr>
          <a:xfrm>
            <a:off x="67056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797814" y="5630799"/>
            <a:ext cx="100273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来源｜项目周报台账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98576" y="5820156"/>
            <a:ext cx="132885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完成率、主流程、问题关闭率</a:t>
            </a:r>
          </a:p>
        </p:txBody>
      </p:sp>
      <p:sp>
        <p:nvSpPr>
          <p:cNvPr id="92" name="Rectangle 92"/>
          <p:cNvSpPr/>
          <p:nvPr/>
        </p:nvSpPr>
        <p:spPr>
          <a:xfrm>
            <a:off x="338328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510534" y="5630799"/>
            <a:ext cx="100273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证据｜联调问题清单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511296" y="5820156"/>
            <a:ext cx="134397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异常回流、关闭截图、Owner</a:t>
            </a:r>
          </a:p>
        </p:txBody>
      </p:sp>
      <p:sp>
        <p:nvSpPr>
          <p:cNvPr id="95" name="Rectangle 95"/>
          <p:cNvSpPr/>
          <p:nvPr/>
        </p:nvSpPr>
        <p:spPr>
          <a:xfrm>
            <a:off x="609600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6223254" y="5630799"/>
            <a:ext cx="89898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排期｜PMO排期表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224016" y="5820156"/>
            <a:ext cx="102641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区县窗口、供应商冲突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8720" y="5516880"/>
            <a:ext cx="2438400" cy="472440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35974" y="5630799"/>
            <a:ext cx="89352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归档｜验收证据包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936736" y="5820156"/>
            <a:ext cx="132885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部署包、培训签到、会议纪要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670560" y="6096000"/>
            <a:ext cx="10850880" cy="259080"/>
          </a:xfrm>
          <a:prstGeom prst="roundRect">
            <a:avLst>
              <a:gd name="adj" fmla="val 41176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102" name="TextBox 102"/>
          <p:cNvSpPr txBox="1"/>
          <p:nvPr/>
        </p:nvSpPr>
        <p:spPr>
          <a:xfrm>
            <a:off x="889254" y="6187059"/>
            <a:ext cx="6184923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倒排判断：若 6月11日前未锁定口径和驻场排期，月底验收材料将无法一次性提交；本页不是时间轴装饰，而是验收可行性证明。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439656" y="6368796"/>
            <a:ext cx="123284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04-timeline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644271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风险热力图：数据口径和资源排期是主要阻塞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风险页必须写清影响、触发条件、责任人和升级动作。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5810" y="202120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影响高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5810" y="558736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影响低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79370" y="583120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概率低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56370" y="583120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概率高</a:t>
            </a:r>
          </a:p>
        </p:txBody>
      </p:sp>
      <p:sp>
        <p:nvSpPr>
          <p:cNvPr id="12" name="Line 12"/>
          <p:cNvSpPr/>
          <p:nvPr/>
        </p:nvSpPr>
        <p:spPr>
          <a:xfrm>
            <a:off x="1447800" y="55626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15240">
            <a:solidFill>
              <a:srgbClr val="D7DEE8"/>
            </a:solidFill>
          </a:ln>
        </p:spPr>
      </p:sp>
      <p:sp>
        <p:nvSpPr>
          <p:cNvPr id="13" name="Line 13"/>
          <p:cNvSpPr/>
          <p:nvPr/>
        </p:nvSpPr>
        <p:spPr>
          <a:xfrm>
            <a:off x="1447800" y="2057400"/>
            <a:ext cx="9525" cy="3505200"/>
          </a:xfrm>
          <a:custGeom>
            <a:avLst/>
            <a:gdLst/>
            <a:ahLst/>
            <a:cxnLst/>
            <a:rect l="l" t="t" r="r" b="b"/>
            <a:pathLst>
              <a:path w="9525" h="3505200">
                <a:moveTo>
                  <a:pt x="0" y="0"/>
                </a:moveTo>
                <a:lnTo>
                  <a:pt x="0" y="3505200"/>
                </a:lnTo>
              </a:path>
            </a:pathLst>
          </a:custGeom>
          <a:noFill/>
          <a:ln w="15240">
            <a:solidFill>
              <a:srgbClr val="D7DEE8"/>
            </a:solidFill>
          </a:ln>
        </p:spPr>
      </p:sp>
      <p:sp>
        <p:nvSpPr>
          <p:cNvPr id="14" name="Line 14"/>
          <p:cNvSpPr/>
          <p:nvPr/>
        </p:nvSpPr>
        <p:spPr>
          <a:xfrm>
            <a:off x="6134100" y="2286000"/>
            <a:ext cx="9525" cy="3276600"/>
          </a:xfrm>
          <a:custGeom>
            <a:avLst/>
            <a:gdLst/>
            <a:ahLst/>
            <a:cxnLst/>
            <a:rect l="l" t="t" r="r" b="b"/>
            <a:pathLst>
              <a:path w="9525" h="3276600">
                <a:moveTo>
                  <a:pt x="0" y="0"/>
                </a:moveTo>
                <a:lnTo>
                  <a:pt x="0" y="327660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15" name="Line 15"/>
          <p:cNvSpPr/>
          <p:nvPr/>
        </p:nvSpPr>
        <p:spPr>
          <a:xfrm>
            <a:off x="1447800" y="39243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737360" y="2453640"/>
            <a:ext cx="4038600" cy="1173480"/>
          </a:xfrm>
          <a:prstGeom prst="roundRect">
            <a:avLst>
              <a:gd name="adj" fmla="val 11688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918716" y="260070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数据口径未统一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24050" y="288988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触发：三类指标周期不同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24050" y="308800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影响：验收材料口径冲突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24812" y="3292602"/>
            <a:ext cx="193257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Owner：业务处室A / 截止：6月10日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34612" y="3292602"/>
            <a:ext cx="1197483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升级：周三前书面确认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537960" y="2453640"/>
            <a:ext cx="4038600" cy="1173480"/>
          </a:xfrm>
          <a:prstGeom prst="roundRect">
            <a:avLst>
              <a:gd name="adj" fmla="val 11688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19316" y="260070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资源排期冲突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24650" y="2889885"/>
            <a:ext cx="16610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触发：供应商与区县窗口重叠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24650" y="308800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影响：驻场验收无法展开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25412" y="3292602"/>
            <a:ext cx="1709107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Owner：PMO B / 截止：6月11日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35212" y="3292602"/>
            <a:ext cx="1085749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升级：PMO统一排期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737360" y="4267200"/>
            <a:ext cx="4038600" cy="1173480"/>
          </a:xfrm>
          <a:prstGeom prst="roundRect">
            <a:avLst>
              <a:gd name="adj" fmla="val 11688"/>
            </a:avLst>
          </a:prstGeom>
          <a:solidFill>
            <a:srgbClr val="FFF7ED"/>
          </a:solidFill>
          <a:ln w="9525">
            <a:solidFill>
              <a:srgbClr val="B4530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918716" y="441426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异常数据回流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24050" y="4703445"/>
            <a:ext cx="16043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触发：3项问题关闭截图缺失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24050" y="490156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影响：稳定性说明不完整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24812" y="5106162"/>
            <a:ext cx="175027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Owner：技术C / 截止：每日18点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34612" y="5106162"/>
            <a:ext cx="126217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动作：日清单+回归截图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537960" y="4267200"/>
            <a:ext cx="4038600" cy="1173480"/>
          </a:xfrm>
          <a:prstGeom prst="roundRect">
            <a:avLst>
              <a:gd name="adj" fmla="val 11688"/>
            </a:avLst>
          </a:prstGeom>
          <a:solidFill>
            <a:srgbClr val="ECFDF5"/>
          </a:solidFill>
          <a:ln w="9525">
            <a:solidFill>
              <a:srgbClr val="15803D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19316" y="441426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5803D"/>
                </a:solidFill>
                <a:latin typeface="Arial"/>
                <a:ea typeface="PingFang SC"/>
                <a:cs typeface="Arial"/>
              </a:rPr>
              <a:t>培训覆盖不足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24650" y="4703445"/>
            <a:ext cx="1787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触发：两家单位未完成操作演练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24650" y="4901565"/>
            <a:ext cx="1283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影响：上线使用率波动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25412" y="5106162"/>
            <a:ext cx="169734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Owner：运营D / 截止：6月13日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935212" y="5106162"/>
            <a:ext cx="112691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15803D"/>
                </a:solidFill>
                <a:latin typeface="Arial"/>
                <a:ea typeface="PingFang SC"/>
                <a:cs typeface="Arial"/>
              </a:rPr>
              <a:t>动作：补课+FAQ归档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9656" y="6368796"/>
            <a:ext cx="105041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05-risk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644271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本周决策：明确责任边界，避免月底验收被动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升级页要把判断、证据、诉求和截止时间放在同一页。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905000"/>
            <a:ext cx="3810000" cy="3276600"/>
          </a:xfrm>
          <a:prstGeom prst="roundRect">
            <a:avLst>
              <a:gd name="adj" fmla="val 5581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41832" y="223723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项目判断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166" y="2709291"/>
            <a:ext cx="3310719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目标仍可达成，但不能继续由项目组内部消化风险。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166" y="3014091"/>
            <a:ext cx="3025083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月底验收窗口不可后移，口径和排期已跨部门。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166" y="3318891"/>
            <a:ext cx="316790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若本周没有明确责任边界，下周只能被动补材料。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60120" y="4175760"/>
            <a:ext cx="2971800" cy="579120"/>
          </a:xfrm>
          <a:prstGeom prst="roundRect">
            <a:avLst>
              <a:gd name="adj" fmla="val 23684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44524" y="4303014"/>
            <a:ext cx="78352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本周需拍板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6810" y="4535805"/>
            <a:ext cx="1824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口径确认 / 驻场排期 / 日清机制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53000" y="1905000"/>
            <a:ext cx="65684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5316" y="2052066"/>
            <a:ext cx="1881759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诉求一：确认指标口径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99888" y="2334768"/>
            <a:ext cx="1886057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业务处室A 本周三前给书面结论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01412" y="2545842"/>
            <a:ext cx="171834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输出：口径说明 + 验收材料引用页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953000" y="2987040"/>
            <a:ext cx="65684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195316" y="3134106"/>
            <a:ext cx="1881759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诉求二：统一区县排期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99888" y="3416808"/>
            <a:ext cx="179868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PMO B 本周五前锁定驻场窗口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01412" y="3627882"/>
            <a:ext cx="160633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输出：排期表 + 供应商责任边界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953000" y="4069080"/>
            <a:ext cx="65684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95316" y="4216146"/>
            <a:ext cx="1881759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诉求三：建立日清机制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99888" y="4498848"/>
            <a:ext cx="200031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技术C 每日18点同步异常关闭情况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1412" y="4709922"/>
            <a:ext cx="184716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输出：问题单 + 回归截图 + 风险日报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953000" y="5364480"/>
            <a:ext cx="6568440" cy="441960"/>
          </a:xfrm>
          <a:prstGeom prst="roundRect">
            <a:avLst>
              <a:gd name="adj" fmla="val 27586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199888" y="5535168"/>
            <a:ext cx="558924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决策后验收影响：材料口径统一、驻场窗口锁定、异常关闭可追踪，验收包可在6月14日复核。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39656" y="6368796"/>
            <a:ext cx="123764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06-decision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4894396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资源计划：按验收倒排 4 条工作流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391591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用泳道式计划展示任务并行关系、责任人、交付物和检查点。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701040" y="2057400"/>
            <a:ext cx="7833360" cy="32766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Line 9"/>
          <p:cNvSpPr/>
          <p:nvPr/>
        </p:nvSpPr>
        <p:spPr>
          <a:xfrm>
            <a:off x="195072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061972" y="2180082"/>
            <a:ext cx="21540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6/7</a:t>
            </a:r>
          </a:p>
        </p:txBody>
      </p:sp>
      <p:sp>
        <p:nvSpPr>
          <p:cNvPr id="11" name="Line 11"/>
          <p:cNvSpPr/>
          <p:nvPr/>
        </p:nvSpPr>
        <p:spPr>
          <a:xfrm>
            <a:off x="268224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793492" y="2180082"/>
            <a:ext cx="21540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6/8</a:t>
            </a:r>
          </a:p>
        </p:txBody>
      </p:sp>
      <p:sp>
        <p:nvSpPr>
          <p:cNvPr id="13" name="Line 13"/>
          <p:cNvSpPr/>
          <p:nvPr/>
        </p:nvSpPr>
        <p:spPr>
          <a:xfrm>
            <a:off x="341376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525012" y="2180082"/>
            <a:ext cx="21540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6/9</a:t>
            </a:r>
          </a:p>
        </p:txBody>
      </p:sp>
      <p:sp>
        <p:nvSpPr>
          <p:cNvPr id="15" name="Line 15"/>
          <p:cNvSpPr/>
          <p:nvPr/>
        </p:nvSpPr>
        <p:spPr>
          <a:xfrm>
            <a:off x="414528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256532" y="2180082"/>
            <a:ext cx="25068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6/10</a:t>
            </a:r>
          </a:p>
        </p:txBody>
      </p:sp>
      <p:sp>
        <p:nvSpPr>
          <p:cNvPr id="17" name="Line 17"/>
          <p:cNvSpPr/>
          <p:nvPr/>
        </p:nvSpPr>
        <p:spPr>
          <a:xfrm>
            <a:off x="487680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988052" y="2180082"/>
            <a:ext cx="22128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6/11</a:t>
            </a:r>
          </a:p>
        </p:txBody>
      </p:sp>
      <p:sp>
        <p:nvSpPr>
          <p:cNvPr id="19" name="Line 19"/>
          <p:cNvSpPr/>
          <p:nvPr/>
        </p:nvSpPr>
        <p:spPr>
          <a:xfrm>
            <a:off x="560832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19572" y="2180082"/>
            <a:ext cx="25068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6/12</a:t>
            </a:r>
          </a:p>
        </p:txBody>
      </p:sp>
      <p:sp>
        <p:nvSpPr>
          <p:cNvPr id="21" name="Line 21"/>
          <p:cNvSpPr/>
          <p:nvPr/>
        </p:nvSpPr>
        <p:spPr>
          <a:xfrm>
            <a:off x="633984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51092" y="2180082"/>
            <a:ext cx="25068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6/13</a:t>
            </a:r>
          </a:p>
        </p:txBody>
      </p:sp>
      <p:sp>
        <p:nvSpPr>
          <p:cNvPr id="23" name="Line 23"/>
          <p:cNvSpPr/>
          <p:nvPr/>
        </p:nvSpPr>
        <p:spPr>
          <a:xfrm>
            <a:off x="7071360" y="2407920"/>
            <a:ext cx="9525" cy="2682240"/>
          </a:xfrm>
          <a:custGeom>
            <a:avLst/>
            <a:gdLst/>
            <a:ahLst/>
            <a:cxnLst/>
            <a:rect l="l" t="t" r="r" b="b"/>
            <a:pathLst>
              <a:path w="9525" h="2682240">
                <a:moveTo>
                  <a:pt x="0" y="0"/>
                </a:moveTo>
                <a:lnTo>
                  <a:pt x="0" y="2682240"/>
                </a:lnTo>
              </a:path>
            </a:pathLst>
          </a:custGeom>
          <a:noFill/>
          <a:ln w="7620">
            <a:solidFill>
              <a:srgbClr val="E5EDF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182612" y="2180082"/>
            <a:ext cx="25068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6/14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5444" y="261137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数据口径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9254" y="2841879"/>
            <a:ext cx="516734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业务处室A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788920" y="2621280"/>
            <a:ext cx="1783080" cy="2286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916174" y="2704719"/>
            <a:ext cx="1079184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差异收集 -&gt; 书面确认</a:t>
            </a:r>
          </a:p>
        </p:txBody>
      </p:sp>
      <p:sp>
        <p:nvSpPr>
          <p:cNvPr id="29" name="Line 29"/>
          <p:cNvSpPr/>
          <p:nvPr/>
        </p:nvSpPr>
        <p:spPr>
          <a:xfrm>
            <a:off x="853440" y="3048000"/>
            <a:ext cx="7528560" cy="9525"/>
          </a:xfrm>
          <a:custGeom>
            <a:avLst/>
            <a:gdLst/>
            <a:ahLst/>
            <a:cxnLst/>
            <a:rect l="l" t="t" r="r" b="b"/>
            <a:pathLst>
              <a:path w="7528560" h="9525">
                <a:moveTo>
                  <a:pt x="0" y="0"/>
                </a:moveTo>
                <a:lnTo>
                  <a:pt x="7528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85444" y="316001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系统修复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9254" y="3390519"/>
            <a:ext cx="40752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技术组C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057400" y="3169920"/>
            <a:ext cx="3566160" cy="2286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184654" y="3253359"/>
            <a:ext cx="129761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异常回流修复 -&gt; 回归截图</a:t>
            </a:r>
          </a:p>
        </p:txBody>
      </p:sp>
      <p:sp>
        <p:nvSpPr>
          <p:cNvPr id="34" name="Line 34"/>
          <p:cNvSpPr/>
          <p:nvPr/>
        </p:nvSpPr>
        <p:spPr>
          <a:xfrm>
            <a:off x="853440" y="3596640"/>
            <a:ext cx="7528560" cy="9525"/>
          </a:xfrm>
          <a:custGeom>
            <a:avLst/>
            <a:gdLst/>
            <a:ahLst/>
            <a:cxnLst/>
            <a:rect l="l" t="t" r="r" b="b"/>
            <a:pathLst>
              <a:path w="7528560" h="9525">
                <a:moveTo>
                  <a:pt x="0" y="0"/>
                </a:moveTo>
                <a:lnTo>
                  <a:pt x="7528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85444" y="370865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验收材料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9254" y="3939159"/>
            <a:ext cx="52219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PMO+区县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520440" y="3718560"/>
            <a:ext cx="29718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647694" y="3801999"/>
            <a:ext cx="1079184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模板统一 -&gt; 附件补齐</a:t>
            </a:r>
          </a:p>
        </p:txBody>
      </p:sp>
      <p:sp>
        <p:nvSpPr>
          <p:cNvPr id="39" name="Line 39"/>
          <p:cNvSpPr/>
          <p:nvPr/>
        </p:nvSpPr>
        <p:spPr>
          <a:xfrm>
            <a:off x="853440" y="4145280"/>
            <a:ext cx="7528560" cy="9525"/>
          </a:xfrm>
          <a:custGeom>
            <a:avLst/>
            <a:gdLst/>
            <a:ahLst/>
            <a:cxnLst/>
            <a:rect l="l" t="t" r="r" b="b"/>
            <a:pathLst>
              <a:path w="7528560" h="9525">
                <a:moveTo>
                  <a:pt x="0" y="0"/>
                </a:moveTo>
                <a:lnTo>
                  <a:pt x="7528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85444" y="425729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培训上线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89254" y="4487799"/>
            <a:ext cx="40752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运营组D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983480" y="4267200"/>
            <a:ext cx="2377440" cy="2286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110734" y="4350639"/>
            <a:ext cx="1079184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操作培训 -&gt; 使用反馈</a:t>
            </a:r>
          </a:p>
        </p:txBody>
      </p:sp>
      <p:sp>
        <p:nvSpPr>
          <p:cNvPr id="44" name="Line 44"/>
          <p:cNvSpPr/>
          <p:nvPr/>
        </p:nvSpPr>
        <p:spPr>
          <a:xfrm>
            <a:off x="853440" y="4693920"/>
            <a:ext cx="7528560" cy="9525"/>
          </a:xfrm>
          <a:custGeom>
            <a:avLst/>
            <a:gdLst/>
            <a:ahLst/>
            <a:cxnLst/>
            <a:rect l="l" t="t" r="r" b="b"/>
            <a:pathLst>
              <a:path w="7528560" h="9525">
                <a:moveTo>
                  <a:pt x="0" y="0"/>
                </a:moveTo>
                <a:lnTo>
                  <a:pt x="75285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8808720" y="2057400"/>
            <a:ext cx="2712720" cy="3276600"/>
          </a:xfrm>
          <a:prstGeom prst="roundRect">
            <a:avLst>
              <a:gd name="adj" fmla="val 5056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006078" y="2287143"/>
            <a:ext cx="914114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6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资源与依赖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010650" y="2722245"/>
            <a:ext cx="12893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PMO：锁定区县联系人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010650" y="30270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业务：确认三类指标口径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10650" y="33318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技术：每日关闭截图入库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010650" y="3636645"/>
            <a:ext cx="1283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运营：补齐培训签到表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010650" y="3941445"/>
            <a:ext cx="15665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项目经理：6/14 形成提交包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70560" y="5516880"/>
            <a:ext cx="10850880" cy="381000"/>
          </a:xfrm>
          <a:prstGeom prst="roundRect">
            <a:avLst>
              <a:gd name="adj" fmla="val 32000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86968" y="5657088"/>
            <a:ext cx="499780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计划表达要点：时间轴不是装饰，必须能看出并行关系、责任人、交付物和检查点。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39656" y="6368796"/>
            <a:ext cx="112722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07-gantt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676195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问题清单：每项阻塞都要有来源、影响和下一步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240372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真实项目汇报需要可追踪 issue log。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13054" y="200367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红色阻塞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391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577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必须升级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52984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672334" y="2003679"/>
            <a:ext cx="56588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待关闭问题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319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1505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日清跟踪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8912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531614" y="200367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需补证据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2247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7433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入证据包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48400" y="1859280"/>
            <a:ext cx="1661160" cy="62484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90894" y="200367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本周动作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1750" y="218503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803D"/>
                </a:solidFill>
                <a:latin typeface="Arial"/>
                <a:ea typeface="PingFang SC"/>
                <a:cs typeface="Arial"/>
              </a:rPr>
              <a:t>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33616" y="2261616"/>
            <a:ext cx="42153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责任到人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58200" y="1859280"/>
            <a:ext cx="3063240" cy="624840"/>
          </a:xfrm>
          <a:prstGeom prst="roundRect">
            <a:avLst>
              <a:gd name="adj" fmla="val 17073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660892" y="2012442"/>
            <a:ext cx="491795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本页结论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61654" y="2247519"/>
            <a:ext cx="264094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问题不是罗列事项，而是推动跨部门闭环的证据台账。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70560" y="2667000"/>
            <a:ext cx="7391400" cy="278892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7401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编号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217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问题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0414" y="2902839"/>
            <a:ext cx="516734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来源/证据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7441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影响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54574" y="2902839"/>
            <a:ext cx="363835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Owner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7753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时限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3814" y="2902839"/>
            <a:ext cx="23823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状态</a:t>
            </a:r>
          </a:p>
        </p:txBody>
      </p:sp>
      <p:sp>
        <p:nvSpPr>
          <p:cNvPr id="35" name="Line 35"/>
          <p:cNvSpPr/>
          <p:nvPr/>
        </p:nvSpPr>
        <p:spPr>
          <a:xfrm>
            <a:off x="807720" y="309372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74776" y="3214116"/>
            <a:ext cx="10397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R1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2936" y="321411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指标口径差异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51176" y="3214116"/>
            <a:ext cx="69037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业务处室反馈单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75176" y="3214116"/>
            <a:ext cx="69037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验收材料一致性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55336" y="321411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业务A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78296" y="321411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6/10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94576" y="321411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</a:t>
            </a:r>
          </a:p>
        </p:txBody>
      </p:sp>
      <p:sp>
        <p:nvSpPr>
          <p:cNvPr id="43" name="Line 43"/>
          <p:cNvSpPr/>
          <p:nvPr/>
        </p:nvSpPr>
        <p:spPr>
          <a:xfrm>
            <a:off x="807720" y="344424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74776" y="3564636"/>
            <a:ext cx="1291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R2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2936" y="356463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驻场排期冲突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551176" y="3564636"/>
            <a:ext cx="50314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PMO排期表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75176" y="356463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区县验收窗口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55336" y="3564636"/>
            <a:ext cx="296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PMO 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78296" y="3564636"/>
            <a:ext cx="18150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6/11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94576" y="356463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</a:t>
            </a:r>
          </a:p>
        </p:txBody>
      </p:sp>
      <p:sp>
        <p:nvSpPr>
          <p:cNvPr id="51" name="Line 51"/>
          <p:cNvSpPr/>
          <p:nvPr/>
        </p:nvSpPr>
        <p:spPr>
          <a:xfrm>
            <a:off x="807720" y="379476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74776" y="3915156"/>
            <a:ext cx="10397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I3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92936" y="39151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异常回流失败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551176" y="3915156"/>
            <a:ext cx="65676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联调问题单#27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75176" y="391515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稳定性说明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55336" y="391515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技术C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178296" y="3915156"/>
            <a:ext cx="21031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每日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894576" y="391515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黄</a:t>
            </a:r>
          </a:p>
        </p:txBody>
      </p:sp>
      <p:sp>
        <p:nvSpPr>
          <p:cNvPr id="59" name="Line 59"/>
          <p:cNvSpPr/>
          <p:nvPr/>
        </p:nvSpPr>
        <p:spPr>
          <a:xfrm>
            <a:off x="807720" y="414528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74776" y="4265676"/>
            <a:ext cx="10397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I4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92936" y="4265676"/>
            <a:ext cx="52235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培训未覆盖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51176" y="4265676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运营计划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75176" y="426567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上线使用率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355336" y="426567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运营D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178296" y="426567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6/13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894576" y="426567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蓝</a:t>
            </a:r>
          </a:p>
        </p:txBody>
      </p:sp>
      <p:sp>
        <p:nvSpPr>
          <p:cNvPr id="67" name="Line 67"/>
          <p:cNvSpPr/>
          <p:nvPr/>
        </p:nvSpPr>
        <p:spPr>
          <a:xfrm>
            <a:off x="807720" y="449580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874776" y="4616196"/>
            <a:ext cx="1291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E5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92936" y="461619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验收截图缺失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551176" y="461619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证据包目录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075176" y="461619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提交包完整性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355336" y="4616196"/>
            <a:ext cx="26311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项目D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178296" y="461619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6/14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894576" y="461619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蓝</a:t>
            </a:r>
          </a:p>
        </p:txBody>
      </p:sp>
      <p:sp>
        <p:nvSpPr>
          <p:cNvPr id="75" name="Line 75"/>
          <p:cNvSpPr/>
          <p:nvPr/>
        </p:nvSpPr>
        <p:spPr>
          <a:xfrm>
            <a:off x="807720" y="4846320"/>
            <a:ext cx="7071360" cy="9525"/>
          </a:xfrm>
          <a:custGeom>
            <a:avLst/>
            <a:gdLst/>
            <a:ahLst/>
            <a:cxnLst/>
            <a:rect l="l" t="t" r="r" b="b"/>
            <a:pathLst>
              <a:path w="7071360" h="9525">
                <a:moveTo>
                  <a:pt x="0" y="0"/>
                </a:moveTo>
                <a:lnTo>
                  <a:pt x="70713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874776" y="4966716"/>
            <a:ext cx="1291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A6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92936" y="496671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责任边界不清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51176" y="496671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会议纪要待补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075176" y="4966716"/>
            <a:ext cx="4983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跨部门扯皮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355336" y="4966716"/>
            <a:ext cx="296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PMO B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178296" y="4966716"/>
            <a:ext cx="20551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6/12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894576" y="4966716"/>
            <a:ext cx="1191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黄</a:t>
            </a:r>
          </a:p>
        </p:txBody>
      </p:sp>
      <p:sp>
        <p:nvSpPr>
          <p:cNvPr id="83" name="Rectangle 83"/>
          <p:cNvSpPr/>
          <p:nvPr/>
        </p:nvSpPr>
        <p:spPr>
          <a:xfrm>
            <a:off x="8305800" y="2667000"/>
            <a:ext cx="3215640" cy="2788920"/>
          </a:xfrm>
          <a:prstGeom prst="roundRect">
            <a:avLst>
              <a:gd name="adj" fmla="val 4372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8488680" y="28422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证据链与闭环动作</a:t>
            </a:r>
          </a:p>
        </p:txBody>
      </p:sp>
      <p:sp>
        <p:nvSpPr>
          <p:cNvPr id="85" name="Rectangle 85"/>
          <p:cNvSpPr/>
          <p:nvPr/>
        </p:nvSpPr>
        <p:spPr>
          <a:xfrm>
            <a:off x="8488680" y="320040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8615934" y="3268599"/>
            <a:ext cx="3037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1 来源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195816" y="3275076"/>
            <a:ext cx="173210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问题单#27 / 业务反馈单 / PMO排期表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617458" y="3433953"/>
            <a:ext cx="1310526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每项阻塞必须能追到文件或截图</a:t>
            </a:r>
          </a:p>
        </p:txBody>
      </p:sp>
      <p:sp>
        <p:nvSpPr>
          <p:cNvPr id="89" name="Rectangle 89"/>
          <p:cNvSpPr/>
          <p:nvPr/>
        </p:nvSpPr>
        <p:spPr>
          <a:xfrm>
            <a:off x="8488680" y="371856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8615934" y="3786759"/>
            <a:ext cx="33107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2 判断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195816" y="3793236"/>
            <a:ext cx="173210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影响验收材料、驻场窗口、稳定性说明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617458" y="3952113"/>
            <a:ext cx="1402937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写清为什么需要升级，不写泛风险</a:t>
            </a:r>
          </a:p>
        </p:txBody>
      </p:sp>
      <p:sp>
        <p:nvSpPr>
          <p:cNvPr id="93" name="Rectangle 93"/>
          <p:cNvSpPr/>
          <p:nvPr/>
        </p:nvSpPr>
        <p:spPr>
          <a:xfrm>
            <a:off x="8488680" y="423672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8615934" y="4304919"/>
            <a:ext cx="33107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3 动作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195816" y="4311396"/>
            <a:ext cx="183291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口径确认、排期协调、日清回归、补证据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617458" y="4470273"/>
            <a:ext cx="1139564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动作必须绑定Owner和时限</a:t>
            </a:r>
          </a:p>
        </p:txBody>
      </p:sp>
      <p:sp>
        <p:nvSpPr>
          <p:cNvPr id="97" name="Rectangle 97"/>
          <p:cNvSpPr/>
          <p:nvPr/>
        </p:nvSpPr>
        <p:spPr>
          <a:xfrm>
            <a:off x="8488680" y="4754880"/>
            <a:ext cx="284988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F6C77A"/>
            </a:solidFill>
          </a:ln>
        </p:spPr>
      </p:sp>
      <p:sp>
        <p:nvSpPr>
          <p:cNvPr id="98" name="TextBox 98"/>
          <p:cNvSpPr txBox="1"/>
          <p:nvPr/>
        </p:nvSpPr>
        <p:spPr>
          <a:xfrm>
            <a:off x="8615934" y="4823079"/>
            <a:ext cx="33107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4 验收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195816" y="4829556"/>
            <a:ext cx="193372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关闭截图入库、口径说明签字、提交包复核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617458" y="4988433"/>
            <a:ext cx="1134944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用验收标准替代“持续跟进”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67056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02" name="Ellipse 102"/>
          <p:cNvSpPr/>
          <p:nvPr/>
        </p:nvSpPr>
        <p:spPr>
          <a:xfrm>
            <a:off x="800100" y="5684520"/>
            <a:ext cx="106680" cy="1066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96545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红色阻塞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12976" y="5698236"/>
            <a:ext cx="57779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业务A｜周三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98576" y="5850636"/>
            <a:ext cx="102641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三类指标口径说明签字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338328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07" name="Ellipse 107"/>
          <p:cNvSpPr/>
          <p:nvPr/>
        </p:nvSpPr>
        <p:spPr>
          <a:xfrm>
            <a:off x="3512820" y="5684520"/>
            <a:ext cx="106680" cy="10668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367817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红色阻塞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425696" y="5698236"/>
            <a:ext cx="6130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PMO B｜周四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511296" y="5850636"/>
            <a:ext cx="82478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区县驻场排期锁定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609600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12" name="Ellipse 112"/>
          <p:cNvSpPr/>
          <p:nvPr/>
        </p:nvSpPr>
        <p:spPr>
          <a:xfrm>
            <a:off x="6225540" y="5684520"/>
            <a:ext cx="106680" cy="1066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639089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黄色跟踪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138416" y="5698236"/>
            <a:ext cx="57779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技术C｜日清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224016" y="5850636"/>
            <a:ext cx="80966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18点截图入证据包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808720" y="5608320"/>
            <a:ext cx="2438400" cy="396240"/>
          </a:xfrm>
          <a:prstGeom prst="roundRect">
            <a:avLst>
              <a:gd name="adj" fmla="val 26923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117" name="Ellipse 117"/>
          <p:cNvSpPr/>
          <p:nvPr/>
        </p:nvSpPr>
        <p:spPr>
          <a:xfrm>
            <a:off x="8938260" y="5684520"/>
            <a:ext cx="106680" cy="10668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9103614" y="5691759"/>
            <a:ext cx="456667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蓝色归档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851136" y="5698236"/>
            <a:ext cx="57779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项目D｜周五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936736" y="5850636"/>
            <a:ext cx="92560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提交包完成二次复核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670560" y="6096000"/>
            <a:ext cx="10850880" cy="259080"/>
          </a:xfrm>
          <a:prstGeom prst="roundRect">
            <a:avLst>
              <a:gd name="adj" fmla="val 41176"/>
            </a:avLst>
          </a:prstGeom>
          <a:solidFill>
            <a:srgbClr val="003D79"/>
          </a:solidFill>
          <a:ln w="9525">
            <a:solidFill>
              <a:srgbClr val="003D79"/>
            </a:solidFill>
          </a:ln>
        </p:spPr>
      </p:sp>
      <p:sp>
        <p:nvSpPr>
          <p:cNvPr id="122" name="TextBox 122"/>
          <p:cNvSpPr txBox="1"/>
          <p:nvPr/>
        </p:nvSpPr>
        <p:spPr>
          <a:xfrm>
            <a:off x="889254" y="6187059"/>
            <a:ext cx="5890046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Issue log 合同：每项阻塞必须有来源、影响、Owner、时限、状态、验收标准；缺来源时标“需补证据”，不能删掉问题。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9439656" y="6368796"/>
            <a:ext cx="129044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08-issue-log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708119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下周行动台账：每项风险必须有责任人和完成时限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333984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项目总结页必须形成可追踪的责任闭环和复盘节奏。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950720"/>
            <a:ext cx="10850880" cy="3429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02970" y="21888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事项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31770" y="218884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负责人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79570" y="21888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完成时限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9770" y="218884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交付物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1470" y="21888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验收标准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75570" y="21888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状态</a:t>
            </a:r>
          </a:p>
        </p:txBody>
      </p:sp>
      <p:sp>
        <p:nvSpPr>
          <p:cNvPr id="15" name="Line 15"/>
          <p:cNvSpPr/>
          <p:nvPr/>
        </p:nvSpPr>
        <p:spPr>
          <a:xfrm>
            <a:off x="838200" y="2392680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3732" y="2561082"/>
            <a:ext cx="72702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统一指标口径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32532" y="2561082"/>
            <a:ext cx="53100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业务处室A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0332" y="2561082"/>
            <a:ext cx="40218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6月10日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80532" y="2561082"/>
            <a:ext cx="46939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口径说明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52232" y="2561082"/>
            <a:ext cx="102946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三类指标可直接引用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134600" y="245364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261092" y="253822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红</a:t>
            </a:r>
          </a:p>
        </p:txBody>
      </p:sp>
      <p:sp>
        <p:nvSpPr>
          <p:cNvPr id="23" name="Line 23"/>
          <p:cNvSpPr/>
          <p:nvPr/>
        </p:nvSpPr>
        <p:spPr>
          <a:xfrm>
            <a:off x="838200" y="2865120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03732" y="3033522"/>
            <a:ext cx="72702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协调驻场排期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32532" y="3033522"/>
            <a:ext cx="346177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PMO 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80332" y="3033522"/>
            <a:ext cx="37418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6月11日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80532" y="3033522"/>
            <a:ext cx="58140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驻场排期表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52232" y="3033522"/>
            <a:ext cx="147751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区县联系人和供应商责任明确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0134600" y="292608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9525">
            <a:solidFill>
              <a:srgbClr val="B4530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261092" y="301066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黄</a:t>
            </a:r>
          </a:p>
        </p:txBody>
      </p:sp>
      <p:sp>
        <p:nvSpPr>
          <p:cNvPr id="31" name="Line 31"/>
          <p:cNvSpPr/>
          <p:nvPr/>
        </p:nvSpPr>
        <p:spPr>
          <a:xfrm>
            <a:off x="838200" y="3337560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3732" y="3505962"/>
            <a:ext cx="72702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异常回流修复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32532" y="3505962"/>
            <a:ext cx="64301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技术负责人C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80332" y="3505962"/>
            <a:ext cx="45259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每日18点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0532" y="3505962"/>
            <a:ext cx="46939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修复清单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52232" y="3505962"/>
            <a:ext cx="91744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关闭截图入证据包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0134600" y="339852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F80ED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261092" y="348310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蓝</a:t>
            </a:r>
          </a:p>
        </p:txBody>
      </p:sp>
      <p:sp>
        <p:nvSpPr>
          <p:cNvPr id="39" name="Line 39"/>
          <p:cNvSpPr/>
          <p:nvPr/>
        </p:nvSpPr>
        <p:spPr>
          <a:xfrm>
            <a:off x="838200" y="3810000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3732" y="3978402"/>
            <a:ext cx="72702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验收材料复核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32532" y="3978402"/>
            <a:ext cx="53100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项目经理D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180332" y="3978402"/>
            <a:ext cx="40218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6月14日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0532" y="3978402"/>
            <a:ext cx="35737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提交包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52232" y="3978402"/>
            <a:ext cx="1152677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版本号/截图/纪要齐全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0134600" y="387096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F80ED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261092" y="395554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蓝</a:t>
            </a:r>
          </a:p>
        </p:txBody>
      </p:sp>
      <p:sp>
        <p:nvSpPr>
          <p:cNvPr id="47" name="Line 47"/>
          <p:cNvSpPr/>
          <p:nvPr/>
        </p:nvSpPr>
        <p:spPr>
          <a:xfrm>
            <a:off x="838200" y="4282440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7620">
            <a:solidFill>
              <a:srgbClr val="D7DEE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03732" y="4450842"/>
            <a:ext cx="72702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上线培训补课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732532" y="4450842"/>
            <a:ext cx="64301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运营负责人D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80332" y="4450842"/>
            <a:ext cx="40218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6月13日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780532" y="4450842"/>
            <a:ext cx="51419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签到+FAQ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52232" y="4450842"/>
            <a:ext cx="91744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两家单位完成演练</a:t>
            </a:r>
          </a:p>
        </p:txBody>
      </p:sp>
      <p:sp>
        <p:nvSpPr>
          <p:cNvPr id="53" name="Rectangle 53"/>
          <p:cNvSpPr/>
          <p:nvPr/>
        </p:nvSpPr>
        <p:spPr>
          <a:xfrm>
            <a:off x="10134600" y="434340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5803D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10261092" y="4427982"/>
            <a:ext cx="13895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15803D"/>
                </a:solidFill>
                <a:latin typeface="Arial"/>
                <a:ea typeface="PingFang SC"/>
                <a:cs typeface="Arial"/>
              </a:rPr>
              <a:t>绿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70560" y="5547360"/>
            <a:ext cx="10850880" cy="411480"/>
          </a:xfrm>
          <a:prstGeom prst="roundRect">
            <a:avLst>
              <a:gd name="adj" fmla="val 29630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86968" y="5702808"/>
            <a:ext cx="556235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收口规则：行动页不能只写“推进/协调/跟进”，必须写交付物和验收标准，便于下一轮复盘。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39656" y="6368796"/>
            <a:ext cx="120883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09-actions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977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市级数据治理项目 / 阶段汇报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53034"/>
            <a:ext cx="4527271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附录：项目交付材料与验收口径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17854"/>
            <a:ext cx="261975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附录页覆盖交付物、验收证据和责任人。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3256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AF3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41145"/>
            <a:ext cx="5208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页面合同：观点 + 证据 + 解释 + 影响 + 行动/风险，所有正文页必须有责任人、时限或来源。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70560" y="1905000"/>
            <a:ext cx="50749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68680" y="207264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F80E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95172" y="2157222"/>
            <a:ext cx="315373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table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234162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项目周报台账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8774" y="2643759"/>
            <a:ext cx="122116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project-weekly-ledger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8012" y="2865882"/>
            <a:ext cx="2961703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记录总体进度、里程碑、责任人、风险等级和下周动作。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26480" y="1905000"/>
            <a:ext cx="50749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324600" y="207264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F80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51092" y="2157222"/>
            <a:ext cx="315373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table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07836" y="2341626"/>
            <a:ext cx="1142467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联调问题清单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14694" y="2643759"/>
            <a:ext cx="120478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integration-issue-list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13932" y="2865882"/>
            <a:ext cx="272647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记录异常回流、口径差异、关闭截图和技术责任人。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70560" y="3535680"/>
            <a:ext cx="50749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68680" y="370332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F80E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95172" y="3787902"/>
            <a:ext cx="509437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schedule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1916" y="3972306"/>
            <a:ext cx="1391978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PMO 验收排期表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8774" y="4274439"/>
            <a:ext cx="1095566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pmo-schedule-board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8012" y="4496562"/>
            <a:ext cx="307931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记录区县驻场窗口、供应商资源冲突和验收材料提交节点。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126480" y="3535680"/>
            <a:ext cx="50749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324600" y="3703320"/>
            <a:ext cx="899160" cy="25908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2F80E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451092" y="3787902"/>
            <a:ext cx="832877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F80ED"/>
                </a:solidFill>
                <a:latin typeface="Arial"/>
                <a:ea typeface="PingFang SC"/>
                <a:cs typeface="Arial"/>
              </a:rPr>
              <a:t>evidence_pack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07836" y="397230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验收证据包目录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4694" y="4274439"/>
            <a:ext cx="1434129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acceptance-evidence-pack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13932" y="4496562"/>
            <a:ext cx="3196933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记录部署包、联调截图、培训签到、会议纪要和口径确认单。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70560" y="5379720"/>
            <a:ext cx="10850880" cy="579120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86968" y="5519928"/>
            <a:ext cx="830885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附录使用方式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69770" y="5526405"/>
            <a:ext cx="5806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3D79"/>
                </a:solidFill>
                <a:latin typeface="Arial"/>
                <a:ea typeface="PingFang SC"/>
                <a:cs typeface="Arial"/>
              </a:rPr>
              <a:t>真实生成时先读文件树和素材 metadata，再把当前页引用的表格、截图、口径说明写入正文页证据槽。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70532" y="5731002"/>
            <a:ext cx="5837383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243447"/>
                </a:solidFill>
                <a:latin typeface="Arial"/>
                <a:ea typeface="PingFang SC"/>
                <a:cs typeface="Arial"/>
              </a:rPr>
              <a:t>示例路径：materials/index.md -&gt; issue-list.xlsx -&gt; pmo-schedule.xlsx -&gt; acceptance-evidence-pack/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1416" y="6368796"/>
            <a:ext cx="31674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素材：项目周报台账 / 联调问题清单 / PMO 验收排期表 / 验收证据包目录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39656" y="6368796"/>
            <a:ext cx="123764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B7A90"/>
                </a:solidFill>
                <a:latin typeface="Arial"/>
                <a:ea typeface="PingFang SC"/>
                <a:cs typeface="Arial"/>
              </a:rPr>
              <a:t>项目阶段汇报 / 10-appendix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