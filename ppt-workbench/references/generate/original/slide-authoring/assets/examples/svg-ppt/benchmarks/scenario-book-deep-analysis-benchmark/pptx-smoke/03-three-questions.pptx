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wide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eck-framework-background-textur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2" name="Group 32"/>
          <p:cNvGrpSpPr/>
          <p:nvPr/>
        </p:nvGrpSpPr>
        <p:grpSpPr>
          <a:xfrm>
            <a:off x="729615" y="781050"/>
            <a:ext cx="10700385" cy="5276850"/>
            <a:chOff x="729615" y="781050"/>
            <a:chExt cx="10700385" cy="5276850"/>
          </a:xfrm>
        </p:grpSpPr>
        <p:grpSp>
          <p:nvGrpSpPr>
            <p:cNvPr id="5" name="Group 5"/>
            <p:cNvGrpSpPr/>
            <p:nvPr/>
          </p:nvGrpSpPr>
          <p:grpSpPr>
            <a:xfrm>
              <a:off x="729615" y="781050"/>
              <a:ext cx="5420439" cy="838200"/>
              <a:chOff x="729615" y="781050"/>
              <a:chExt cx="5420439" cy="838200"/>
            </a:xfrm>
          </p:grpSpPr>
          <p:sp>
            <p:nvSpPr>
              <p:cNvPr id="2" name="Rectangle 2"/>
              <p:cNvSpPr/>
              <p:nvPr/>
            </p:nvSpPr>
            <p:spPr>
              <a:xfrm>
                <a:off x="762000" y="781050"/>
                <a:ext cx="685800" cy="47625"/>
              </a:xfrm>
              <a:prstGeom prst="rect">
                <a:avLst/>
              </a:prstGeom>
              <a:solidFill>
                <a:srgbClr val="A16207"/>
              </a:solidFill>
              <a:ln>
                <a:noFill/>
              </a:ln>
            </p:spPr>
          </p:sp>
          <p:sp>
            <p:nvSpPr>
              <p:cNvPr id="3" name="TextBox 3"/>
              <p:cNvSpPr txBox="1"/>
              <p:nvPr/>
            </p:nvSpPr>
            <p:spPr>
              <a:xfrm>
                <a:off x="729615" y="924878"/>
                <a:ext cx="5420439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三次追问，把故事从情节推向主题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765810" y="1375410"/>
                <a:ext cx="418299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80"/>
                    </a:solidFill>
                    <a:latin typeface="Arial"/>
                    <a:ea typeface="PingFang SC"/>
                    <a:cs typeface="Arial"/>
                  </a:rPr>
                  <a:t>弱模型只需填写叙事卡内容，坐标与容量由 builder 兜底。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762000" y="1809750"/>
              <a:ext cx="3419475" cy="3143250"/>
              <a:chOff x="762000" y="1809750"/>
              <a:chExt cx="3419475" cy="3143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809750"/>
                <a:ext cx="3419475" cy="3143250"/>
              </a:xfrm>
              <a:prstGeom prst="roundRect">
                <a:avLst>
                  <a:gd name="adj" fmla="val 6061"/>
                </a:avLst>
              </a:prstGeom>
              <a:solidFill>
                <a:srgbClr val="FFFCF6">
                  <a:alpha val="78000"/>
                </a:srgbClr>
              </a:solidFill>
              <a:ln w="9525">
                <a:solidFill>
                  <a:srgbClr val="D6C8B8">
                    <a:alpha val="78000"/>
                  </a:srgbClr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3460" y="20802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A16207"/>
                    </a:solidFill>
                    <a:latin typeface="Arial"/>
                    <a:ea typeface="PingFang SC"/>
                    <a:cs typeface="Arial"/>
                  </a:rPr>
                  <a:t>追问一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1028700" y="2381250"/>
                <a:ext cx="514350" cy="38100"/>
              </a:xfrm>
              <a:prstGeom prst="rect">
                <a:avLst/>
              </a:prstGeom>
              <a:solidFill>
                <a:srgbClr val="A16207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08698" y="266842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命运从哪里开始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14412" y="3440906"/>
                <a:ext cx="27289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不要抽象谈苦难，先讲家庭、时代和身体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14412" y="365045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如何共同塑造人物起点。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17270" y="4589145"/>
                <a:ext cx="6409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PingFang SC"/>
                    <a:cs typeface="Arial"/>
                  </a:rPr>
                  <a:t>起点 / 处境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91025" y="1809750"/>
              <a:ext cx="3419475" cy="3143250"/>
              <a:chOff x="4391025" y="1809750"/>
              <a:chExt cx="3419475" cy="31432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391025" y="1809750"/>
                <a:ext cx="3419475" cy="3143250"/>
              </a:xfrm>
              <a:prstGeom prst="roundRect">
                <a:avLst>
                  <a:gd name="adj" fmla="val 6061"/>
                </a:avLst>
              </a:prstGeom>
              <a:solidFill>
                <a:srgbClr val="FFFCF6">
                  <a:alpha val="78000"/>
                </a:srgbClr>
              </a:solidFill>
              <a:ln w="9525">
                <a:solidFill>
                  <a:srgbClr val="D6C8B8">
                    <a:alpha val="78000"/>
                  </a:srgbClr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642485" y="20802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A16207"/>
                    </a:solidFill>
                    <a:latin typeface="Arial"/>
                    <a:ea typeface="PingFang SC"/>
                    <a:cs typeface="Arial"/>
                  </a:rPr>
                  <a:t>追问二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4657725" y="2381250"/>
                <a:ext cx="514350" cy="38100"/>
              </a:xfrm>
              <a:prstGeom prst="rect">
                <a:avLst/>
              </a:prstGeom>
              <a:solidFill>
                <a:srgbClr val="A16207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637722" y="266842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人如何回应命运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43438" y="3440906"/>
                <a:ext cx="27289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把抵抗、妥协、沉默和选择拆成可讲述动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643438" y="36504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作，避免空泛抒情。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646295" y="4589145"/>
                <a:ext cx="6409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PingFang SC"/>
                    <a:cs typeface="Arial"/>
                  </a:rPr>
                  <a:t>动作 / 选择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10525" y="1809750"/>
              <a:ext cx="3419475" cy="3143250"/>
              <a:chOff x="8010525" y="1809750"/>
              <a:chExt cx="3419475" cy="3143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010525" y="1809750"/>
                <a:ext cx="3419475" cy="3143250"/>
              </a:xfrm>
              <a:prstGeom prst="roundRect">
                <a:avLst>
                  <a:gd name="adj" fmla="val 6061"/>
                </a:avLst>
              </a:prstGeom>
              <a:solidFill>
                <a:srgbClr val="FFFCF6">
                  <a:alpha val="78000"/>
                </a:srgbClr>
              </a:solidFill>
              <a:ln w="9525">
                <a:solidFill>
                  <a:srgbClr val="D6C8B8">
                    <a:alpha val="78000"/>
                  </a:srgbClr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261985" y="20802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A16207"/>
                    </a:solidFill>
                    <a:latin typeface="Arial"/>
                    <a:ea typeface="PingFang SC"/>
                    <a:cs typeface="Arial"/>
                  </a:rPr>
                  <a:t>追问三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8277225" y="2381250"/>
                <a:ext cx="514350" cy="38100"/>
              </a:xfrm>
              <a:prstGeom prst="rect">
                <a:avLst/>
              </a:prstGeom>
              <a:solidFill>
                <a:srgbClr val="A16207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257222" y="266842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读者为何被击中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262938" y="3440906"/>
                <a:ext cx="27289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收束到现代人的共鸣：我们也在关系、制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262938" y="3650456"/>
                <a:ext cx="182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度和自我叙事中生成自己。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65795" y="4589145"/>
                <a:ext cx="6409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PingFang SC"/>
                    <a:cs typeface="Arial"/>
                  </a:rPr>
                  <a:t>共鸣 / 回声</a:t>
                </a:r>
              </a:p>
            </p:txBody>
          </p:sp>
        </p:grpSp>
        <p:sp>
          <p:nvSpPr>
            <p:cNvPr id="30" name="Rectangle 30"/>
            <p:cNvSpPr/>
            <p:nvPr/>
          </p:nvSpPr>
          <p:spPr>
            <a:xfrm>
              <a:off x="762000" y="5353050"/>
              <a:ext cx="10668000" cy="704850"/>
            </a:xfrm>
            <a:prstGeom prst="roundRect">
              <a:avLst>
                <a:gd name="adj" fmla="val 24324"/>
              </a:avLst>
            </a:prstGeom>
            <a:solidFill>
              <a:srgbClr val="F7F0E5">
                <a:alpha val="68000"/>
              </a:srgbClr>
            </a:solidFill>
            <a:ln w="9525">
              <a:solidFill>
                <a:srgbClr val="D6C8B8">
                  <a:alpha val="68000"/>
                </a:srgbClr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49655" y="5607368"/>
              <a:ext cx="63193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74151"/>
                  </a:solidFill>
                  <a:latin typeface="Times New Roman"/>
                  <a:ea typeface="Songti SC"/>
                  <a:cs typeface="Times New Roman"/>
                </a:rPr>
                <a:t>文学纪录片式 PPT 的正文页不是海报，而是用卡片组织可复述的观点推进。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51522" y="6330791"/>
            <a:ext cx="21057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C6F64"/>
                </a:solidFill>
                <a:latin typeface="Arial"/>
                <a:ea typeface="PingFang SC"/>
                <a:cs typeface="Arial"/>
              </a:rPr>
              <a:t>来源：scenario-book-deep-analysis.md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