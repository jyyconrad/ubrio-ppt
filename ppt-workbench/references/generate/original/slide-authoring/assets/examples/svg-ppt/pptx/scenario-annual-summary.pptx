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177165"/>
            <a:ext cx="31039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中国区业务中心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5508" y="662178"/>
            <a:ext cx="6639725" cy="56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6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全年目标稳步达成，增长质量持续改善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5320" y="1272540"/>
            <a:ext cx="4831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从规模扩张转向高质量经营，聚焦行业深耕、标杆复制和复购运营。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752600"/>
            <a:ext cx="4648200" cy="2773680"/>
          </a:xfrm>
          <a:prstGeom prst="roundRect">
            <a:avLst>
              <a:gd name="adj" fmla="val 6044"/>
            </a:avLst>
          </a:prstGeom>
          <a:solidFill>
            <a:srgbClr val="0F3B73"/>
          </a:solidFill>
          <a:ln w="9525">
            <a:solidFill>
              <a:srgbClr val="0F3B73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41832" y="2023872"/>
            <a:ext cx="1044702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汇报主判断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7166" y="2495931"/>
            <a:ext cx="3025083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全年目标稳步达成，但增长质量仍需继续补强。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166" y="2815971"/>
            <a:ext cx="2453811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重点行业和交付效率是主要贡献来源。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166" y="3136011"/>
            <a:ext cx="2739447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复购贡献、毛利口径和客户分层仍是短板。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166" y="3456051"/>
            <a:ext cx="3453536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EAF3FF"/>
                </a:solidFill>
                <a:latin typeface="Arial"/>
                <a:ea typeface="PingFang SC"/>
                <a:cs typeface="Arial"/>
              </a:rPr>
              <a:t>来年重点不是继续喊增长，而是建立可复盘经营台账。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60120" y="3962400"/>
            <a:ext cx="3276600" cy="3352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162050" y="4086225"/>
            <a:ext cx="19130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年度结论：增长质量优于规模增速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699760" y="1752600"/>
            <a:ext cx="2514600" cy="1036320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871210" y="194500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结构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64352" y="217627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重点行业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70448" y="2456688"/>
            <a:ext cx="830885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收入占比提升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74258" y="2656713"/>
            <a:ext cx="834606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来源：CRM合同清单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549640" y="1752600"/>
            <a:ext cx="2514600" cy="1036320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721090" y="194500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效率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14232" y="217627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交付周期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20328" y="2456688"/>
            <a:ext cx="562051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持续压缩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24138" y="2656713"/>
            <a:ext cx="853089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来源：PMO项目台账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699760" y="3139440"/>
            <a:ext cx="2514600" cy="1036320"/>
          </a:xfrm>
          <a:prstGeom prst="roundRect">
            <a:avLst>
              <a:gd name="adj" fmla="val 13235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871210" y="333184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91C1C"/>
                </a:solidFill>
                <a:latin typeface="Arial"/>
                <a:ea typeface="PingFang SC"/>
                <a:cs typeface="Arial"/>
              </a:rPr>
              <a:t>风险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64352" y="356311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复购运营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70448" y="3843528"/>
            <a:ext cx="42763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待闭环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74258" y="4043553"/>
            <a:ext cx="848468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来源：客户成功台账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549640" y="3139440"/>
            <a:ext cx="2514600" cy="1036320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721090" y="3331845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口径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4232" y="356311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经营数据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20328" y="3843528"/>
            <a:ext cx="42763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需统一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724138" y="4043553"/>
            <a:ext cx="663645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来源：财务月报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70560" y="4846320"/>
            <a:ext cx="10850880" cy="57912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86968" y="4971288"/>
            <a:ext cx="804001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本 deck 写法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69770" y="4977765"/>
            <a:ext cx="46854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封面即给经营判断，后续每页都必须回到结果、差距、原因、证据口径和行动闭环。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70532" y="5197602"/>
            <a:ext cx="4302511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不要把年度总结写成荣誉清单；缺数据时标“待补口径 + Owner”，不能删除风险。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70560" y="5608320"/>
            <a:ext cx="2438400" cy="441960"/>
          </a:xfrm>
          <a:prstGeom prst="roundRect">
            <a:avLst>
              <a:gd name="adj" fmla="val 24138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98576" y="5705856"/>
            <a:ext cx="21991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证据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40536" y="570585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年度财务月报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9338" y="5887593"/>
            <a:ext cx="950121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收入/毛利/回款先入页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383280" y="5608320"/>
            <a:ext cx="2438400" cy="441960"/>
          </a:xfrm>
          <a:prstGeom prst="roundRect">
            <a:avLst>
              <a:gd name="adj" fmla="val 24138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511296" y="5705856"/>
            <a:ext cx="21991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来源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953256" y="5705856"/>
            <a:ext cx="60804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CRM合同清单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512058" y="5887593"/>
            <a:ext cx="950121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行业/区域/客户可追溯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096000" y="5608320"/>
            <a:ext cx="2438400" cy="441960"/>
          </a:xfrm>
          <a:prstGeom prst="roundRect">
            <a:avLst>
              <a:gd name="adj" fmla="val 24138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224016" y="5705856"/>
            <a:ext cx="335848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Owner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65976" y="5705856"/>
            <a:ext cx="68365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交付PMO+客成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224778" y="5887593"/>
            <a:ext cx="991706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周期/复购缺口责任到人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808720" y="5608320"/>
            <a:ext cx="2438400" cy="441960"/>
          </a:xfrm>
          <a:prstGeom prst="roundRect">
            <a:avLst>
              <a:gd name="adj" fmla="val 24138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936736" y="5705856"/>
            <a:ext cx="21991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复盘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378696" y="5705856"/>
            <a:ext cx="522351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月度经营会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937498" y="5887593"/>
            <a:ext cx="940880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下月继续检查同一口径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61416" y="6368796"/>
            <a:ext cx="3498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素材：年度财务月报 / CRM 商机与合同清单 / 交付 PMO 台账 / 客户成功复购台账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439656" y="6368796"/>
            <a:ext cx="110322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01-cover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725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经营复盘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37794"/>
            <a:ext cx="771967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汇报目录：年度结果、差距诊断、来年抓手和行动闭环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02614"/>
            <a:ext cx="276377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目录页让弱模型学习整套汇报的章节组织。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1732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25905"/>
            <a:ext cx="5819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页面合同：年度总结必须同时写结果、差距、原因、证据口径和来年动作；缺数据时标缺口，不删问题。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70560" y="1965960"/>
            <a:ext cx="7620000" cy="3139440"/>
            <a:chOff x="670560" y="1965960"/>
            <a:chExt cx="7620000" cy="3139440"/>
          </a:xfrm>
        </p:grpSpPr>
        <p:sp>
          <p:nvSpPr>
            <p:cNvPr id="8" name="Rectangle 8"/>
            <p:cNvSpPr/>
            <p:nvPr/>
          </p:nvSpPr>
          <p:spPr>
            <a:xfrm>
              <a:off x="670560" y="1965960"/>
              <a:ext cx="7620000" cy="62484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9828" y="2193798"/>
              <a:ext cx="225287" cy="316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29918" y="2089023"/>
              <a:ext cx="1090536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年度经营结果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6014" y="2369439"/>
              <a:ext cx="2094871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收入达成、结构贡献、交付效率、复购缺口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669280" y="2148840"/>
              <a:ext cx="1630680" cy="25908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782056" y="2246376"/>
              <a:ext cx="102641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回答：全年做成了什么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4938" y="2252853"/>
              <a:ext cx="571233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输出到后续页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70560" y="2804160"/>
              <a:ext cx="7620000" cy="62484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9828" y="3031998"/>
              <a:ext cx="279894" cy="316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29918" y="2927223"/>
              <a:ext cx="1266958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差距与原因诊断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36014" y="3207639"/>
              <a:ext cx="165801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效率、协同、客户运营、数据口径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669280" y="2987040"/>
              <a:ext cx="1630680" cy="25908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82056" y="3084576"/>
              <a:ext cx="92560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回答：问题卡在哪里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04938" y="3091053"/>
              <a:ext cx="571233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输出到后续页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70560" y="3642360"/>
              <a:ext cx="7620000" cy="62484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9828" y="3870198"/>
              <a:ext cx="279894" cy="316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29918" y="3765423"/>
              <a:ext cx="1090536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来年重点抓手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36014" y="4045839"/>
              <a:ext cx="2094871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行业打法、区域复制、复购台账、经营口径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669280" y="3825240"/>
              <a:ext cx="1630680" cy="25908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82056" y="3922776"/>
              <a:ext cx="92560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回答：下年度抓什么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04938" y="3929253"/>
              <a:ext cx="571233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输出到后续页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70560" y="4480560"/>
              <a:ext cx="7620000" cy="62484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9828" y="4708398"/>
              <a:ext cx="279894" cy="316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04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29918" y="4603623"/>
              <a:ext cx="737692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责任闭环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36014" y="4884039"/>
              <a:ext cx="149965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Owner、KPI、风险、复盘节奏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669280" y="4663440"/>
              <a:ext cx="1630680" cy="25908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82056" y="4760976"/>
              <a:ext cx="112722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回答：谁负责、怎么验收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04938" y="4767453"/>
              <a:ext cx="571233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输出到后续页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610600" y="1965960"/>
            <a:ext cx="2910840" cy="3139440"/>
            <a:chOff x="8610600" y="1965960"/>
            <a:chExt cx="2910840" cy="3139440"/>
          </a:xfrm>
        </p:grpSpPr>
        <p:sp>
          <p:nvSpPr>
            <p:cNvPr id="37" name="Rectangle 37"/>
            <p:cNvSpPr/>
            <p:nvPr/>
          </p:nvSpPr>
          <p:spPr>
            <a:xfrm>
              <a:off x="8610600" y="1965960"/>
              <a:ext cx="2910840" cy="3139440"/>
            </a:xfrm>
            <a:prstGeom prst="roundRect">
              <a:avLst>
                <a:gd name="adj" fmla="val 4712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22436" y="2158746"/>
              <a:ext cx="1142467" cy="268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领导阅读路径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27770" y="2600325"/>
              <a:ext cx="1913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先看结论：是否达成、质量如何。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27770" y="2920365"/>
              <a:ext cx="17870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再看证据：哪些表证明该判断。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27770" y="3240405"/>
              <a:ext cx="20391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追问缺口：复购、毛利、客户分层。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27770" y="3560445"/>
              <a:ext cx="21840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落到行动：Owner、时限、验收标准。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27770" y="3880485"/>
              <a:ext cx="1913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进入节奏：月度经营会持续追踪。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839200" y="3977640"/>
              <a:ext cx="2301240" cy="18288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9525">
              <a:solidFill>
                <a:srgbClr val="B8D8F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937498" y="4035933"/>
              <a:ext cx="20158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财务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95460" y="4042410"/>
              <a:ext cx="611715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收入/毛利/回款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839200" y="4206240"/>
              <a:ext cx="2301240" cy="18288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9525">
              <a:solidFill>
                <a:srgbClr val="B8D8F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37498" y="4264533"/>
              <a:ext cx="187725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CRM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95460" y="4271010"/>
              <a:ext cx="611715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行业/客户/合同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839200" y="4434840"/>
              <a:ext cx="2301240" cy="182880"/>
            </a:xfrm>
            <a:prstGeom prst="roundRect">
              <a:avLst>
                <a:gd name="adj" fmla="val 41667"/>
              </a:avLst>
            </a:prstGeom>
            <a:solidFill>
              <a:srgbClr val="FFFFFF"/>
            </a:solidFill>
            <a:ln w="9525">
              <a:solidFill>
                <a:srgbClr val="B8D8F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937498" y="4493133"/>
              <a:ext cx="20620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PMO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95460" y="4499610"/>
              <a:ext cx="611715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周期/返工/验收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839200" y="4602480"/>
              <a:ext cx="2301240" cy="320040"/>
            </a:xfrm>
            <a:prstGeom prst="roundRect">
              <a:avLst>
                <a:gd name="adj" fmla="val 47619"/>
              </a:avLst>
            </a:prstGeom>
            <a:solidFill>
              <a:srgbClr val="F59E0B"/>
            </a:solidFill>
            <a:ln w="9525">
              <a:solidFill>
                <a:srgbClr val="F59E0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996934" y="4731639"/>
              <a:ext cx="1548803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目录不是导航，而是经营问题链</a:t>
              </a:r>
            </a:p>
          </p:txBody>
        </p:sp>
      </p:grpSp>
      <p:sp>
        <p:nvSpPr>
          <p:cNvPr id="56" name="Rectangle 56"/>
          <p:cNvSpPr/>
          <p:nvPr/>
        </p:nvSpPr>
        <p:spPr>
          <a:xfrm>
            <a:off x="670560" y="5455920"/>
            <a:ext cx="2438400" cy="441960"/>
          </a:xfrm>
          <a:prstGeom prst="roundRect">
            <a:avLst>
              <a:gd name="adj" fmla="val 24138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98576" y="5553456"/>
            <a:ext cx="32072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结果页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40536" y="555345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输出指标判断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99338" y="5735193"/>
            <a:ext cx="608198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财务+CRM证据</a:t>
            </a:r>
          </a:p>
        </p:txBody>
      </p:sp>
      <p:sp>
        <p:nvSpPr>
          <p:cNvPr id="60" name="Rectangle 60"/>
          <p:cNvSpPr/>
          <p:nvPr/>
        </p:nvSpPr>
        <p:spPr>
          <a:xfrm>
            <a:off x="3383280" y="5455920"/>
            <a:ext cx="2438400" cy="441960"/>
          </a:xfrm>
          <a:prstGeom prst="roundRect">
            <a:avLst>
              <a:gd name="adj" fmla="val 24138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3511296" y="5553456"/>
            <a:ext cx="32072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诊断页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953256" y="555345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输出差距矩阵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512058" y="5735193"/>
            <a:ext cx="728333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Owner+影响等级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096000" y="5455920"/>
            <a:ext cx="2438400" cy="441960"/>
          </a:xfrm>
          <a:prstGeom prst="roundRect">
            <a:avLst>
              <a:gd name="adj" fmla="val 24138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6224016" y="5553456"/>
            <a:ext cx="32072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计划页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665976" y="555345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输出季度抓手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224778" y="5735193"/>
            <a:ext cx="714471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交付物+验收口径</a:t>
            </a:r>
          </a:p>
        </p:txBody>
      </p:sp>
      <p:sp>
        <p:nvSpPr>
          <p:cNvPr id="68" name="Rectangle 68"/>
          <p:cNvSpPr/>
          <p:nvPr/>
        </p:nvSpPr>
        <p:spPr>
          <a:xfrm>
            <a:off x="8808720" y="5455920"/>
            <a:ext cx="2438400" cy="441960"/>
          </a:xfrm>
          <a:prstGeom prst="roundRect">
            <a:avLst>
              <a:gd name="adj" fmla="val 24138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8936736" y="5553456"/>
            <a:ext cx="320726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2563EB"/>
                </a:solidFill>
                <a:latin typeface="Arial"/>
                <a:ea typeface="PingFang SC"/>
                <a:cs typeface="Arial"/>
              </a:rPr>
              <a:t>闭环页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378696" y="5553456"/>
            <a:ext cx="62316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输出行动台账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937498" y="5735193"/>
            <a:ext cx="571233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月度复盘节奏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61416" y="6368796"/>
            <a:ext cx="3498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素材：年度财务月报 / CRM 商机与合同清单 / 交付 PMO 台账 / 客户成功复购台账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439656" y="6368796"/>
            <a:ext cx="118003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02-agenda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725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经营复盘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37794"/>
            <a:ext cx="3569551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第一部分：年度经营结果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02614"/>
            <a:ext cx="3066212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先用指标证明“做成了什么”，再讲原因和差距。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1732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25905"/>
            <a:ext cx="5819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页面合同：年度总结必须同时写结果、差距、原因、证据口径和来年动作；缺数据时标缺口，不删问题。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70560" y="1905000"/>
            <a:ext cx="3962400" cy="3200400"/>
            <a:chOff x="670560" y="1905000"/>
            <a:chExt cx="3962400" cy="3200400"/>
          </a:xfrm>
        </p:grpSpPr>
        <p:sp>
          <p:nvSpPr>
            <p:cNvPr id="8" name="Rectangle 8"/>
            <p:cNvSpPr/>
            <p:nvPr/>
          </p:nvSpPr>
          <p:spPr>
            <a:xfrm>
              <a:off x="670560" y="1905000"/>
              <a:ext cx="3962400" cy="3200400"/>
            </a:xfrm>
            <a:prstGeom prst="roundRect">
              <a:avLst>
                <a:gd name="adj" fmla="val 5714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1832" y="2176272"/>
              <a:ext cx="144795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本章节回答什么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2641854"/>
              <a:ext cx="1864742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1. 年度目标是否真实达成？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6404" y="2977134"/>
              <a:ext cx="1751327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2. 增长质量是否可持续？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404" y="3312414"/>
              <a:ext cx="2053765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3. 哪些短板会影响来年经营？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404" y="3647694"/>
              <a:ext cx="1902546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4. 哪些口径还必须补证据？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60120" y="4465320"/>
              <a:ext cx="2971800" cy="33528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 w="9525">
              <a:solidFill>
                <a:srgbClr val="F59E0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1570" y="4581525"/>
              <a:ext cx="21651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章节结论：达成目标，但质量仍需补强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60120" y="489204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9180" y="495681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财务口径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859280" y="489204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58340" y="4956810"/>
              <a:ext cx="33868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CRM来源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758440" y="489204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857500" y="4956810"/>
              <a:ext cx="355483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PMO证据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57600" y="489204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91C1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56660" y="495681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复购缺口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029200" y="1965960"/>
            <a:ext cx="6492240" cy="3535680"/>
            <a:chOff x="5029200" y="1965960"/>
            <a:chExt cx="6492240" cy="3535680"/>
          </a:xfrm>
        </p:grpSpPr>
        <p:sp>
          <p:nvSpPr>
            <p:cNvPr id="25" name="Rectangle 25"/>
            <p:cNvSpPr/>
            <p:nvPr/>
          </p:nvSpPr>
          <p:spPr>
            <a:xfrm>
              <a:off x="5029200" y="1965960"/>
              <a:ext cx="6492240" cy="746760"/>
            </a:xfrm>
            <a:prstGeom prst="roundRect">
              <a:avLst>
                <a:gd name="adj" fmla="val 16327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3040" y="211074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指标证据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76088" y="2380488"/>
              <a:ext cx="1919661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收入达成 102，重点行业占比 58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1094" y="2399919"/>
              <a:ext cx="1750848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来源：年度财务月报、CRM合同清单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79898" y="2580513"/>
              <a:ext cx="164320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字段：观点 / 证据 / 解释 / 缺口 / 行动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37298" y="2580513"/>
              <a:ext cx="820744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Owner：财经+销售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59418" y="2580513"/>
              <a:ext cx="84846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动作：按行业拆毛利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029200" y="2926080"/>
              <a:ext cx="6492240" cy="746760"/>
            </a:xfrm>
            <a:prstGeom prst="roundRect">
              <a:avLst>
                <a:gd name="adj" fmla="val 16327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73040" y="30708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质量证据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76088" y="3340608"/>
              <a:ext cx="2040636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交付周期改善，但复购贡献仍待补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91094" y="3360039"/>
              <a:ext cx="1554264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来源：PMO台账、客户成功台账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79898" y="3540633"/>
              <a:ext cx="164320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字段：观点 / 证据 / 解释 / 缺口 / 行动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37298" y="3540633"/>
              <a:ext cx="825365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Owner：PMO+客成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59418" y="3540633"/>
              <a:ext cx="84846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动作：补返工和续约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029200" y="3886200"/>
              <a:ext cx="6492240" cy="746760"/>
            </a:xfrm>
            <a:prstGeom prst="roundRect">
              <a:avLst>
                <a:gd name="adj" fmla="val 16327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73040" y="403098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缺口证据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76088" y="4300728"/>
              <a:ext cx="2309470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毛利、复购率、续约金额仍需统一口径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91094" y="4320159"/>
              <a:ext cx="1608871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动作：财经+运营进入月度经营会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79898" y="4500753"/>
              <a:ext cx="164320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字段：观点 / 证据 / 解释 / 缺口 / 行动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37298" y="4500753"/>
              <a:ext cx="86233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Owner：运营负责人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59418" y="4500753"/>
              <a:ext cx="84846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动作：统一月会字段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029200" y="5059680"/>
              <a:ext cx="6492240" cy="441960"/>
            </a:xfrm>
            <a:prstGeom prst="roundRect">
              <a:avLst>
                <a:gd name="adj" fmla="val 27586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76850" y="5236845"/>
              <a:ext cx="40805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章节输出：后续页必须从“指标结果”进入“差距诊断”，不能只展示成绩。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70560" y="5623560"/>
            <a:ext cx="10576560" cy="441960"/>
            <a:chOff x="670560" y="5623560"/>
            <a:chExt cx="10576560" cy="441960"/>
          </a:xfrm>
        </p:grpSpPr>
        <p:sp>
          <p:nvSpPr>
            <p:cNvPr id="49" name="Rectangle 49"/>
            <p:cNvSpPr/>
            <p:nvPr/>
          </p:nvSpPr>
          <p:spPr>
            <a:xfrm>
              <a:off x="670560" y="562356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8576" y="57210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结果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40536" y="5721096"/>
              <a:ext cx="42153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财务月报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9338" y="5902833"/>
              <a:ext cx="857709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收入达成/毛利/回款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383280" y="562356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511296" y="57210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结构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953256" y="5721096"/>
              <a:ext cx="60804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CRM合同清单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512058" y="5902833"/>
              <a:ext cx="806883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行业贡献/客户名单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96000" y="562356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24016" y="57210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效率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65976" y="5721096"/>
              <a:ext cx="6282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PMO项目台账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24778" y="5902833"/>
              <a:ext cx="672886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周期/返工/验收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808720" y="562356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936736" y="57210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复购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78696" y="572109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客户成功台账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37498" y="5902833"/>
              <a:ext cx="663645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复购口径仍待补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661416" y="6368796"/>
            <a:ext cx="3498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素材：年度财务月报 / CRM 商机与合同清单 / 交付 PMO 台账 / 客户成功复购台账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439656" y="6368796"/>
            <a:ext cx="160728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03-section-results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725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经营复盘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37794"/>
            <a:ext cx="676195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年度结果：收入结构优化，但复购质量仍需补强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02614"/>
            <a:ext cx="2619756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经营复盘页用指标和差距同时证明观点。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1732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25905"/>
            <a:ext cx="5819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页面合同：年度总结必须同时写结果、差距、原因、证据口径和来年动作；缺数据时标缺口，不删问题。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70560" y="1889760"/>
            <a:ext cx="10637520" cy="929640"/>
            <a:chOff x="670560" y="1889760"/>
            <a:chExt cx="10637520" cy="929640"/>
          </a:xfrm>
        </p:grpSpPr>
        <p:sp>
          <p:nvSpPr>
            <p:cNvPr id="8" name="Rectangle 8"/>
            <p:cNvSpPr/>
            <p:nvPr/>
          </p:nvSpPr>
          <p:spPr>
            <a:xfrm>
              <a:off x="670560" y="1889760"/>
              <a:ext cx="2499360" cy="929640"/>
            </a:xfrm>
            <a:prstGeom prst="roundRect">
              <a:avLst>
                <a:gd name="adj" fmla="val 13115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2010" y="206692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收入达成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818" y="2283333"/>
              <a:ext cx="411850" cy="3779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102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88414" y="2262759"/>
              <a:ext cx="347453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达成率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89938" y="2473833"/>
              <a:ext cx="54483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年度财务月报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98320" y="2651760"/>
              <a:ext cx="1082040" cy="76200"/>
            </a:xfrm>
            <a:prstGeom prst="roundRect">
              <a:avLst>
                <a:gd name="adj" fmla="val 50000"/>
              </a:avLst>
            </a:prstGeom>
            <a:solidFill>
              <a:srgbClr val="D9E2E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798320" y="2651760"/>
              <a:ext cx="838200" cy="762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83280" y="1889760"/>
              <a:ext cx="2499360" cy="929640"/>
            </a:xfrm>
            <a:prstGeom prst="roundRect">
              <a:avLst>
                <a:gd name="adj" fmla="val 13115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54730" y="206692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重点行业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42538" y="2283333"/>
              <a:ext cx="333720" cy="3779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58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1134" y="226275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收入占比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02658" y="2473833"/>
              <a:ext cx="53162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CRM合同清单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511040" y="2651760"/>
              <a:ext cx="1082040" cy="76200"/>
            </a:xfrm>
            <a:prstGeom prst="roundRect">
              <a:avLst>
                <a:gd name="adj" fmla="val 50000"/>
              </a:avLst>
            </a:prstGeom>
            <a:solidFill>
              <a:srgbClr val="D9E2EC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11040" y="2651760"/>
              <a:ext cx="716280" cy="762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0" y="1889760"/>
              <a:ext cx="2499360" cy="929640"/>
            </a:xfrm>
            <a:prstGeom prst="roundRect">
              <a:avLst>
                <a:gd name="adj" fmla="val 13115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67450" y="206692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交付效率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55258" y="2283333"/>
              <a:ext cx="411850" cy="3779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+18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13854" y="226275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周期改善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15378" y="2473833"/>
              <a:ext cx="549231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PMO项目台账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23760" y="2651760"/>
              <a:ext cx="1082040" cy="76200"/>
            </a:xfrm>
            <a:prstGeom prst="roundRect">
              <a:avLst>
                <a:gd name="adj" fmla="val 50000"/>
              </a:avLst>
            </a:prstGeom>
            <a:solidFill>
              <a:srgbClr val="D9E2EC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23760" y="2651760"/>
              <a:ext cx="632460" cy="762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808720" y="1889760"/>
              <a:ext cx="2499360" cy="929640"/>
            </a:xfrm>
            <a:prstGeom prst="roundRect">
              <a:avLst>
                <a:gd name="adj" fmla="val 13115"/>
              </a:avLst>
            </a:prstGeom>
            <a:solidFill>
              <a:srgbClr val="FEF2F2"/>
            </a:solidFill>
            <a:ln w="9525">
              <a:solidFill>
                <a:srgbClr val="B91C1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80170" y="206692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复购贡献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67978" y="2283333"/>
              <a:ext cx="568109" cy="3779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6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待补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26574" y="226275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口径缺口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928098" y="2473833"/>
              <a:ext cx="54483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客户成功台账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936480" y="2651760"/>
              <a:ext cx="1082040" cy="76200"/>
            </a:xfrm>
            <a:prstGeom prst="roundRect">
              <a:avLst>
                <a:gd name="adj" fmla="val 50000"/>
              </a:avLst>
            </a:prstGeom>
            <a:solidFill>
              <a:srgbClr val="D9E2EC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936480" y="2651760"/>
              <a:ext cx="365760" cy="76200"/>
            </a:xfrm>
            <a:prstGeom prst="roundRect">
              <a:avLst>
                <a:gd name="adj" fmla="val 50000"/>
              </a:avLst>
            </a:prstGeom>
            <a:solidFill>
              <a:srgbClr val="B91C1C"/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670560" y="3063240"/>
            <a:ext cx="3337560" cy="2179320"/>
            <a:chOff x="670560" y="3063240"/>
            <a:chExt cx="3337560" cy="2179320"/>
          </a:xfrm>
        </p:grpSpPr>
        <p:sp>
          <p:nvSpPr>
            <p:cNvPr id="37" name="Rectangle 37"/>
            <p:cNvSpPr/>
            <p:nvPr/>
          </p:nvSpPr>
          <p:spPr>
            <a:xfrm>
              <a:off x="670560" y="3063240"/>
              <a:ext cx="3337560" cy="2179320"/>
            </a:xfrm>
            <a:prstGeom prst="roundRect">
              <a:avLst>
                <a:gd name="adj" fmla="val 6294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636" y="3240786"/>
              <a:ext cx="1142467" cy="268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先给经营判断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2208" y="3645408"/>
              <a:ext cx="2981554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全年目标稳步达成，但增长质量仍有结构性短板。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2208" y="3919728"/>
              <a:ext cx="2443886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重点行业贡献提升，说明打法复制有效。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2208" y="4194048"/>
              <a:ext cx="2309470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复购贡献缺口暴露客户成功台账不足。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2208" y="4468368"/>
              <a:ext cx="2309470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来年必须把复购从口号变成经营责任。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14400" y="4861560"/>
              <a:ext cx="2590800" cy="27432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 w="9525">
              <a:solidFill>
                <a:srgbClr val="F59E0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01852" y="4953762"/>
              <a:ext cx="1903171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一句话收口：增长质量优于规模增速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4251960" y="3063240"/>
            <a:ext cx="3642360" cy="2179320"/>
            <a:chOff x="4251960" y="3063240"/>
            <a:chExt cx="3642360" cy="2179320"/>
          </a:xfrm>
        </p:grpSpPr>
        <p:sp>
          <p:nvSpPr>
            <p:cNvPr id="46" name="Rectangle 46"/>
            <p:cNvSpPr/>
            <p:nvPr/>
          </p:nvSpPr>
          <p:spPr>
            <a:xfrm>
              <a:off x="4251960" y="3063240"/>
              <a:ext cx="3642360" cy="2179320"/>
            </a:xfrm>
            <a:prstGeom prst="roundRect">
              <a:avLst>
                <a:gd name="adj" fmla="val 5594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48556" y="3210306"/>
              <a:ext cx="1696936" cy="268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月度收入与质量趋势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572000" y="4015740"/>
              <a:ext cx="259080" cy="693420"/>
            </a:xfrm>
            <a:prstGeom prst="roundRect">
              <a:avLst>
                <a:gd name="adj" fmla="val 2352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548378" y="4820793"/>
              <a:ext cx="160002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7月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48378" y="3822573"/>
              <a:ext cx="11841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68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074920" y="3970020"/>
              <a:ext cx="259080" cy="739140"/>
            </a:xfrm>
            <a:prstGeom prst="roundRect">
              <a:avLst>
                <a:gd name="adj" fmla="val 2352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051298" y="4820793"/>
              <a:ext cx="160002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8月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51298" y="3776853"/>
              <a:ext cx="11841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72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577840" y="3939540"/>
              <a:ext cx="259080" cy="769620"/>
            </a:xfrm>
            <a:prstGeom prst="roundRect">
              <a:avLst>
                <a:gd name="adj" fmla="val 2352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554218" y="4820793"/>
              <a:ext cx="160002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9月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554218" y="3746373"/>
              <a:ext cx="11841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75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80760" y="3878580"/>
              <a:ext cx="259080" cy="830580"/>
            </a:xfrm>
            <a:prstGeom prst="roundRect">
              <a:avLst>
                <a:gd name="adj" fmla="val 2352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57138" y="4820793"/>
              <a:ext cx="187725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10月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57138" y="3685413"/>
              <a:ext cx="95314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81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583680" y="3825240"/>
              <a:ext cx="259080" cy="883920"/>
            </a:xfrm>
            <a:prstGeom prst="roundRect">
              <a:avLst>
                <a:gd name="adj" fmla="val 2352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60058" y="4820793"/>
              <a:ext cx="164622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11月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60058" y="3632073"/>
              <a:ext cx="11841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86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086600" y="3794760"/>
              <a:ext cx="259080" cy="914400"/>
            </a:xfrm>
            <a:prstGeom prst="roundRect">
              <a:avLst>
                <a:gd name="adj" fmla="val 2352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62978" y="4820793"/>
              <a:ext cx="187725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12月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62978" y="3601593"/>
              <a:ext cx="11841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89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477000" y="3657600"/>
              <a:ext cx="1173480" cy="320040"/>
            </a:xfrm>
            <a:prstGeom prst="roundRect">
              <a:avLst>
                <a:gd name="adj" fmla="val 33333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05016" y="3785616"/>
              <a:ext cx="8802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结构改善&gt;短期冲量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477000" y="4145280"/>
              <a:ext cx="1173480" cy="320040"/>
            </a:xfrm>
            <a:prstGeom prst="roundRect">
              <a:avLst>
                <a:gd name="adj" fmla="val 33333"/>
              </a:avLst>
            </a:prstGeom>
            <a:solidFill>
              <a:srgbClr val="FEF2F2"/>
            </a:solidFill>
            <a:ln w="9525">
              <a:solidFill>
                <a:srgbClr val="FCA5A5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05016" y="4273296"/>
              <a:ext cx="72397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复购口径仍待补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138160" y="3063240"/>
            <a:ext cx="3383280" cy="2179320"/>
            <a:chOff x="8138160" y="3063240"/>
            <a:chExt cx="3383280" cy="2179320"/>
          </a:xfrm>
        </p:grpSpPr>
        <p:sp>
          <p:nvSpPr>
            <p:cNvPr id="71" name="Rectangle 71"/>
            <p:cNvSpPr/>
            <p:nvPr/>
          </p:nvSpPr>
          <p:spPr>
            <a:xfrm>
              <a:off x="8138160" y="3063240"/>
              <a:ext cx="3383280" cy="2179320"/>
            </a:xfrm>
            <a:prstGeom prst="roundRect">
              <a:avLst>
                <a:gd name="adj" fmla="val 5594"/>
              </a:avLst>
            </a:prstGeom>
            <a:solidFill>
              <a:srgbClr val="FFF7ED"/>
            </a:solidFill>
            <a:ln w="9525">
              <a:solidFill>
                <a:srgbClr val="F59E0B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334756" y="3210306"/>
              <a:ext cx="957644" cy="268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差距转行动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41614" y="345147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贡献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30056" y="3457956"/>
              <a:ext cx="112722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行业深耕带来高毛利项目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830818" y="3616833"/>
              <a:ext cx="84846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沉淀三类行业打法包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341614" y="38172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差距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830056" y="3823716"/>
              <a:ext cx="102641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复购运营还未责任到人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30818" y="3982593"/>
              <a:ext cx="973224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补 A/B/C 客户分层台账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41614" y="418299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原因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830056" y="4189476"/>
              <a:ext cx="102641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数据口径跨部门不统一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830818" y="4348353"/>
              <a:ext cx="1042532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收入/毛利/回款进入月会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341614" y="454875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风险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830056" y="4555236"/>
              <a:ext cx="102641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续约金额和复购率待补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830818" y="4714113"/>
              <a:ext cx="84846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客户成功部周度拉通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670560" y="5486400"/>
            <a:ext cx="10850880" cy="822960"/>
            <a:chOff x="670560" y="5486400"/>
            <a:chExt cx="10850880" cy="822960"/>
          </a:xfrm>
        </p:grpSpPr>
        <p:sp>
          <p:nvSpPr>
            <p:cNvPr id="86" name="Rectangle 86"/>
            <p:cNvSpPr/>
            <p:nvPr/>
          </p:nvSpPr>
          <p:spPr>
            <a:xfrm>
              <a:off x="670560" y="548640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97814" y="5585079"/>
              <a:ext cx="1002735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财务｜年度财务月报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98576" y="5759196"/>
              <a:ext cx="73405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收入/毛利/回款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3383280" y="548640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3510534" y="5585079"/>
              <a:ext cx="986353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客户｜CRM合同清单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3511296" y="5759196"/>
              <a:ext cx="8802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重点行业/客户名单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096000" y="548640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223254" y="5585079"/>
              <a:ext cx="1008196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交付｜PMO项目台账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224016" y="5759196"/>
              <a:ext cx="73405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周期/返工/验收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8808720" y="548640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935974" y="5585079"/>
              <a:ext cx="1002735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复购｜客户成功台账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936736" y="5759196"/>
              <a:ext cx="73405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续约/复购/风险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70560" y="6035040"/>
              <a:ext cx="10850880" cy="274320"/>
            </a:xfrm>
            <a:prstGeom prst="roundRect">
              <a:avLst>
                <a:gd name="adj" fmla="val 38889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89254" y="6133719"/>
              <a:ext cx="4388358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年度驾驶舱合同：不能只放指标卡，必须同时出现结论、趋势、差距、来源和下一步动作。</a:t>
              </a:r>
            </a:p>
          </p:txBody>
        </p:sp>
      </p:grpSp>
      <p:sp>
        <p:nvSpPr>
          <p:cNvPr id="101" name="TextBox 101"/>
          <p:cNvSpPr txBox="1"/>
          <p:nvPr/>
        </p:nvSpPr>
        <p:spPr>
          <a:xfrm>
            <a:off x="661416" y="6368796"/>
            <a:ext cx="3498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素材：年度财务月报 / CRM 商机与合同清单 / 交付 PMO 台账 / 客户成功复购台账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439656" y="6368796"/>
            <a:ext cx="133845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04-dashboard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725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经营复盘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37794"/>
            <a:ext cx="644271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差距诊断：问题集中在效率、协同和客户运营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02614"/>
            <a:ext cx="247573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用二维矩阵区分立即整改与机制优化。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1732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25905"/>
            <a:ext cx="5819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页面合同：年度总结必须同时写结果、差距、原因、证据口径和来年动作；缺数据时标缺口，不删问题。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70560" y="1889760"/>
            <a:ext cx="10576560" cy="573405"/>
            <a:chOff x="670560" y="1889760"/>
            <a:chExt cx="10576560" cy="573405"/>
          </a:xfrm>
        </p:grpSpPr>
        <p:sp>
          <p:nvSpPr>
            <p:cNvPr id="8" name="Rectangle 8"/>
            <p:cNvSpPr/>
            <p:nvPr/>
          </p:nvSpPr>
          <p:spPr>
            <a:xfrm>
              <a:off x="67056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305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优先整改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543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99616" y="2238756"/>
              <a:ext cx="8802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标杆复制/客户分层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8328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2577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机制优化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815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12336" y="2238756"/>
              <a:ext cx="98104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周报口径/跨部门排期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8494" y="2018919"/>
              <a:ext cx="582262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关键Owner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087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25056" y="2238756"/>
              <a:ext cx="99617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销售/客成/运营/PMO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0872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5121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复盘频率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43594" y="2182749"/>
              <a:ext cx="421500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月度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37776" y="2238756"/>
              <a:ext cx="52235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进入经营会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70560" y="2682240"/>
            <a:ext cx="7574280" cy="2849880"/>
            <a:chOff x="670560" y="2682240"/>
            <a:chExt cx="7574280" cy="2849880"/>
          </a:xfrm>
        </p:grpSpPr>
        <p:sp>
          <p:nvSpPr>
            <p:cNvPr id="25" name="Rectangle 25"/>
            <p:cNvSpPr/>
            <p:nvPr/>
          </p:nvSpPr>
          <p:spPr>
            <a:xfrm>
              <a:off x="670560" y="2682240"/>
              <a:ext cx="3581400" cy="1234440"/>
            </a:xfrm>
            <a:prstGeom prst="roundRect">
              <a:avLst>
                <a:gd name="adj" fmla="val 9877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8774" y="2857119"/>
              <a:ext cx="735161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高影响/易推进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1916" y="3088386"/>
              <a:ext cx="1142467" cy="268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标杆项目复制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8012" y="3384042"/>
              <a:ext cx="844639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沉淀行业打法包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9536" y="3610356"/>
              <a:ext cx="91048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来源：CRM合同清单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82696" y="3610356"/>
              <a:ext cx="42153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销售战区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0298" y="3769233"/>
              <a:ext cx="180030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检查口径：影响等级 + 推进难度 + 复盘节奏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560320" y="283464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659380" y="2899410"/>
              <a:ext cx="279873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413760" y="283464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512820" y="2899410"/>
              <a:ext cx="183261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验收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663440" y="2682240"/>
              <a:ext cx="3581400" cy="1234440"/>
            </a:xfrm>
            <a:prstGeom prst="roundRect">
              <a:avLst>
                <a:gd name="adj" fmla="val 9877"/>
              </a:avLst>
            </a:prstGeom>
            <a:solidFill>
              <a:srgbClr val="FEF2F2"/>
            </a:solidFill>
            <a:ln w="9525">
              <a:solidFill>
                <a:srgbClr val="B91C1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51654" y="2857119"/>
              <a:ext cx="735161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高影响/难推进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44796" y="3088386"/>
              <a:ext cx="1142467" cy="268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客户分层运营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50892" y="3384042"/>
              <a:ext cx="932850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补A/B/C客户台账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52416" y="3610356"/>
              <a:ext cx="92560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来源：客户成功台账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75576" y="3610356"/>
              <a:ext cx="42153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客户成功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53178" y="3769233"/>
              <a:ext cx="180030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检查口径：影响等级 + 推进难度 + 复盘节奏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53200" y="283464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91C1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2260" y="2899410"/>
              <a:ext cx="279873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406640" y="283464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91C1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05700" y="2899410"/>
              <a:ext cx="183261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验收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0560" y="4297680"/>
              <a:ext cx="3581400" cy="1234440"/>
            </a:xfrm>
            <a:prstGeom prst="roundRect">
              <a:avLst>
                <a:gd name="adj" fmla="val 9877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8774" y="4472559"/>
              <a:ext cx="735161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低影响/易推进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1916" y="4703826"/>
              <a:ext cx="1142467" cy="268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周报口径统一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8012" y="4999482"/>
              <a:ext cx="1326859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统一收入/毛利/回款字段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9536" y="5225796"/>
              <a:ext cx="82478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来源：经营会纪要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282696" y="52257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运营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0298" y="5384673"/>
              <a:ext cx="180030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检查口径：影响等级 + 推进难度 + 复盘节奏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560320" y="445008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659380" y="4514850"/>
              <a:ext cx="279873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413760" y="445008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512820" y="4514850"/>
              <a:ext cx="183261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验收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663440" y="4297680"/>
              <a:ext cx="3581400" cy="1234440"/>
            </a:xfrm>
            <a:prstGeom prst="roundRect">
              <a:avLst>
                <a:gd name="adj" fmla="val 9877"/>
              </a:avLst>
            </a:prstGeom>
            <a:solidFill>
              <a:srgbClr val="FFF7ED"/>
            </a:solidFill>
            <a:ln w="9525">
              <a:solidFill>
                <a:srgbClr val="B45309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851654" y="4472559"/>
              <a:ext cx="735161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低影响/难推进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844796" y="4703826"/>
              <a:ext cx="957644" cy="268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跨部门排期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850892" y="4999482"/>
              <a:ext cx="1079868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建立月度经营协调会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52416" y="5225796"/>
              <a:ext cx="93064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来源：PMO项目台账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75576" y="5225796"/>
              <a:ext cx="22495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PMO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853178" y="5384673"/>
              <a:ext cx="180030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检查口径：影响等级 + 推进难度 + 复盘节奏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553200" y="445008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45309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52260" y="4514850"/>
              <a:ext cx="279873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406640" y="445008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45309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505700" y="4514850"/>
              <a:ext cx="183261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验收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610600" y="2682240"/>
            <a:ext cx="2910840" cy="3150870"/>
            <a:chOff x="8610600" y="2682240"/>
            <a:chExt cx="2910840" cy="3150870"/>
          </a:xfrm>
        </p:grpSpPr>
        <p:sp>
          <p:nvSpPr>
            <p:cNvPr id="70" name="Rectangle 70"/>
            <p:cNvSpPr/>
            <p:nvPr/>
          </p:nvSpPr>
          <p:spPr>
            <a:xfrm>
              <a:off x="8610600" y="2682240"/>
              <a:ext cx="2910840" cy="2849880"/>
            </a:xfrm>
            <a:prstGeom prst="roundRect">
              <a:avLst>
                <a:gd name="adj" fmla="val 4813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823198" y="2866263"/>
              <a:ext cx="914114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6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诊断页写法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828532" y="3292602"/>
              <a:ext cx="1567969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1. 每个问题必须有影响等级。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828532" y="3582162"/>
              <a:ext cx="1714988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2. 每个差距必须写来源或口径。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28532" y="3871722"/>
              <a:ext cx="1615015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3. 每个动作必须绑定Owner。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828532" y="4161282"/>
              <a:ext cx="1726749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4. 不写“继续加强、持续推进”。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828532" y="4450842"/>
              <a:ext cx="1832602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5. 低优先问题也要说明复盘节奏。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839200" y="5029200"/>
              <a:ext cx="2301240" cy="304800"/>
            </a:xfrm>
            <a:prstGeom prst="roundRect">
              <a:avLst>
                <a:gd name="adj" fmla="val 45000"/>
              </a:avLst>
            </a:prstGeom>
            <a:solidFill>
              <a:srgbClr val="F59E0B"/>
            </a:solidFill>
            <a:ln w="9525">
              <a:solidFill>
                <a:srgbClr val="F59E0B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012174" y="5143119"/>
              <a:ext cx="143958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矩阵不是装饰，是整改优先级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831580" y="531495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本周输出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547860" y="531495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整改台账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831580" y="551307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月度检查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547860" y="5513070"/>
              <a:ext cx="26727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经营会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831580" y="571119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失败信号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547860" y="571119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口径缺失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670560" y="5654040"/>
            <a:ext cx="10850880" cy="691515"/>
            <a:chOff x="670560" y="5654040"/>
            <a:chExt cx="10850880" cy="691515"/>
          </a:xfrm>
        </p:grpSpPr>
        <p:sp>
          <p:nvSpPr>
            <p:cNvPr id="86" name="Rectangle 86"/>
            <p:cNvSpPr/>
            <p:nvPr/>
          </p:nvSpPr>
          <p:spPr>
            <a:xfrm>
              <a:off x="670560" y="5654040"/>
              <a:ext cx="7696200" cy="594360"/>
            </a:xfrm>
            <a:prstGeom prst="roundRect">
              <a:avLst>
                <a:gd name="adj" fmla="val 17949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75538" y="5735193"/>
              <a:ext cx="293999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整改项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277618" y="5735193"/>
              <a:ext cx="30786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954018" y="5735193"/>
              <a:ext cx="38641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本月动作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935218" y="5735193"/>
              <a:ext cx="38641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验收标准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76300" y="587883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客户分层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2278380" y="5878830"/>
              <a:ext cx="183261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客成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3954780" y="5878830"/>
              <a:ext cx="49830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补A/B/C台账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935980" y="5878830"/>
              <a:ext cx="519303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续约金额入表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76300" y="601599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标杆复制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2278380" y="6015990"/>
              <a:ext cx="183261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销售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3954780" y="6015990"/>
              <a:ext cx="43529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三类打法包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935980" y="6015990"/>
              <a:ext cx="43529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区域可复用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76300" y="615315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数据口径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2278380" y="6153150"/>
              <a:ext cx="183261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运营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3954780" y="615315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字段统一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5935980" y="615315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月会同表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8610600" y="5654040"/>
              <a:ext cx="2910840" cy="594360"/>
            </a:xfrm>
            <a:prstGeom prst="roundRect">
              <a:avLst>
                <a:gd name="adj" fmla="val 17949"/>
              </a:avLst>
            </a:prstGeom>
            <a:solidFill>
              <a:srgbClr val="FFF7ED"/>
            </a:solidFill>
            <a:ln w="9525">
              <a:solidFill>
                <a:srgbClr val="F59E0B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8798814" y="578319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复盘节奏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516618" y="5796153"/>
              <a:ext cx="1139564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月度经营会 / 季度专题复盘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798814" y="599655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缺口处理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516618" y="6009513"/>
              <a:ext cx="132438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待补数据必须写Owner，不许删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8839200" y="6187440"/>
              <a:ext cx="1127760" cy="1524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F59E0B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8923782" y="6235827"/>
              <a:ext cx="542982" cy="109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检查标准入台账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10058400" y="6187440"/>
              <a:ext cx="1127760" cy="1524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F59E0B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10142982" y="6235827"/>
              <a:ext cx="542982" cy="109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下月复盘同口径</a:t>
              </a:r>
            </a:p>
          </p:txBody>
        </p:sp>
      </p:grpSp>
      <p:sp>
        <p:nvSpPr>
          <p:cNvPr id="113" name="TextBox 113"/>
          <p:cNvSpPr txBox="1"/>
          <p:nvPr/>
        </p:nvSpPr>
        <p:spPr>
          <a:xfrm>
            <a:off x="661416" y="6368796"/>
            <a:ext cx="3498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素材：年度财务月报 / CRM 商机与合同清单 / 交付 PMO 台账 / 客户成功复购台账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9439656" y="6368796"/>
            <a:ext cx="117523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05-matrix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725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经营复盘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37794"/>
            <a:ext cx="771967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原因分析：增长不是单点动作，而是三类机制共同作用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02614"/>
            <a:ext cx="2187702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左侧给判断，右侧用证据链支撑。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1732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25905"/>
            <a:ext cx="5819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页面合同：年度总结必须同时写结果、差距、原因、证据口径和来年动作；缺数据时标缺口，不删问题。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70560" y="1905000"/>
            <a:ext cx="3810000" cy="2592705"/>
            <a:chOff x="670560" y="1905000"/>
            <a:chExt cx="3810000" cy="2592705"/>
          </a:xfrm>
        </p:grpSpPr>
        <p:sp>
          <p:nvSpPr>
            <p:cNvPr id="8" name="Rectangle 8"/>
            <p:cNvSpPr/>
            <p:nvPr/>
          </p:nvSpPr>
          <p:spPr>
            <a:xfrm>
              <a:off x="670560" y="1905000"/>
              <a:ext cx="3810000" cy="2590800"/>
            </a:xfrm>
            <a:prstGeom prst="roundRect">
              <a:avLst>
                <a:gd name="adj" fmla="val 6471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1832" y="2176272"/>
              <a:ext cx="843077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4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核心判断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7166" y="2648331"/>
              <a:ext cx="1882540" cy="2072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2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收入增长不是销售单点冲刺，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7166" y="2937891"/>
              <a:ext cx="1739722" cy="2072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2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而是行业选择、交付机制、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7166" y="3227451"/>
              <a:ext cx="1882540" cy="2072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2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复购运营三类机制共同作用。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166" y="3517011"/>
              <a:ext cx="2168176" cy="2072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2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短板也来自这三类机制没有闭环。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60120" y="4023360"/>
              <a:ext cx="2651760" cy="28956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 w="9525">
              <a:solidFill>
                <a:srgbClr val="F59E0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2332" y="4123182"/>
              <a:ext cx="1667942" cy="170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4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结论：机制解释优先于功劳罗列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4618" y="4363593"/>
              <a:ext cx="1791066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EAF3FF"/>
                  </a:solidFill>
                  <a:latin typeface="Arial"/>
                  <a:ea typeface="PingFang SC"/>
                  <a:cs typeface="Arial"/>
                </a:rPr>
                <a:t>素材口径：CRM + PMO + 客成三表共同解释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953000" y="1905000"/>
            <a:ext cx="6568440" cy="2788920"/>
            <a:chOff x="4953000" y="1905000"/>
            <a:chExt cx="6568440" cy="2788920"/>
          </a:xfrm>
        </p:grpSpPr>
        <p:sp>
          <p:nvSpPr>
            <p:cNvPr id="18" name="Rectangle 18"/>
            <p:cNvSpPr/>
            <p:nvPr/>
          </p:nvSpPr>
          <p:spPr>
            <a:xfrm>
              <a:off x="4953000" y="1905000"/>
              <a:ext cx="6568440" cy="777240"/>
            </a:xfrm>
            <a:prstGeom prst="roundRect">
              <a:avLst>
                <a:gd name="adj" fmla="val 15686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96840" y="203454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行业选择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87846" y="2053971"/>
              <a:ext cx="1311269" cy="2072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重点行业需求更确定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02174" y="2323719"/>
              <a:ext cx="165801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预算明确、客户集中、案例可复制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02936" y="2513076"/>
              <a:ext cx="91048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证据：CRM合同清单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92056" y="2513076"/>
              <a:ext cx="42153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销售战区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00416" y="2330196"/>
              <a:ext cx="132885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解释：结构优化来自行业深耕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0500360" y="204216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9420" y="2106930"/>
              <a:ext cx="279873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500360" y="230124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599420" y="2366010"/>
              <a:ext cx="183261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证据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953000" y="2910840"/>
              <a:ext cx="6568440" cy="777240"/>
            </a:xfrm>
            <a:prstGeom prst="roundRect">
              <a:avLst>
                <a:gd name="adj" fmla="val 15686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196840" y="304038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交付机制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87846" y="3059811"/>
              <a:ext cx="1168451" cy="2072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联合评审降低返工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02174" y="3329559"/>
              <a:ext cx="1778152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售前/交付/运营同评审，风险进周会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02936" y="3518916"/>
              <a:ext cx="93064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证据：PMO项目台账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92056" y="3518916"/>
              <a:ext cx="42657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交付PMO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00416" y="3336036"/>
              <a:ext cx="112722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动作：把里程碑看板固化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500360" y="304800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599420" y="3112770"/>
              <a:ext cx="279873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500360" y="330708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599420" y="3371850"/>
              <a:ext cx="183261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证据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953000" y="3916680"/>
              <a:ext cx="6568440" cy="777240"/>
            </a:xfrm>
            <a:prstGeom prst="roundRect">
              <a:avLst>
                <a:gd name="adj" fmla="val 15686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196840" y="404622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复购运营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87846" y="4065651"/>
              <a:ext cx="1168451" cy="2072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客户价值挖掘不足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02174" y="4335399"/>
              <a:ext cx="1767230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分层策略缺动作闭环，续约金额待补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02936" y="4524756"/>
              <a:ext cx="92560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证据：客户成功台账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92056" y="4524756"/>
              <a:ext cx="42153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客户成功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00416" y="4341876"/>
              <a:ext cx="102641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风险：复购口径仍待补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500360" y="405384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91C1C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599420" y="4118610"/>
              <a:ext cx="279873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500360" y="431292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91C1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99420" y="4377690"/>
              <a:ext cx="183261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证据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70560" y="4648200"/>
            <a:ext cx="10850880" cy="1645920"/>
            <a:chOff x="670560" y="4648200"/>
            <a:chExt cx="10850880" cy="1645920"/>
          </a:xfrm>
        </p:grpSpPr>
        <p:sp>
          <p:nvSpPr>
            <p:cNvPr id="52" name="Rectangle 52"/>
            <p:cNvSpPr/>
            <p:nvPr/>
          </p:nvSpPr>
          <p:spPr>
            <a:xfrm>
              <a:off x="670560" y="464820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98576" y="474573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原因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40536" y="4745736"/>
              <a:ext cx="42153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行业选择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9338" y="4927473"/>
              <a:ext cx="834606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用CRM合同清单证明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383280" y="464820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511296" y="474573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原因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953256" y="4745736"/>
              <a:ext cx="42153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交付机制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12058" y="4927473"/>
              <a:ext cx="853089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用PMO台账解释效率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96000" y="464820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24016" y="474573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风险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65976" y="4745736"/>
              <a:ext cx="42153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复购运营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24778" y="4927473"/>
              <a:ext cx="94088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用客户成功台账补口径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808720" y="4648200"/>
              <a:ext cx="2438400" cy="441960"/>
            </a:xfrm>
            <a:prstGeom prst="roundRect">
              <a:avLst>
                <a:gd name="adj" fmla="val 24138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936736" y="474573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承接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378696" y="4745736"/>
              <a:ext cx="42153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来年抓手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937498" y="4927473"/>
              <a:ext cx="954741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转成季度动作和Owner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20140" y="519303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解释结果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832860" y="519303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解释差距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45580" y="519303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转成动作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258300" y="5193030"/>
              <a:ext cx="351282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进入复盘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70560" y="5364480"/>
              <a:ext cx="10850880" cy="441960"/>
            </a:xfrm>
            <a:prstGeom prst="roundRect">
              <a:avLst>
                <a:gd name="adj" fmla="val 27586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87730" y="5526405"/>
              <a:ext cx="64622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原因页合同：原因必须能解释结果和差距，并且能转成来年抓手；不能写“市场环境、团队努力”这类不可执行归因。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70560" y="6035040"/>
              <a:ext cx="10850880" cy="259080"/>
            </a:xfrm>
            <a:prstGeom prst="roundRect">
              <a:avLst>
                <a:gd name="adj" fmla="val 41176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89254" y="6126099"/>
              <a:ext cx="2695546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下一页承接：把三类机制拆成 Q1-Q4 行动和验收口径。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661416" y="6368796"/>
            <a:ext cx="3498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素材：年度财务月报 / CRM 商机与合同清单 / 交付 PMO 台账 / 客户成功复购台账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439656" y="6368796"/>
            <a:ext cx="112722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06-cause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725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经营复盘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37794"/>
            <a:ext cx="580423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来年抓手：从增长目标拆到四个季度动作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02614"/>
            <a:ext cx="305181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年度计划页必须给周期、责任和可检查交付物。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1732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25905"/>
            <a:ext cx="5819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页面合同：年度总结必须同时写结果、差距、原因、证据口径和来年动作；缺数据时标缺口，不删问题。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670560" y="2057400"/>
            <a:ext cx="10576560" cy="3019425"/>
            <a:chOff x="670560" y="2057400"/>
            <a:chExt cx="10576560" cy="3019425"/>
          </a:xfrm>
        </p:grpSpPr>
        <p:sp>
          <p:nvSpPr>
            <p:cNvPr id="8" name="Rectangle 8"/>
            <p:cNvSpPr/>
            <p:nvPr/>
          </p:nvSpPr>
          <p:spPr>
            <a:xfrm>
              <a:off x="670560" y="2057400"/>
              <a:ext cx="2438400" cy="2987040"/>
            </a:xfrm>
            <a:prstGeom prst="roundRect">
              <a:avLst>
                <a:gd name="adj" fmla="val 5625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22960" y="2240280"/>
              <a:ext cx="624840" cy="28956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 w="9525">
              <a:solidFill>
                <a:srgbClr val="2563E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2619" y="2334768"/>
              <a:ext cx="165522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6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Q1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7438" y="2698623"/>
              <a:ext cx="1266958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建立行业打法包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3534" y="30857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关键动作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3534" y="3329559"/>
              <a:ext cx="675094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完成客户分层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3534" y="3542919"/>
              <a:ext cx="784308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输出标杆案例库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534" y="4045839"/>
              <a:ext cx="363835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76934" y="4045839"/>
              <a:ext cx="516734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市场+销售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534" y="43811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验收口径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53896" y="438759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打法包可复用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53440" y="4663440"/>
              <a:ext cx="1798320" cy="21336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2218" y="4736973"/>
              <a:ext cx="84846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进入月度经营会复盘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5058" y="4942713"/>
              <a:ext cx="38641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风险缺口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79220" y="4949190"/>
              <a:ext cx="863746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数据/责任/预算需补齐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072640" y="224028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171700" y="2305050"/>
              <a:ext cx="183261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来源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072640" y="246888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71700" y="2533650"/>
              <a:ext cx="279873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383280" y="2057400"/>
              <a:ext cx="2438400" cy="2987040"/>
            </a:xfrm>
            <a:prstGeom prst="roundRect">
              <a:avLst>
                <a:gd name="adj" fmla="val 5625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535680" y="2240280"/>
              <a:ext cx="624840" cy="28956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 w="9525">
              <a:solidFill>
                <a:srgbClr val="2563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748537" y="2334768"/>
              <a:ext cx="199126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6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Q2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50158" y="2698623"/>
              <a:ext cx="1090536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复制区域样板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56254" y="30857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关键动作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56254" y="3329559"/>
              <a:ext cx="1002735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华东打法复制到华中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56254" y="3542919"/>
              <a:ext cx="675094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周度跟踪转化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56254" y="4045839"/>
              <a:ext cx="363835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89654" y="404583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销售战区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56254" y="43811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验收口径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66616" y="438759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三地样板复用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566160" y="4663440"/>
              <a:ext cx="1798320" cy="21336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694938" y="4736973"/>
              <a:ext cx="84846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进入月度经营会复盘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57778" y="4942713"/>
              <a:ext cx="38641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风险缺口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91940" y="4949190"/>
              <a:ext cx="863746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数据/责任/预算需补齐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785360" y="224028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884420" y="2305050"/>
              <a:ext cx="183261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来源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785360" y="246888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884420" y="2533650"/>
              <a:ext cx="279873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96000" y="2057400"/>
              <a:ext cx="2438400" cy="2987040"/>
            </a:xfrm>
            <a:prstGeom prst="roundRect">
              <a:avLst>
                <a:gd name="adj" fmla="val 5625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48400" y="2240280"/>
              <a:ext cx="624840" cy="28956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 w="9525">
              <a:solidFill>
                <a:srgbClr val="2563E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61257" y="2334768"/>
              <a:ext cx="199126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6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Q3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62878" y="2698623"/>
              <a:ext cx="1090536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提升交付效率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68974" y="30857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关键动作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68974" y="3329559"/>
              <a:ext cx="675094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标准化里程碑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68974" y="3542919"/>
              <a:ext cx="855296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异常事项48h升级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68974" y="4045839"/>
              <a:ext cx="363835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02374" y="4045839"/>
              <a:ext cx="46212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交付PMO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68974" y="43811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验收口径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79336" y="4387596"/>
              <a:ext cx="77942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周期/返工率入表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78880" y="4663440"/>
              <a:ext cx="1798320" cy="21336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07658" y="4736973"/>
              <a:ext cx="84846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进入月度经营会复盘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70498" y="4942713"/>
              <a:ext cx="38641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风险缺口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04660" y="4949190"/>
              <a:ext cx="863746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数据/责任/预算需补齐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498080" y="224028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597140" y="2305050"/>
              <a:ext cx="183261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来源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498080" y="246888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597140" y="2533650"/>
              <a:ext cx="279873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808720" y="2057400"/>
              <a:ext cx="2438400" cy="2987040"/>
            </a:xfrm>
            <a:prstGeom prst="roundRect">
              <a:avLst>
                <a:gd name="adj" fmla="val 5625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961120" y="2240280"/>
              <a:ext cx="624840" cy="28956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 w="9525">
              <a:solidFill>
                <a:srgbClr val="2563EB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173977" y="2334768"/>
              <a:ext cx="199126" cy="195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6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Q4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75598" y="2698623"/>
              <a:ext cx="914114" cy="256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复盘与续约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81694" y="30857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关键动作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981694" y="3329559"/>
              <a:ext cx="675094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复购台账收口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981694" y="3542919"/>
              <a:ext cx="784308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明确来年预算池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981694" y="4045839"/>
              <a:ext cx="363835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515094" y="404583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客户成功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981694" y="43811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验收口径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592056" y="438759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续约金额入表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991600" y="4663440"/>
              <a:ext cx="1798320" cy="21336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120378" y="4736973"/>
              <a:ext cx="84846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进入月度经营会复盘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983218" y="4942713"/>
              <a:ext cx="38641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风险缺口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517380" y="4949190"/>
              <a:ext cx="863746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数据/责任/预算需补齐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0210800" y="224028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309860" y="2305050"/>
              <a:ext cx="183261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来源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0210800" y="2468880"/>
              <a:ext cx="792480" cy="1828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2563EB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309860" y="2533650"/>
              <a:ext cx="279873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</p:grpSp>
      <p:sp>
        <p:nvSpPr>
          <p:cNvPr id="85" name="Rectangle 85"/>
          <p:cNvSpPr/>
          <p:nvPr/>
        </p:nvSpPr>
        <p:spPr>
          <a:xfrm>
            <a:off x="670560" y="5364480"/>
            <a:ext cx="10850880" cy="441960"/>
          </a:xfrm>
          <a:prstGeom prst="roundRect">
            <a:avLst>
              <a:gd name="adj" fmla="val 27586"/>
            </a:avLst>
          </a:prstGeom>
          <a:solidFill>
            <a:srgbClr val="FFF7ED"/>
          </a:solidFill>
          <a:ln w="9525">
            <a:solidFill>
              <a:srgbClr val="F59E0B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887730" y="5526405"/>
            <a:ext cx="60905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路线图合同：每个季度必须写动作、Owner、交付物和验收口径；时间轴不是装饰，必须能被下次复盘检查。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257300" y="5726430"/>
            <a:ext cx="183261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输入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623060" y="5726430"/>
            <a:ext cx="603314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上一年差距矩阵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623822" y="5870067"/>
            <a:ext cx="701762" cy="1097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客户分层/交付/口径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726180" y="5726430"/>
            <a:ext cx="183261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输出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091940" y="5726430"/>
            <a:ext cx="435292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季度交付物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092702" y="5870067"/>
            <a:ext cx="701762" cy="1097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打法包/看板/续约池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6195060" y="5726430"/>
            <a:ext cx="279873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Owner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6560820" y="5726430"/>
            <a:ext cx="351282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部门责任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6561582" y="5870067"/>
            <a:ext cx="747128" cy="1097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市场/销售/PMO/客成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663940" y="5726430"/>
            <a:ext cx="183261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检查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029700" y="5726430"/>
            <a:ext cx="435292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经营会复盘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9030462" y="5870067"/>
            <a:ext cx="618592" cy="1097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" b="1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同一口径持续追踪</a:t>
            </a:r>
          </a:p>
        </p:txBody>
      </p:sp>
      <p:sp>
        <p:nvSpPr>
          <p:cNvPr id="99" name="Rectangle 99"/>
          <p:cNvSpPr/>
          <p:nvPr/>
        </p:nvSpPr>
        <p:spPr>
          <a:xfrm>
            <a:off x="670560" y="6035040"/>
            <a:ext cx="10850880" cy="259080"/>
          </a:xfrm>
          <a:prstGeom prst="roundRect">
            <a:avLst>
              <a:gd name="adj" fmla="val 41176"/>
            </a:avLst>
          </a:prstGeom>
          <a:solidFill>
            <a:srgbClr val="0F3B73"/>
          </a:solidFill>
          <a:ln w="9525">
            <a:solidFill>
              <a:srgbClr val="0F3B73"/>
            </a:solidFill>
          </a:ln>
        </p:spPr>
      </p:sp>
      <p:sp>
        <p:nvSpPr>
          <p:cNvPr id="100" name="TextBox 100"/>
          <p:cNvSpPr txBox="1"/>
          <p:nvPr/>
        </p:nvSpPr>
        <p:spPr>
          <a:xfrm>
            <a:off x="889254" y="6126099"/>
            <a:ext cx="3842290" cy="1584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来年抓手必须承接前页原因：行业选择、交付机制、复购运营、经营数据口径。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61416" y="6368796"/>
            <a:ext cx="3498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素材：年度财务月报 / CRM 商机与合同清单 / 交付 PMO 台账 / 客户成功复购台账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439656" y="6368796"/>
            <a:ext cx="125204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07-roadmap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725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经营复盘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37794"/>
            <a:ext cx="644271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证据表：经营结论必须对应来源、口径和缺口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02614"/>
            <a:ext cx="2187702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用于训练模型不要只写泛化判断。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1732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25905"/>
            <a:ext cx="5819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页面合同：年度总结必须同时写结果、差距、原因、证据口径和来年动作；缺数据时标缺口，不删问题。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70560" y="1889760"/>
            <a:ext cx="10576560" cy="573405"/>
            <a:chOff x="670560" y="1889760"/>
            <a:chExt cx="10576560" cy="573405"/>
          </a:xfrm>
        </p:grpSpPr>
        <p:sp>
          <p:nvSpPr>
            <p:cNvPr id="8" name="Rectangle 8"/>
            <p:cNvSpPr/>
            <p:nvPr/>
          </p:nvSpPr>
          <p:spPr>
            <a:xfrm>
              <a:off x="67056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3054" y="2018919"/>
              <a:ext cx="565880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已验证结论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543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45336" y="2238756"/>
              <a:ext cx="82478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收入、行业、效率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8328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2577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待补口径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815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58056" y="2238756"/>
              <a:ext cx="112722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毛利、复购、返工、续约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849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责任部门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087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70776" y="2238756"/>
              <a:ext cx="124820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财经/销售/交付/客成/运营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0872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5121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复盘频率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43594" y="2182749"/>
              <a:ext cx="421500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月度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83496" y="2238756"/>
              <a:ext cx="52235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进入经营会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70560" y="2682240"/>
            <a:ext cx="7757160" cy="2697480"/>
            <a:chOff x="670560" y="2682240"/>
            <a:chExt cx="7757160" cy="2697480"/>
          </a:xfrm>
        </p:grpSpPr>
        <p:sp>
          <p:nvSpPr>
            <p:cNvPr id="25" name="Rectangle 25"/>
            <p:cNvSpPr/>
            <p:nvPr/>
          </p:nvSpPr>
          <p:spPr>
            <a:xfrm>
              <a:off x="670560" y="2682240"/>
              <a:ext cx="7757160" cy="2697480"/>
            </a:xfrm>
            <a:prstGeom prst="roundRect">
              <a:avLst>
                <a:gd name="adj" fmla="val 4520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9254" y="290283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经营结论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21814" y="2902839"/>
              <a:ext cx="516734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证据/口径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18254" y="29028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解释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48934" y="29028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缺口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90054" y="2902839"/>
              <a:ext cx="363835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07720" y="3108960"/>
              <a:ext cx="7437120" cy="9525"/>
            </a:xfrm>
            <a:custGeom>
              <a:avLst/>
              <a:gdLst/>
              <a:ahLst/>
              <a:cxnLst/>
              <a:rect l="l" t="t" r="r" b="b"/>
              <a:pathLst>
                <a:path w="7437120" h="9525">
                  <a:moveTo>
                    <a:pt x="0" y="0"/>
                  </a:moveTo>
                  <a:lnTo>
                    <a:pt x="743712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0016" y="3244596"/>
              <a:ext cx="42153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收入达成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22576" y="3244596"/>
              <a:ext cx="4023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财务月报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19016" y="3244596"/>
              <a:ext cx="117043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全年目标完成但结构需分解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49696" y="3244596"/>
              <a:ext cx="74317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按行业收入/毛利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90816" y="32445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财经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07720" y="3489960"/>
              <a:ext cx="7437120" cy="9525"/>
            </a:xfrm>
            <a:custGeom>
              <a:avLst/>
              <a:gdLst/>
              <a:ahLst/>
              <a:cxnLst/>
              <a:rect l="l" t="t" r="r" b="b"/>
              <a:pathLst>
                <a:path w="7437120" h="9525">
                  <a:moveTo>
                    <a:pt x="0" y="0"/>
                  </a:moveTo>
                  <a:lnTo>
                    <a:pt x="743712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0016" y="362559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重点行业提升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22576" y="3625596"/>
              <a:ext cx="57995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CRM合同清单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19016" y="3625596"/>
              <a:ext cx="9784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标杆复制开始形成贡献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49696" y="3625596"/>
              <a:ext cx="83919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客户名单/区域对比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90816" y="36255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销售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07720" y="3870960"/>
              <a:ext cx="7437120" cy="9525"/>
            </a:xfrm>
            <a:custGeom>
              <a:avLst/>
              <a:gdLst/>
              <a:ahLst/>
              <a:cxnLst/>
              <a:rect l="l" t="t" r="r" b="b"/>
              <a:pathLst>
                <a:path w="7437120" h="9525">
                  <a:moveTo>
                    <a:pt x="0" y="0"/>
                  </a:moveTo>
                  <a:lnTo>
                    <a:pt x="743712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0016" y="400659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交付效率改善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322576" y="4006596"/>
              <a:ext cx="59916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PMO项目台账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19016" y="4006596"/>
              <a:ext cx="9784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联合评审压缩返工周期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49696" y="4006596"/>
              <a:ext cx="74317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平均周期/返工率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90816" y="40065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交付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07720" y="4251960"/>
              <a:ext cx="7437120" cy="9525"/>
            </a:xfrm>
            <a:custGeom>
              <a:avLst/>
              <a:gdLst/>
              <a:ahLst/>
              <a:cxnLst/>
              <a:rect l="l" t="t" r="r" b="b"/>
              <a:pathLst>
                <a:path w="7437120" h="9525">
                  <a:moveTo>
                    <a:pt x="0" y="0"/>
                  </a:moveTo>
                  <a:lnTo>
                    <a:pt x="743712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0016" y="438759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复购贡献待补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322576" y="4387596"/>
              <a:ext cx="59436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客户成功台账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319016" y="4387596"/>
              <a:ext cx="88239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老客户价值挖掘不足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49696" y="4387596"/>
              <a:ext cx="74317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复购率/续约金额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90816" y="43875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客成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807720" y="4632960"/>
              <a:ext cx="7437120" cy="9525"/>
            </a:xfrm>
            <a:custGeom>
              <a:avLst/>
              <a:gdLst/>
              <a:ahLst/>
              <a:cxnLst/>
              <a:rect l="l" t="t" r="r" b="b"/>
              <a:pathLst>
                <a:path w="7437120" h="9525">
                  <a:moveTo>
                    <a:pt x="0" y="0"/>
                  </a:moveTo>
                  <a:lnTo>
                    <a:pt x="743712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0016" y="476859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数据口径不一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322576" y="4768596"/>
              <a:ext cx="49834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经营会纪要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319016" y="4768596"/>
              <a:ext cx="88239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跨部门复盘无法闭环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949696" y="4768596"/>
              <a:ext cx="69037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统一字段和日期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90816" y="47685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运营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686800" y="2682240"/>
            <a:ext cx="2834640" cy="2697480"/>
            <a:chOff x="8686800" y="2682240"/>
            <a:chExt cx="2834640" cy="2697480"/>
          </a:xfrm>
        </p:grpSpPr>
        <p:sp>
          <p:nvSpPr>
            <p:cNvPr id="62" name="Rectangle 62"/>
            <p:cNvSpPr/>
            <p:nvPr/>
          </p:nvSpPr>
          <p:spPr>
            <a:xfrm>
              <a:off x="8686800" y="2682240"/>
              <a:ext cx="2834640" cy="2697480"/>
            </a:xfrm>
            <a:prstGeom prst="roundRect">
              <a:avLst>
                <a:gd name="adj" fmla="val 4520"/>
              </a:avLst>
            </a:prstGeom>
            <a:solidFill>
              <a:srgbClr val="FFF7ED"/>
            </a:solidFill>
            <a:ln w="9525">
              <a:solidFill>
                <a:srgbClr val="F59E0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854440" y="285750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证据链写法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854440" y="3276600"/>
              <a:ext cx="2484120" cy="27432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9525">
              <a:solidFill>
                <a:srgbClr val="F6C77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967216" y="3374136"/>
              <a:ext cx="28040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1 观点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501378" y="3380613"/>
              <a:ext cx="1218114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先写经营判断，不写名词标签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854440" y="3657600"/>
              <a:ext cx="2484120" cy="27432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9525">
              <a:solidFill>
                <a:srgbClr val="F6C77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967216" y="3755136"/>
              <a:ext cx="3056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2 证据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501378" y="3761613"/>
              <a:ext cx="1495349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每条结论绑定表格、截图或会议纪要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854440" y="4038600"/>
              <a:ext cx="2484120" cy="27432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9525">
              <a:solidFill>
                <a:srgbClr val="F6C77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967216" y="4136136"/>
              <a:ext cx="3056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3 解释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501378" y="4142613"/>
              <a:ext cx="1125703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说明数据为什么支撑该判断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854440" y="4419600"/>
              <a:ext cx="2484120" cy="27432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9525">
              <a:solidFill>
                <a:srgbClr val="F6C77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967216" y="4517136"/>
              <a:ext cx="3056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4 缺口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501378" y="4523613"/>
              <a:ext cx="1218114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缺数据时标待补口径和责任人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54440" y="4800600"/>
              <a:ext cx="2484120" cy="27432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9525">
              <a:solidFill>
                <a:srgbClr val="F6C77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967216" y="4898136"/>
              <a:ext cx="30560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45309"/>
                  </a:solidFill>
                  <a:latin typeface="Arial"/>
                  <a:ea typeface="PingFang SC"/>
                  <a:cs typeface="Arial"/>
                </a:rPr>
                <a:t>5 动作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501378" y="4904613"/>
              <a:ext cx="1125703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进入来年计划或月度经营会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670560" y="5562600"/>
            <a:ext cx="10850880" cy="792480"/>
            <a:chOff x="670560" y="5562600"/>
            <a:chExt cx="10850880" cy="792480"/>
          </a:xfrm>
        </p:grpSpPr>
        <p:sp>
          <p:nvSpPr>
            <p:cNvPr id="80" name="Rectangle 80"/>
            <p:cNvSpPr/>
            <p:nvPr/>
          </p:nvSpPr>
          <p:spPr>
            <a:xfrm>
              <a:off x="670560" y="5562600"/>
              <a:ext cx="2438400" cy="411480"/>
            </a:xfrm>
            <a:prstGeom prst="roundRect">
              <a:avLst>
                <a:gd name="adj" fmla="val 25926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97814" y="56460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数据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95578" y="5658993"/>
              <a:ext cx="1319767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按月/行业/区域补齐收入和毛利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95578" y="5826633"/>
              <a:ext cx="478822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财经负责人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3383280" y="5562600"/>
              <a:ext cx="2438400" cy="411480"/>
            </a:xfrm>
            <a:prstGeom prst="roundRect">
              <a:avLst>
                <a:gd name="adj" fmla="val 25926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510534" y="56460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客户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908298" y="5658993"/>
              <a:ext cx="1250458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输出 A/B/C 客户分层和续约池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3908298" y="5826633"/>
              <a:ext cx="38641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客户成功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096000" y="5562600"/>
              <a:ext cx="2438400" cy="411480"/>
            </a:xfrm>
            <a:prstGeom prst="roundRect">
              <a:avLst>
                <a:gd name="adj" fmla="val 25926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223254" y="56460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交付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621018" y="5658993"/>
              <a:ext cx="1033291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补平均周期和返工率趋势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621018" y="5826633"/>
              <a:ext cx="418754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交付 PMO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808720" y="5562600"/>
              <a:ext cx="2438400" cy="411480"/>
            </a:xfrm>
            <a:prstGeom prst="roundRect">
              <a:avLst>
                <a:gd name="adj" fmla="val 25926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935974" y="56460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经营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333738" y="5658993"/>
              <a:ext cx="1125703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统一收入、毛利、回款口径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333738" y="5826633"/>
              <a:ext cx="478822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运营负责人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70560" y="6096000"/>
              <a:ext cx="10850880" cy="259080"/>
            </a:xfrm>
            <a:prstGeom prst="roundRect">
              <a:avLst>
                <a:gd name="adj" fmla="val 41176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89254" y="6187059"/>
              <a:ext cx="5289371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证据表合同：每个经营结论必须有来源、解释、缺口和Owner；不能用“持续优化、加强管理”替代表格证据。</a:t>
              </a:r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661416" y="6368796"/>
            <a:ext cx="3498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素材：年度财务月报 / CRM 商机与合同清单 / 交付 PMO 台账 / 客户成功复购台账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9439656" y="6368796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08-evidence-table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725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经营复盘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37794"/>
            <a:ext cx="708119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行动闭环：把经营判断落到责任、指标和复盘节奏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02614"/>
            <a:ext cx="2619756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总结页不只写口号，要形成可追踪台账。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1732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25905"/>
            <a:ext cx="5819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页面合同：年度总结必须同时写结果、差距、原因、证据口径和来年动作；缺数据时标缺口，不删问题。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70560" y="1889760"/>
            <a:ext cx="10576560" cy="573405"/>
            <a:chOff x="670560" y="1889760"/>
            <a:chExt cx="10576560" cy="573405"/>
          </a:xfrm>
        </p:grpSpPr>
        <p:sp>
          <p:nvSpPr>
            <p:cNvPr id="8" name="Rectangle 8"/>
            <p:cNvSpPr/>
            <p:nvPr/>
          </p:nvSpPr>
          <p:spPr>
            <a:xfrm>
              <a:off x="67056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305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来年抓手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543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4376" y="2238756"/>
              <a:ext cx="991130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行业/交付/复购/口径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8328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2577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责任部门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1815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97096" y="2238756"/>
              <a:ext cx="52235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跨部门闭环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849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复盘节奏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0874" y="2182749"/>
              <a:ext cx="421500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月度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09816" y="2238756"/>
              <a:ext cx="52235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经营会跟踪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08720" y="1889760"/>
              <a:ext cx="2438400" cy="563880"/>
            </a:xfrm>
            <a:prstGeom prst="roundRect">
              <a:avLst>
                <a:gd name="adj" fmla="val 18919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51214" y="201891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风险缺口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43594" y="2182749"/>
              <a:ext cx="141325" cy="280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22536" y="2238756"/>
              <a:ext cx="72397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复购和毛利口径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70560" y="2667000"/>
            <a:ext cx="7772400" cy="2743200"/>
            <a:chOff x="670560" y="2667000"/>
            <a:chExt cx="7772400" cy="2743200"/>
          </a:xfrm>
        </p:grpSpPr>
        <p:sp>
          <p:nvSpPr>
            <p:cNvPr id="25" name="Rectangle 25"/>
            <p:cNvSpPr/>
            <p:nvPr/>
          </p:nvSpPr>
          <p:spPr>
            <a:xfrm>
              <a:off x="670560" y="2667000"/>
              <a:ext cx="7772400" cy="27432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9254" y="29028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事项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13254" y="2902839"/>
              <a:ext cx="347453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责任人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00094" y="290283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关键动作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09894" y="290283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检查标准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33894" y="29028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节奏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07720" y="3093720"/>
              <a:ext cx="7452360" cy="9525"/>
            </a:xfrm>
            <a:custGeom>
              <a:avLst/>
              <a:gdLst/>
              <a:ahLst/>
              <a:cxnLst/>
              <a:rect l="l" t="t" r="r" b="b"/>
              <a:pathLst>
                <a:path w="7452360" h="9525">
                  <a:moveTo>
                    <a:pt x="0" y="0"/>
                  </a:moveTo>
                  <a:lnTo>
                    <a:pt x="745236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0016" y="3229356"/>
              <a:ext cx="52235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行业打法包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14016" y="3229356"/>
              <a:ext cx="64716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市场+销售战区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00856" y="3229356"/>
              <a:ext cx="146806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2月底完成模板，覆盖3个重点行业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0656" y="3229356"/>
              <a:ext cx="88239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案例库可被区域复用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34656" y="322935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月度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07720" y="3474720"/>
              <a:ext cx="7452360" cy="9525"/>
            </a:xfrm>
            <a:custGeom>
              <a:avLst/>
              <a:gdLst/>
              <a:ahLst/>
              <a:cxnLst/>
              <a:rect l="l" t="t" r="r" b="b"/>
              <a:pathLst>
                <a:path w="7452360" h="9525">
                  <a:moveTo>
                    <a:pt x="0" y="0"/>
                  </a:moveTo>
                  <a:lnTo>
                    <a:pt x="745236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0016" y="361035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交付效率专项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14016" y="3610356"/>
              <a:ext cx="40713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交付PMO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00856" y="3610356"/>
              <a:ext cx="137205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建立周期看板，异常48小时升级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0656" y="3610356"/>
              <a:ext cx="88239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周期和返工率可追踪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34656" y="361035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双周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07720" y="3855720"/>
              <a:ext cx="7452360" cy="9525"/>
            </a:xfrm>
            <a:custGeom>
              <a:avLst/>
              <a:gdLst/>
              <a:ahLst/>
              <a:cxnLst/>
              <a:rect l="l" t="t" r="r" b="b"/>
              <a:pathLst>
                <a:path w="7452360" h="9525">
                  <a:moveTo>
                    <a:pt x="0" y="0"/>
                  </a:moveTo>
                  <a:lnTo>
                    <a:pt x="745236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0016" y="399135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复购运营台账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14016" y="3991356"/>
              <a:ext cx="49834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客户成功部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00856" y="3991356"/>
              <a:ext cx="1434465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完成A/B/C分层，季度复盘续约池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10656" y="3991356"/>
              <a:ext cx="9784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复购率和续约金额入表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34656" y="399135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季度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07720" y="4236720"/>
              <a:ext cx="7452360" cy="9525"/>
            </a:xfrm>
            <a:custGeom>
              <a:avLst/>
              <a:gdLst/>
              <a:ahLst/>
              <a:cxnLst/>
              <a:rect l="l" t="t" r="r" b="b"/>
              <a:pathLst>
                <a:path w="7452360" h="9525">
                  <a:moveTo>
                    <a:pt x="0" y="0"/>
                  </a:moveTo>
                  <a:lnTo>
                    <a:pt x="745236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0016" y="437235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经营数据口径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414016" y="4372356"/>
              <a:ext cx="4023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财务运营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800856" y="4372356"/>
              <a:ext cx="117043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统一收入、毛利、回款字段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10656" y="4372356"/>
              <a:ext cx="78638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月会引用同一张表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34656" y="437235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月度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807720" y="4617720"/>
              <a:ext cx="7452360" cy="9525"/>
            </a:xfrm>
            <a:custGeom>
              <a:avLst/>
              <a:gdLst/>
              <a:ahLst/>
              <a:cxnLst/>
              <a:rect l="l" t="t" r="r" b="b"/>
              <a:pathLst>
                <a:path w="7452360" h="9525">
                  <a:moveTo>
                    <a:pt x="0" y="0"/>
                  </a:moveTo>
                  <a:lnTo>
                    <a:pt x="745236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0016" y="4753356"/>
              <a:ext cx="6231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风险客户处理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414016" y="4753356"/>
              <a:ext cx="45514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客成+销售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800856" y="4753356"/>
              <a:ext cx="85359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TOP10风险客户挽回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10656" y="4753356"/>
              <a:ext cx="8967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Owner和截止日明确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34656" y="475335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周度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686800" y="2667000"/>
            <a:ext cx="2834640" cy="2758440"/>
            <a:chOff x="8686800" y="2667000"/>
            <a:chExt cx="2834640" cy="2758440"/>
          </a:xfrm>
        </p:grpSpPr>
        <p:sp>
          <p:nvSpPr>
            <p:cNvPr id="62" name="Rectangle 62"/>
            <p:cNvSpPr/>
            <p:nvPr/>
          </p:nvSpPr>
          <p:spPr>
            <a:xfrm>
              <a:off x="8686800" y="2667000"/>
              <a:ext cx="2834640" cy="2743200"/>
            </a:xfrm>
            <a:prstGeom prst="roundRect">
              <a:avLst>
                <a:gd name="adj" fmla="val 4444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854440" y="285750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复盘闭环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869680" y="3307080"/>
              <a:ext cx="2468880" cy="32004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B8D8F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996934" y="342861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输入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485376" y="3435096"/>
              <a:ext cx="128348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财务/CRM/PMO/客成四张表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869680" y="3749040"/>
              <a:ext cx="2468880" cy="32004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B8D8F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996934" y="387057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判断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85376" y="3877056"/>
              <a:ext cx="14296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收入质量、结构贡献、效率短板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869680" y="4191000"/>
              <a:ext cx="2468880" cy="32004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B8D8F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996934" y="43125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行动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85376" y="4319016"/>
              <a:ext cx="132885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打法包、效率专项、复购台账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869680" y="4632960"/>
              <a:ext cx="2468880" cy="32004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B8D8F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996934" y="475449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验证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485376" y="4760976"/>
              <a:ext cx="134397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下月经营会复盘指标和Owner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69680" y="5135880"/>
              <a:ext cx="2468880" cy="289560"/>
            </a:xfrm>
            <a:prstGeom prst="roundRect">
              <a:avLst>
                <a:gd name="adj" fmla="val 36842"/>
              </a:avLst>
            </a:prstGeom>
            <a:solidFill>
              <a:srgbClr val="F59E0B"/>
            </a:solidFill>
            <a:ln w="9525">
              <a:solidFill>
                <a:srgbClr val="F59E0B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012936" y="5248656"/>
              <a:ext cx="193372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禁止只写：持续推进、加强协同、重点关注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70560" y="5593080"/>
            <a:ext cx="10850880" cy="762000"/>
            <a:chOff x="670560" y="5593080"/>
            <a:chExt cx="10850880" cy="762000"/>
          </a:xfrm>
        </p:grpSpPr>
        <p:sp>
          <p:nvSpPr>
            <p:cNvPr id="79" name="Rectangle 79"/>
            <p:cNvSpPr/>
            <p:nvPr/>
          </p:nvSpPr>
          <p:spPr>
            <a:xfrm>
              <a:off x="670560" y="5593080"/>
              <a:ext cx="10850880" cy="381000"/>
            </a:xfrm>
            <a:prstGeom prst="roundRect">
              <a:avLst>
                <a:gd name="adj" fmla="val 32000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87730" y="5739765"/>
              <a:ext cx="66764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行动页收口：每项行动必须有责任人、交付物、检查标准和复盘节奏；缺指标时写“待补口径+Owner”，不能删掉风险。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70560" y="6096000"/>
              <a:ext cx="10850880" cy="259080"/>
            </a:xfrm>
            <a:prstGeom prst="roundRect">
              <a:avLst>
                <a:gd name="adj" fmla="val 41176"/>
              </a:avLst>
            </a:prstGeom>
            <a:solidFill>
              <a:srgbClr val="0F3B73"/>
            </a:solidFill>
            <a:ln w="9525">
              <a:solidFill>
                <a:srgbClr val="0F3B73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89254" y="6187059"/>
              <a:ext cx="3733076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FFFFFF"/>
                  </a:solidFill>
                  <a:latin typeface="Arial"/>
                  <a:ea typeface="PingFang SC"/>
                  <a:cs typeface="Arial"/>
                </a:rPr>
                <a:t>年度总结不是荣誉清单，最后必须形成来年经营台账，让下一次复盘可追踪。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661416" y="6368796"/>
            <a:ext cx="3498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素材：年度财务月报 / CRM 商机与合同清单 / 交付 PMO 台账 / 客户成功复购台账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439656" y="6368796"/>
            <a:ext cx="120883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09-actions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59130" y="85725"/>
            <a:ext cx="2725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经营复盘 / SVG-PPT 高密度示例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1604" y="637794"/>
            <a:ext cx="516575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8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附录：经营数据口径与待补素材清单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6844" y="1102614"/>
            <a:ext cx="2907792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334155"/>
                </a:solidFill>
                <a:latin typeface="Arial"/>
                <a:ea typeface="PingFang SC"/>
                <a:cs typeface="Arial"/>
              </a:rPr>
              <a:t>附录页用于说明真实生成时还需要哪些证据。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70560" y="1417320"/>
            <a:ext cx="10850880" cy="320040"/>
          </a:xfrm>
          <a:prstGeom prst="roundRect">
            <a:avLst>
              <a:gd name="adj" fmla="val 42857"/>
            </a:avLst>
          </a:prstGeom>
          <a:solidFill>
            <a:srgbClr val="EFF6FF"/>
          </a:solidFill>
          <a:ln w="9525">
            <a:solidFill>
              <a:srgbClr val="B8D8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2490" y="1525905"/>
            <a:ext cx="5819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页面合同：年度总结必须同时写结果、差距、原因、证据口径和来年动作；缺数据时标缺口，不删问题。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670560" y="1905000"/>
            <a:ext cx="10850880" cy="2712720"/>
            <a:chOff x="670560" y="1905000"/>
            <a:chExt cx="10850880" cy="2712720"/>
          </a:xfrm>
        </p:grpSpPr>
        <p:sp>
          <p:nvSpPr>
            <p:cNvPr id="8" name="Rectangle 8"/>
            <p:cNvSpPr/>
            <p:nvPr/>
          </p:nvSpPr>
          <p:spPr>
            <a:xfrm>
              <a:off x="670560" y="1905000"/>
              <a:ext cx="10850880" cy="271272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9525">
              <a:solidFill>
                <a:srgbClr val="D9E2E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9254" y="2140839"/>
              <a:ext cx="238239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素材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92374" y="2140839"/>
              <a:ext cx="62048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material_id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34534" y="214083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用于页面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12814" y="214083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关键字段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70214" y="214083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待补口径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36174" y="2140839"/>
              <a:ext cx="363835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Owner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07720" y="2286000"/>
              <a:ext cx="10546080" cy="9525"/>
            </a:xfrm>
            <a:custGeom>
              <a:avLst/>
              <a:gdLst/>
              <a:ahLst/>
              <a:cxnLst/>
              <a:rect l="l" t="t" r="r" b="b"/>
              <a:pathLst>
                <a:path w="10546080" h="9525">
                  <a:moveTo>
                    <a:pt x="0" y="0"/>
                  </a:moveTo>
                  <a:lnTo>
                    <a:pt x="1054608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9254" y="2460879"/>
              <a:ext cx="675094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年度财务月报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93136" y="2467356"/>
              <a:ext cx="120787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finance-monthly-report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35296" y="2467356"/>
              <a:ext cx="9003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04驾驶舱/08证据表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13576" y="2467356"/>
              <a:ext cx="132885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收入、毛利、回款、行业结构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70976" y="2467356"/>
              <a:ext cx="98104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按行业毛利/回款周期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36936" y="246735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财经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1540" y="2647950"/>
              <a:ext cx="169545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记录收入、毛利、回款、行业结构和月度波动。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07720" y="2773680"/>
              <a:ext cx="10546080" cy="9525"/>
            </a:xfrm>
            <a:custGeom>
              <a:avLst/>
              <a:gdLst/>
              <a:ahLst/>
              <a:cxnLst/>
              <a:rect l="l" t="t" r="r" b="b"/>
              <a:pathLst>
                <a:path w="10546080" h="9525">
                  <a:moveTo>
                    <a:pt x="0" y="0"/>
                  </a:moveTo>
                  <a:lnTo>
                    <a:pt x="1054608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89254" y="2948559"/>
              <a:ext cx="101911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CRM 商机与合同清单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93136" y="2955036"/>
              <a:ext cx="106673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crm-contract-ledger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35296" y="2955036"/>
              <a:ext cx="79958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04驾驶舱/05矩阵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13576" y="2955036"/>
              <a:ext cx="132885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客户、合同金额、区域、行业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70976" y="2955036"/>
              <a:ext cx="8802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客户名单/区域对比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36936" y="295503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销售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1540" y="3135630"/>
              <a:ext cx="193548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记录重点行业客户、合同金额、区域归属和复制线索。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07720" y="3261360"/>
              <a:ext cx="10546080" cy="9525"/>
            </a:xfrm>
            <a:custGeom>
              <a:avLst/>
              <a:gdLst/>
              <a:ahLst/>
              <a:cxnLst/>
              <a:rect l="l" t="t" r="r" b="b"/>
              <a:pathLst>
                <a:path w="10546080" h="9525">
                  <a:moveTo>
                    <a:pt x="0" y="0"/>
                  </a:moveTo>
                  <a:lnTo>
                    <a:pt x="1054608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9254" y="3436239"/>
              <a:ext cx="746083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交付 PMO 台账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93136" y="3442716"/>
              <a:ext cx="101633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delivery-pmo-ledger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35296" y="3442716"/>
              <a:ext cx="116755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04驾驶舱/06原因/07计划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13576" y="3442716"/>
              <a:ext cx="1127227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周期、返工率、验收节点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70976" y="3442716"/>
              <a:ext cx="98104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平均周期/返工率趋势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36936" y="3442716"/>
              <a:ext cx="22495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PMO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1540" y="3623310"/>
              <a:ext cx="1775460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记录项目周期、返工率、验收节点和交付责任人。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07720" y="3749040"/>
              <a:ext cx="10546080" cy="9525"/>
            </a:xfrm>
            <a:custGeom>
              <a:avLst/>
              <a:gdLst/>
              <a:ahLst/>
              <a:cxnLst/>
              <a:rect l="l" t="t" r="r" b="b"/>
              <a:pathLst>
                <a:path w="10546080" h="9525">
                  <a:moveTo>
                    <a:pt x="0" y="0"/>
                  </a:moveTo>
                  <a:lnTo>
                    <a:pt x="10546080" y="0"/>
                  </a:lnTo>
                </a:path>
              </a:pathLst>
            </a:custGeom>
            <a:noFill/>
            <a:ln w="7620">
              <a:solidFill>
                <a:srgbClr val="D9E2E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9254" y="3923919"/>
              <a:ext cx="893521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客户成功复购台账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93136" y="3930396"/>
              <a:ext cx="136413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64748B"/>
                  </a:solidFill>
                  <a:latin typeface="Arial"/>
                  <a:ea typeface="PingFang SC"/>
                  <a:cs typeface="Arial"/>
                </a:rPr>
                <a:t>customer-success-renewal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35296" y="3930396"/>
              <a:ext cx="126836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04驾驶舱/08证据表/09行动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13576" y="3930396"/>
              <a:ext cx="132885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分层、续约、复购、风险客户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70976" y="3930396"/>
              <a:ext cx="77942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B91C1C"/>
                  </a:solidFill>
                  <a:latin typeface="Arial"/>
                  <a:ea typeface="PingFang SC"/>
                  <a:cs typeface="Arial"/>
                </a:rPr>
                <a:t>复购率/续约金额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536936" y="3930396"/>
              <a:ext cx="2199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客成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1540" y="4110990"/>
              <a:ext cx="1963483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记录 A/B/C 客户分层、续约金额、复购率和风险客户。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70560" y="4815840"/>
            <a:ext cx="10576560" cy="605790"/>
            <a:chOff x="670560" y="4815840"/>
            <a:chExt cx="10576560" cy="605790"/>
          </a:xfrm>
        </p:grpSpPr>
        <p:sp>
          <p:nvSpPr>
            <p:cNvPr id="48" name="Rectangle 48"/>
            <p:cNvSpPr/>
            <p:nvPr/>
          </p:nvSpPr>
          <p:spPr>
            <a:xfrm>
              <a:off x="670560" y="4815840"/>
              <a:ext cx="2438400" cy="594360"/>
            </a:xfrm>
            <a:prstGeom prst="roundRect">
              <a:avLst>
                <a:gd name="adj" fmla="val 17949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7814" y="494499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读取顺序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9338" y="5140833"/>
              <a:ext cx="2465670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materials/index.md -&gt; 当前页引用素材 -&gt; 原始表格/截图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0100" y="5299710"/>
              <a:ext cx="687324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避免反复全盘检索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383280" y="4815840"/>
              <a:ext cx="2438400" cy="594360"/>
            </a:xfrm>
            <a:prstGeom prst="roundRect">
              <a:avLst>
                <a:gd name="adj" fmla="val 17949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510534" y="494499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入页方式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512058" y="5140833"/>
              <a:ext cx="1495349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先写经营判断，再把来源塞进证据槽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512820" y="5299710"/>
              <a:ext cx="771334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不要只在附录堆清单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096000" y="4815840"/>
              <a:ext cx="2438400" cy="594360"/>
            </a:xfrm>
            <a:prstGeom prst="roundRect">
              <a:avLst>
                <a:gd name="adj" fmla="val 17949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23254" y="494499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缺口标注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4778" y="5140833"/>
              <a:ext cx="1509211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缺数据写待补口径、Owner、截止日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5540" y="5299710"/>
              <a:ext cx="687324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不能删除不利信息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808720" y="4815840"/>
              <a:ext cx="2438400" cy="594360"/>
            </a:xfrm>
            <a:prstGeom prst="roundRect">
              <a:avLst>
                <a:gd name="adj" fmla="val 17949"/>
              </a:avLst>
            </a:prstGeom>
            <a:solidFill>
              <a:srgbClr val="EFF6FF"/>
            </a:solidFill>
            <a:ln w="9525">
              <a:solidFill>
                <a:srgbClr val="B8D8FF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935974" y="4944999"/>
              <a:ext cx="456667" cy="158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" b="1" dirty="0">
                  <a:solidFill>
                    <a:srgbClr val="2563EB"/>
                  </a:solidFill>
                  <a:latin typeface="Arial"/>
                  <a:ea typeface="PingFang SC"/>
                  <a:cs typeface="Arial"/>
                </a:rPr>
                <a:t>复盘追踪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37498" y="5140833"/>
              <a:ext cx="1033291" cy="134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" b="1" dirty="0">
                  <a:solidFill>
                    <a:srgbClr val="0F172A"/>
                  </a:solidFill>
                  <a:latin typeface="Arial"/>
                  <a:ea typeface="PingFang SC"/>
                  <a:cs typeface="Arial"/>
                </a:rPr>
                <a:t>同一字段进入月度经营会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38260" y="5299710"/>
              <a:ext cx="771334" cy="121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" b="1" dirty="0">
                  <a:solidFill>
                    <a:srgbClr val="334155"/>
                  </a:solidFill>
                  <a:latin typeface="Arial"/>
                  <a:ea typeface="PingFang SC"/>
                  <a:cs typeface="Arial"/>
                </a:rPr>
                <a:t>保证下次复盘可比较</a:t>
              </a:r>
            </a:p>
          </p:txBody>
        </p:sp>
      </p:grpSp>
      <p:sp>
        <p:nvSpPr>
          <p:cNvPr id="65" name="Rectangle 65"/>
          <p:cNvSpPr/>
          <p:nvPr/>
        </p:nvSpPr>
        <p:spPr>
          <a:xfrm>
            <a:off x="670560" y="5608320"/>
            <a:ext cx="10850880" cy="411480"/>
          </a:xfrm>
          <a:prstGeom prst="roundRect">
            <a:avLst>
              <a:gd name="adj" fmla="val 29630"/>
            </a:avLst>
          </a:prstGeom>
          <a:solidFill>
            <a:srgbClr val="FFF7ED"/>
          </a:solidFill>
          <a:ln w="9525">
            <a:solidFill>
              <a:srgbClr val="F59E0B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886968" y="5763768"/>
            <a:ext cx="830885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B45309"/>
                </a:solidFill>
                <a:latin typeface="Arial"/>
                <a:ea typeface="PingFang SC"/>
                <a:cs typeface="Arial"/>
              </a:rPr>
              <a:t>附录使用方式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970532" y="5776722"/>
            <a:ext cx="437308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b="1" dirty="0">
                <a:solidFill>
                  <a:srgbClr val="0F172A"/>
                </a:solidFill>
                <a:latin typeface="Arial"/>
                <a:ea typeface="PingFang SC"/>
                <a:cs typeface="Arial"/>
              </a:rPr>
              <a:t>附录不是素材坟场，而是告诉模型哪些页面引用哪些素材、缺什么口径、由谁补齐。</a:t>
            </a:r>
          </a:p>
        </p:txBody>
      </p:sp>
      <p:sp>
        <p:nvSpPr>
          <p:cNvPr id="68" name="Rectangle 68"/>
          <p:cNvSpPr/>
          <p:nvPr/>
        </p:nvSpPr>
        <p:spPr>
          <a:xfrm>
            <a:off x="670560" y="6126480"/>
            <a:ext cx="10850880" cy="213360"/>
          </a:xfrm>
          <a:prstGeom prst="roundRect">
            <a:avLst>
              <a:gd name="adj" fmla="val 50000"/>
            </a:avLst>
          </a:prstGeom>
          <a:solidFill>
            <a:srgbClr val="0F3B73"/>
          </a:solidFill>
          <a:ln w="9525">
            <a:solidFill>
              <a:srgbClr val="0F3B73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890778" y="6207633"/>
            <a:ext cx="7113971" cy="134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60" b="1" dirty="0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示例路径：materials/index.md -&gt; finance-monthly-report.xlsx -&gt; crm-contract-ledger.xlsx -&gt; delivery-pmo-ledger.xlsx -&gt; customer-success-renewal.xlsx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61416" y="6368796"/>
            <a:ext cx="3498723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素材：年度财务月报 / CRM 商机与合同清单 / 交付 PMO 台账 / 客户成功复购台账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439656" y="6368796"/>
            <a:ext cx="1237640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64748B"/>
                </a:solidFill>
                <a:latin typeface="Arial"/>
                <a:ea typeface="PingFang SC"/>
                <a:cs typeface="Arial"/>
              </a:rPr>
              <a:t>年度经营总结 / 10-appendix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