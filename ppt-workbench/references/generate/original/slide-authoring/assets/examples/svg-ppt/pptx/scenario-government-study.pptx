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0560" y="784860"/>
            <a:ext cx="20719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国企基层党组织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4652" y="1311402"/>
            <a:ext cx="7794460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将学习成果转化为岗位实践和责任闭环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7512" y="2023872"/>
            <a:ext cx="6411773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围绕精神实质、实践路径和落实机制，推动学习贯彻从“学过”走向“见效”。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281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学习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5830" y="46005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准确把握精神实质</a:t>
            </a:r>
          </a:p>
        </p:txBody>
      </p:sp>
      <p:sp>
        <p:nvSpPr>
          <p:cNvPr id="9" name="Rectangle 9"/>
          <p:cNvSpPr/>
          <p:nvPr/>
        </p:nvSpPr>
        <p:spPr>
          <a:xfrm>
            <a:off x="42672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5095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实践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7230" y="4600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联系岗位任务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486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0909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闭环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8630" y="4600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台账督导见效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5486400"/>
            <a:ext cx="10820400" cy="548640"/>
          </a:xfrm>
          <a:prstGeom prst="roundRect">
            <a:avLst>
              <a:gd name="adj" fmla="val 27778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0402" y="5706237"/>
            <a:ext cx="4626011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示例重点：这是一套多页 deck 的封面，不作为内容页结构复用。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6656" y="6444996"/>
            <a:ext cx="351792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01-cover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24438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8532266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学习目录：精神内涵、转化路径、落实机制和责任台账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8788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党政 deck 必须把学习和落实分层呈现。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209550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96340" y="232791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4436" y="227304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精神实质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9770" y="254698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政策原文、核心要求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1008" y="24185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学习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14400" y="299466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96340" y="322707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4436" y="317220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转化路径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9770" y="34461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岗位职责、问题清单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008" y="33177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实践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14400" y="389382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96340" y="412623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4436" y="407136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落实机制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9770" y="434530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查摆、整改、复盘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51008" y="42169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4400" y="479298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96340" y="5025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4436" y="497052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行动台账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69770" y="524446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责任、时限、检查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1008" y="51160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闭环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59473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02-agenda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47700" y="819150"/>
            <a:ext cx="553688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第一部分：准确把握精神实质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8274" y="1466469"/>
            <a:ext cx="353148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学习页要先引用要求，再落到本单位任务。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20574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45720">
            <a:solidFill>
              <a:srgbClr val="F8D98A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143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402080" y="323850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7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3604" y="4059174"/>
            <a:ext cx="204368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政策要求如何转化为岗位行动？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5890" y="4413885"/>
            <a:ext cx="13250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不能停留在口号和标语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355080" y="323850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回答方式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6604" y="4059174"/>
            <a:ext cx="20868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原文要求 + 岗位切口 + 责任机制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8890" y="4413885"/>
            <a:ext cx="6049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区分层级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656" y="6444996"/>
            <a:ext cx="394037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03-section-study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826578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学习重点：把政策要求拆成认知、行动和机制三层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750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党政页要区分政策原文和本单位行动。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171700"/>
            <a:ext cx="3200400" cy="2667000"/>
          </a:xfrm>
          <a:prstGeom prst="roundRect">
            <a:avLst>
              <a:gd name="adj" fmla="val 6286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7" name="Ellipse 7"/>
          <p:cNvSpPr/>
          <p:nvPr/>
        </p:nvSpPr>
        <p:spPr>
          <a:xfrm>
            <a:off x="838200" y="2369820"/>
            <a:ext cx="335280" cy="335280"/>
          </a:xfrm>
          <a:prstGeom prst="ellipse">
            <a:avLst/>
          </a:prstGeom>
          <a:solidFill>
            <a:srgbClr val="F8D98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65397" y="246888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2352" y="245821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精神实质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6686" y="2945511"/>
            <a:ext cx="1658112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原原本本学，统一思想认识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448" y="3348228"/>
            <a:ext cx="90129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抓住核心要求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448" y="360730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结合本单位职责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29640" y="4381500"/>
            <a:ext cx="1181100" cy="2590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4A843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116330" y="445960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认知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495800" y="2171700"/>
            <a:ext cx="3200400" cy="2667000"/>
          </a:xfrm>
          <a:prstGeom prst="roundRect">
            <a:avLst>
              <a:gd name="adj" fmla="val 6286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648200" y="2369820"/>
            <a:ext cx="335280" cy="335280"/>
          </a:xfrm>
          <a:prstGeom prst="ellipse">
            <a:avLst/>
          </a:prstGeom>
          <a:solidFill>
            <a:srgbClr val="F8D98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54394" y="246888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02352" y="245821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实践路径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26686" y="2945511"/>
            <a:ext cx="1658112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联系岗位学，找准工作切口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27448" y="3348228"/>
            <a:ext cx="64526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问题清单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7448" y="3607308"/>
            <a:ext cx="64526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整改台账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39640" y="4381500"/>
            <a:ext cx="1181100" cy="2590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4A84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926330" y="445960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行动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305800" y="2171700"/>
            <a:ext cx="3200400" cy="2667000"/>
          </a:xfrm>
          <a:prstGeom prst="roundRect">
            <a:avLst>
              <a:gd name="adj" fmla="val 6286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8458200" y="2369820"/>
            <a:ext cx="335280" cy="335280"/>
          </a:xfrm>
          <a:prstGeom prst="ellipse">
            <a:avLst/>
          </a:prstGeom>
          <a:solidFill>
            <a:srgbClr val="F8D98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564394" y="246888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12352" y="245821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落实机制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36686" y="294551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闭环跟踪学，确保见效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37448" y="3348228"/>
            <a:ext cx="115732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责任、督导、评价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37448" y="3607308"/>
            <a:ext cx="128534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挂牌督办未闭环事项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549640" y="4381500"/>
            <a:ext cx="1181100" cy="2590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4A843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736330" y="445960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6656" y="6444996"/>
            <a:ext cx="354672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02-policy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473734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转化逻辑：从精神内涵到岗位行动再到组织机制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19507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用层级结构避免只堆口号。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4114800" y="2171700"/>
            <a:ext cx="3962400" cy="853440"/>
          </a:xfrm>
          <a:prstGeom prst="roundRect">
            <a:avLst>
              <a:gd name="adj" fmla="val 16071"/>
            </a:avLst>
          </a:prstGeom>
          <a:solidFill>
            <a:srgbClr val="F8D98A"/>
          </a:solidFill>
          <a:ln w="9525">
            <a:solidFill>
              <a:srgbClr val="D4A84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370832" y="236677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组织机制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6166" y="2686431"/>
            <a:ext cx="1522095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支部月度跟踪和评价反馈</a:t>
            </a:r>
          </a:p>
        </p:txBody>
      </p:sp>
      <p:sp>
        <p:nvSpPr>
          <p:cNvPr id="9" name="Rectangle 9"/>
          <p:cNvSpPr/>
          <p:nvPr/>
        </p:nvSpPr>
        <p:spPr>
          <a:xfrm>
            <a:off x="3200400" y="3276600"/>
            <a:ext cx="5791200" cy="853440"/>
          </a:xfrm>
          <a:prstGeom prst="roundRect">
            <a:avLst>
              <a:gd name="adj" fmla="val 16071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56432" y="347167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岗位行动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61766" y="3791331"/>
            <a:ext cx="1522095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党员责任区牵引重点任务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286000" y="4381500"/>
            <a:ext cx="7620000" cy="853440"/>
          </a:xfrm>
          <a:prstGeom prst="roundRect">
            <a:avLst>
              <a:gd name="adj" fmla="val 16071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542032" y="457657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精神内涵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7366" y="4896231"/>
            <a:ext cx="125006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统一思想和行动方向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610600" y="24384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820912" y="267919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使用提示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7008" y="3127248"/>
            <a:ext cx="115732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层级要有递进关系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7008" y="341680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不把口号当证据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27008" y="370636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底层必须可执行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6656" y="6444996"/>
            <a:ext cx="364274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03-pyramid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落实机制：学习、查摆、整改、复盘形成闭环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19507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机制页必须有节点和产物。</a:t>
            </a:r>
          </a:p>
        </p:txBody>
      </p:sp>
      <p:sp>
        <p:nvSpPr>
          <p:cNvPr id="6" name="Line 6"/>
          <p:cNvSpPr/>
          <p:nvPr/>
        </p:nvSpPr>
        <p:spPr>
          <a:xfrm>
            <a:off x="1143000" y="35814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45720">
            <a:solidFill>
              <a:srgbClr val="D4A843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112520" y="3383280"/>
            <a:ext cx="396240" cy="396240"/>
          </a:xfrm>
          <a:prstGeom prst="ellipse">
            <a:avLst/>
          </a:prstGeom>
          <a:solidFill>
            <a:srgbClr val="F8D98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70197" y="352044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Rectangle 9"/>
          <p:cNvSpPr/>
          <p:nvPr/>
        </p:nvSpPr>
        <p:spPr>
          <a:xfrm>
            <a:off x="990600" y="21717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55954" y="237324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集中学习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1288" y="271576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统一政策理解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812" y="301828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领学 + 研讨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812" y="3231642"/>
            <a:ext cx="78863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形成学习纪要</a:t>
            </a:r>
          </a:p>
        </p:txBody>
      </p:sp>
      <p:sp>
        <p:nvSpPr>
          <p:cNvPr id="14" name="Ellipse 14"/>
          <p:cNvSpPr/>
          <p:nvPr/>
        </p:nvSpPr>
        <p:spPr>
          <a:xfrm>
            <a:off x="3665220" y="3383280"/>
            <a:ext cx="396240" cy="396240"/>
          </a:xfrm>
          <a:prstGeom prst="ellipse">
            <a:avLst/>
          </a:prstGeom>
          <a:solidFill>
            <a:srgbClr val="F8D98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8018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543300" y="41148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708654" y="431634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问题查摆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13988" y="4658868"/>
            <a:ext cx="92049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对照岗位找差距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15512" y="4961382"/>
            <a:ext cx="67661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列问题清单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15512" y="5174742"/>
            <a:ext cx="78863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明确责任主体</a:t>
            </a:r>
          </a:p>
        </p:txBody>
      </p:sp>
      <p:sp>
        <p:nvSpPr>
          <p:cNvPr id="21" name="Ellipse 21"/>
          <p:cNvSpPr/>
          <p:nvPr/>
        </p:nvSpPr>
        <p:spPr>
          <a:xfrm>
            <a:off x="6217920" y="3383280"/>
            <a:ext cx="396240" cy="396240"/>
          </a:xfrm>
          <a:prstGeom prst="ellipse">
            <a:avLst/>
          </a:prstGeom>
          <a:solidFill>
            <a:srgbClr val="F8D98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545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0" y="21717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261354" y="237324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整改落实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66688" y="2715768"/>
            <a:ext cx="92049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把问题转为任务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68212" y="3018282"/>
            <a:ext cx="112467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节点、标准、负责人</a:t>
            </a:r>
          </a:p>
        </p:txBody>
      </p:sp>
      <p:sp>
        <p:nvSpPr>
          <p:cNvPr id="27" name="Ellipse 27"/>
          <p:cNvSpPr/>
          <p:nvPr/>
        </p:nvSpPr>
        <p:spPr>
          <a:xfrm>
            <a:off x="8770620" y="3383280"/>
            <a:ext cx="396240" cy="396240"/>
          </a:xfrm>
          <a:prstGeom prst="ellipse">
            <a:avLst/>
          </a:prstGeom>
          <a:solidFill>
            <a:srgbClr val="F8D98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072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648700" y="41148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814054" y="431634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复盘评价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19388" y="465886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对未闭环事项督办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20912" y="4961382"/>
            <a:ext cx="56460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月度通报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20912" y="5174742"/>
            <a:ext cx="56460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评价反馈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6656" y="6444996"/>
            <a:ext cx="376755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04-mechanism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473734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支部行动台账：每项学习成果都要落到责任主体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3188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国企/政务汇报要体现责任、时限和检查方式。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57400"/>
            <a:ext cx="10820400" cy="3810000"/>
          </a:xfrm>
          <a:prstGeom prst="roundRect">
            <a:avLst>
              <a:gd name="adj" fmla="val 3600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5229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事项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67684" y="235229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责任/判断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82284" y="235229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关键动作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44684" y="235229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标签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4A84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3443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服务窗口优化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9208" y="2753868"/>
            <a:ext cx="66446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第一党小组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4570" y="2760345"/>
            <a:ext cx="20631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梳理群众高频问题；月底提交优化清单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6208" y="27538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服务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5374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4A84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0499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安全生产排查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69208" y="3424428"/>
            <a:ext cx="66446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第二党小组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4570" y="3430905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重点岗位风险复核；形成整改闭环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46208" y="342442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安全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24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4A843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07555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降本增效专项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69208" y="4094988"/>
            <a:ext cx="66446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第三党小组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84570" y="410146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梳理流程堵点；提出 3 项优化建议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46208" y="40949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经营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5948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4A84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74611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青年党员攻关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69208" y="476554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团青小组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84570" y="477202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参与重点项目；每月交流成果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46208" y="47655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队伍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99318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05-branch-actions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8020642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政策-行动对照表：每条要求都要有本单位落实动作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这是中国式党政学习页的核心证据结构。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19300"/>
            <a:ext cx="10820400" cy="3886200"/>
          </a:xfrm>
          <a:prstGeom prst="roundRect">
            <a:avLst>
              <a:gd name="adj" fmla="val 3529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21814"/>
            <a:ext cx="4810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证据项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3384" y="232181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来源/口径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9884" y="2321814"/>
            <a:ext cx="108596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必须补齐的信息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984" y="232181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类型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4A84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4967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提高政治站位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54908" y="2769108"/>
            <a:ext cx="119573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集中学习 + 专题研讨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32170" y="277558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形成学习纪要；党员撰写体会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60508" y="27691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学习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8422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4A84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5071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服务发展大局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54908" y="3470148"/>
            <a:ext cx="92049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党员责任区攻关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32170" y="3476625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围绕重点项目；每月复盘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508" y="34701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发展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852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4A843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15175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强化风险防控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54908" y="417118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安全生产排查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32170" y="417766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风险清单；整改闭环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60508" y="41711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安全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686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4A84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85279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改进工作作风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54908" y="487222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窗口服务优化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32170" y="487870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群众问题清单；满意度回访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60508" y="487222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作风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83956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08-policy-table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81201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闭环收口：用责任台账推动学习成果转化见效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750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总结页强调可检查、可复盘、可问责。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24100"/>
            <a:ext cx="2362200" cy="289560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7072" y="2602992"/>
            <a:ext cx="439826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建账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2406" y="309029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形成问题和任务双台账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3930" y="3522345"/>
            <a:ext cx="13250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来源、责任、时限清楚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406" y="465239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起点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467100" y="2324100"/>
            <a:ext cx="2362200" cy="289560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662172" y="2602992"/>
            <a:ext cx="439826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跟踪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67506" y="309029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月度支部会议滚动检查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69030" y="352234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更新状态和风险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67506" y="465239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过程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72200" y="2324100"/>
            <a:ext cx="2362200" cy="289560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67272" y="2602992"/>
            <a:ext cx="439826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督办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2606" y="3090291"/>
            <a:ext cx="125006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未闭环事项挂牌推进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74130" y="352234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明确升级路径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72606" y="465239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保障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877300" y="2324100"/>
            <a:ext cx="2362200" cy="289560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072372" y="2602992"/>
            <a:ext cx="439826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77706" y="309029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把有效做法沉淀为制度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79230" y="352234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- 纳入年度党建总结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7706" y="465239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81076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06-closed-loop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153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6679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党政学习 / appendix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5003825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附录：学习材料与落实台账清单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党政附录页用于沉淀引用来源和执行证据。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838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69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来源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4514" y="27313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政策原文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9848" y="3051048"/>
            <a:ext cx="119573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会议精神 / 文件摘录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372" y="3277362"/>
            <a:ext cx="80543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标明出处和日期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403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98514" y="27313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学习记录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3848" y="3051048"/>
            <a:ext cx="1086917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签到 / 照片 / 纪要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5372" y="3277362"/>
            <a:ext cx="46939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支部留档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69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台账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451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问题台账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848" y="4803648"/>
            <a:ext cx="119573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查摆问题 / 整改措施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1372" y="502996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责任人和时限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172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9525">
            <a:solidFill>
              <a:srgbClr val="D4A843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03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成果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9851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成果材料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3848" y="4803648"/>
            <a:ext cx="1086917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B1F1F"/>
                </a:solidFill>
                <a:latin typeface="Arial"/>
                <a:ea typeface="Microsoft YaHei"/>
                <a:cs typeface="Arial"/>
              </a:rPr>
              <a:t>案例 / 制度 / 通报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05372" y="502996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纳入年度总结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65234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F8D98A"/>
                </a:solidFill>
                <a:latin typeface="Arial"/>
                <a:ea typeface="Microsoft YaHei"/>
                <a:cs typeface="Arial"/>
              </a:rPr>
              <a:t>示例：党政学习 / 10-appendix / 来源：模拟业务素材，真实生成时需替换为用户证据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