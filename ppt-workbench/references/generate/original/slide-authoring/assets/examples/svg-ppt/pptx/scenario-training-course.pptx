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0560" y="784860"/>
            <a:ext cx="291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企业培训 / 一线管理者执行闭环训练营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4652" y="1311402"/>
            <a:ext cx="6887147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把日常管理做成可追踪的执行闭环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7512" y="2023872"/>
            <a:ext cx="5797296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从识别问题、拆解动作到复盘改进，帮助班组长完成一次真实闭环。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281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5830" y="4600575"/>
            <a:ext cx="13297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掌握 3 项能力</a:t>
            </a:r>
          </a:p>
        </p:txBody>
      </p:sp>
      <p:sp>
        <p:nvSpPr>
          <p:cNvPr id="9" name="Rectangle 9"/>
          <p:cNvSpPr/>
          <p:nvPr/>
        </p:nvSpPr>
        <p:spPr>
          <a:xfrm>
            <a:off x="42672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5095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7230" y="4600575"/>
            <a:ext cx="21593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问题卡-行动清单-复盘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486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0909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产出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8630" y="4600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课后真实演练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5486400"/>
            <a:ext cx="10820400" cy="54864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0402" y="5706237"/>
            <a:ext cx="4626011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示例重点：这是一套多页 deck 的封面，不作为内容页结构复用。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6656" y="6444996"/>
            <a:ext cx="351792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01-cover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24438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培训课程 / 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6768046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课程目录：目标、方法、案例、练习和迁移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0388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培训 deck 要把学习路径和产出物讲清楚。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209550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96340" y="232791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4436" y="227304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学习目标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9770" y="254698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三项执行闭环能力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1008" y="24185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14400" y="299466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96340" y="322707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4436" y="3172206"/>
            <a:ext cx="80054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方法 SOP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9770" y="3446145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问题卡、行动清单、复盘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008" y="33177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14400" y="389382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96340" y="412623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4436" y="407136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案例演练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9770" y="434530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真实管理问题拆解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51008" y="42169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练习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4400" y="479298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96340" y="5025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4436" y="497052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课后迁移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69770" y="524446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一周内完成闭环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1008" y="51160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迁移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59473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02-agenda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47700" y="819150"/>
            <a:ext cx="637698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第一部分：从知道概念到写出产物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8274" y="1466469"/>
            <a:ext cx="4267581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培训页要降低行动门槛，让学员知道下一步做什么。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20574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45720">
            <a:solidFill>
              <a:srgbClr val="F59E0B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143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402080" y="323850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7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学习问题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3604" y="4059174"/>
            <a:ext cx="189966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为什么知道概念但不会落地？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5890" y="441388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缺模板、缺检查点、缺复盘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355080" y="323850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回答方式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6604" y="4059174"/>
            <a:ext cx="167643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步骤 + 表单 + 案例 + 作业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8890" y="441388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每页都有产物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656" y="6444996"/>
            <a:ext cx="401238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03-section-method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培训课程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学习目标：完成从概念理解到行动输出的转化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培训页要写可观察的学习产出。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171700"/>
            <a:ext cx="3200400" cy="26670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838200" y="2369820"/>
            <a:ext cx="335280" cy="335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65397" y="246888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2352" y="245821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识别问题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6686" y="294551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把现象转成可描述问题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448" y="3348228"/>
            <a:ext cx="141335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对象、时间、影响范围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448" y="360730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区分现象和原因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29640" y="4381500"/>
            <a:ext cx="1181100" cy="2590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116330" y="445960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能力一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495800" y="2171700"/>
            <a:ext cx="3200400" cy="26670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648200" y="2369820"/>
            <a:ext cx="335280" cy="335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54394" y="246888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02352" y="245821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拆解动作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26686" y="294551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把目标拆到责任和节点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27448" y="3348228"/>
            <a:ext cx="64526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完成标准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7448" y="3607308"/>
            <a:ext cx="77327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风险和依赖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39640" y="4381500"/>
            <a:ext cx="1181100" cy="2590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926330" y="445960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能力二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305800" y="2171700"/>
            <a:ext cx="3200400" cy="26670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8458200" y="2369820"/>
            <a:ext cx="335280" cy="335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564394" y="246888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12352" y="245821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复盘改进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36686" y="294551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把结果沉淀为标准动作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37448" y="3348228"/>
            <a:ext cx="64526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偏差分析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37448" y="3607308"/>
            <a:ext cx="90129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有效动作复用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549640" y="4381500"/>
            <a:ext cx="1181100" cy="2590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736330" y="445960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能力三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6656" y="6444996"/>
            <a:ext cx="375795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02-objectives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培训课程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535667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方法步骤：从识别到执行再到复盘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7349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SOP 页用步骤、产物和检查点降低弱模型发挥空间。</a:t>
            </a:r>
          </a:p>
        </p:txBody>
      </p:sp>
      <p:sp>
        <p:nvSpPr>
          <p:cNvPr id="6" name="Line 6"/>
          <p:cNvSpPr/>
          <p:nvPr/>
        </p:nvSpPr>
        <p:spPr>
          <a:xfrm>
            <a:off x="1143000" y="35814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45720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112520" y="3383280"/>
            <a:ext cx="396240" cy="396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70197" y="352044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Rectangle 9"/>
          <p:cNvSpPr/>
          <p:nvPr/>
        </p:nvSpPr>
        <p:spPr>
          <a:xfrm>
            <a:off x="990600" y="21717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55954" y="237324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问题卡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1288" y="2715768"/>
            <a:ext cx="92049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写清问题和影响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812" y="3018282"/>
            <a:ext cx="67661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一句话描述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812" y="3231642"/>
            <a:ext cx="67661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列影响对象</a:t>
            </a:r>
          </a:p>
        </p:txBody>
      </p:sp>
      <p:sp>
        <p:nvSpPr>
          <p:cNvPr id="14" name="Ellipse 14"/>
          <p:cNvSpPr/>
          <p:nvPr/>
        </p:nvSpPr>
        <p:spPr>
          <a:xfrm>
            <a:off x="3665220" y="3383280"/>
            <a:ext cx="396240" cy="396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8018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543300" y="41148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708654" y="431634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行动清单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13988" y="4658868"/>
            <a:ext cx="92049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拆责任人和节点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15512" y="4961382"/>
            <a:ext cx="112467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每项动作有完成标准</a:t>
            </a:r>
          </a:p>
        </p:txBody>
      </p:sp>
      <p:sp>
        <p:nvSpPr>
          <p:cNvPr id="20" name="Ellipse 20"/>
          <p:cNvSpPr/>
          <p:nvPr/>
        </p:nvSpPr>
        <p:spPr>
          <a:xfrm>
            <a:off x="6217920" y="3383280"/>
            <a:ext cx="396240" cy="396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545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21717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261354" y="237324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风险标记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66688" y="271576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提前识别依赖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68212" y="3018282"/>
            <a:ext cx="112467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标出阻塞和升级路径</a:t>
            </a:r>
          </a:p>
        </p:txBody>
      </p:sp>
      <p:sp>
        <p:nvSpPr>
          <p:cNvPr id="26" name="Ellipse 26"/>
          <p:cNvSpPr/>
          <p:nvPr/>
        </p:nvSpPr>
        <p:spPr>
          <a:xfrm>
            <a:off x="8770620" y="3383280"/>
            <a:ext cx="396240" cy="396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9072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648700" y="41148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814054" y="431634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复盘模板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19388" y="465886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沉淀有效动作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20912" y="4961382"/>
            <a:ext cx="900646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下一轮直接复用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6656" y="6444996"/>
            <a:ext cx="343631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03-sop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培训课程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案例演练：班组交付延误如何拆成可执行闭环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案例页要保留场景、问题、动作、结果。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286000"/>
            <a:ext cx="3276600" cy="236220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0120" y="2613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背景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6310" y="297751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场景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2406" y="343319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班组连续两周交付延误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3930" y="386524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影响客户上线窗口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3930" y="412432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跨岗位协同不清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81500" y="2286000"/>
            <a:ext cx="3276600" cy="236220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655820" y="2613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处理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2010" y="297751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动作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8106" y="343319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建立日清单和风险升级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59630" y="386524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责任人到人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59630" y="4124325"/>
            <a:ext cx="8989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每日 17 点同步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77200" y="2286000"/>
            <a:ext cx="3276600" cy="236220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351520" y="2613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47710" y="297751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结果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53806" y="3433191"/>
            <a:ext cx="11140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延误事项逐步收敛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55330" y="386524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需补真实数据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55330" y="412432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沉淀排期模板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5800" y="5295900"/>
            <a:ext cx="10820400" cy="624840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29640" y="5554980"/>
            <a:ext cx="4231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示例重点：案例页必须有对象、动作、结果和待补证据。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48912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04-case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培训课程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6768046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课堂练习：用真实问题完成一张执行闭环表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9268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练习页给填写框架，不用只写“请讨论”。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57400"/>
            <a:ext cx="5181600" cy="144780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12114" y="22741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问题描述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6686" y="2617851"/>
            <a:ext cx="1154849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对象 / 时间 / 影响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8210" y="2935605"/>
            <a:ext cx="8329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□ 写 1 句话问题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8210" y="316420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□ 补充影响范围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48400" y="2057400"/>
            <a:ext cx="5181600" cy="144780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474714" y="22741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原因判断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79286" y="2617851"/>
            <a:ext cx="1154849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现象 / 原因 / 后果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0810" y="293560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□ 至少 2 条原因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80810" y="316420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□ 标出证据来源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3924300"/>
            <a:ext cx="5181600" cy="144780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12114" y="41410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行动拆解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6686" y="4484751"/>
            <a:ext cx="1290866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责任人 / 节点 / 标准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8210" y="480250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□ 不少于 3 项动作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8210" y="503110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□ 每项有完成标准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48400" y="3924300"/>
            <a:ext cx="5181600" cy="144780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74714" y="41410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复盘指标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9286" y="4484751"/>
            <a:ext cx="1154849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结果 / 偏差 / 改进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80810" y="4802505"/>
            <a:ext cx="10729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□ 选择 1 个量化指标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80810" y="503110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□ 写下一轮优化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77235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05-worksheet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培训课程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检查清单：一张执行闭环表必须包含四类信息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检查表页让弱模型学会做可填的培训材料。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19300"/>
            <a:ext cx="10820400" cy="38862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21814"/>
            <a:ext cx="4810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证据项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3384" y="232181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来源/口径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9884" y="2321814"/>
            <a:ext cx="108596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必须补齐的信息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984" y="232181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类型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49677"/>
            <a:ext cx="34819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54908" y="276910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对象、时间、影响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32170" y="277558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一句话描述；证据来源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60508" y="27691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8422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50717"/>
            <a:ext cx="34819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动作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54908" y="3470148"/>
            <a:ext cx="117652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责任人、节点、标准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32170" y="3476625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不少于 3 项动作；标出依赖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508" y="34701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852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151757"/>
            <a:ext cx="34819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54908" y="417118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阻塞、升级、预案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32170" y="417766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触发条件；升级路径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60508" y="41711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686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852797"/>
            <a:ext cx="34819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54908" y="487222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结果、偏差、改进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32170" y="487870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量化指标；下一轮标准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60508" y="487222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70514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08-checklist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81201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培训课程 / 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6415202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课后迁移：一周内完成一次真实管理闭环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培训总结页给作业、验收标准和反馈机制。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57400"/>
            <a:ext cx="10820400" cy="3810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5229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事项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67684" y="235229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责任/判断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82284" y="235229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关键动作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44684" y="235229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标签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34437"/>
            <a:ext cx="34819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选题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9208" y="275386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学员本人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4570" y="2760345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选择一个真实班组问题；周一前提交问题卡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6208" y="2753868"/>
            <a:ext cx="286497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Day1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5374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04997"/>
            <a:ext cx="34819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69208" y="3424428"/>
            <a:ext cx="68366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学员 + 主管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4570" y="343090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按行动清单推进；遇阻升级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46208" y="3424428"/>
            <a:ext cx="467959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Day2-5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24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075557"/>
            <a:ext cx="34819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69208" y="4094988"/>
            <a:ext cx="66446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培训组织者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84570" y="410146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收集模板和结果；给出改进建议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46208" y="4094988"/>
            <a:ext cx="32010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Day6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5948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746117"/>
            <a:ext cx="34819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沉淀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69208" y="4765548"/>
            <a:ext cx="66446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部门负责人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84570" y="477202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优秀案例进入 SOP；纳入月度分享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46208" y="4765548"/>
            <a:ext cx="32010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Day7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700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06-transfer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6679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培训课程 / appendix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4650981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附录：培训讲师准备材料清单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培训附录覆盖课前、课中、课后的交付物。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838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69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准备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4514" y="2731389"/>
            <a:ext cx="421500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9848" y="3051048"/>
            <a:ext cx="92049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学员问题收集表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372" y="3277362"/>
            <a:ext cx="91744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按部门和岗位分类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403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课堂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98514" y="2731389"/>
            <a:ext cx="421500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3848" y="3051048"/>
            <a:ext cx="93969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案例卡 / 练习表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5372" y="327736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分组讨论材料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69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作业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4514" y="4483989"/>
            <a:ext cx="421500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课后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848" y="480364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迁移任务模板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1372" y="502996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一周反馈机制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172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03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评估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98514" y="4483989"/>
            <a:ext cx="421500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评估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3848" y="4803648"/>
            <a:ext cx="119573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满意度 / 行动完成率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05372" y="502996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纳入培训复盘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65234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示例：培训课程 / 10-appendix / 来源：模拟业务素材，真实生成时需替换为用户证据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