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59130" y="85725"/>
            <a:ext cx="2977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6B7A90"/>
                </a:solidFill>
                <a:latin typeface="Arial"/>
                <a:ea typeface="Microsoft YaHei"/>
                <a:cs typeface="Arial"/>
              </a:rPr>
              <a:t>市级数据治理项目 / 阶段汇报 / SVG-PPT 高密度示例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1604" y="653034"/>
            <a:ext cx="7400430" cy="4632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80" b="1" dirty="0">
                <a:solidFill>
                  <a:srgbClr val="003D79"/>
                </a:solidFill>
                <a:latin typeface="Arial"/>
                <a:ea typeface="Microsoft YaHei"/>
                <a:cs typeface="Arial"/>
              </a:rPr>
              <a:t>里程碑：主流程按计划推进，验收准备进入关键窗口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6844" y="1117854"/>
            <a:ext cx="4074338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项目页用进度、证据和阻塞共同表达，不用泛泛写“正常推进”。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70560" y="1432560"/>
            <a:ext cx="10850880" cy="320040"/>
          </a:xfrm>
          <a:prstGeom prst="roundRect">
            <a:avLst>
              <a:gd name="adj" fmla="val 42857"/>
            </a:avLst>
          </a:prstGeom>
          <a:solidFill>
            <a:srgbClr val="EAF3FF"/>
          </a:solidFill>
          <a:ln w="9525">
            <a:solidFill>
              <a:srgbClr val="B8D8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72490" y="1541145"/>
            <a:ext cx="52084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03D79"/>
                </a:solidFill>
                <a:latin typeface="Arial"/>
                <a:ea typeface="Microsoft YaHei"/>
                <a:cs typeface="Arial"/>
              </a:rPr>
              <a:t>页面合同：观点 + 证据 + 解释 + 影响 + 行动/风险，所有正文页必须有责任人、时限或来源。</a:t>
            </a:r>
          </a:p>
        </p:txBody>
      </p:sp>
      <p:sp>
        <p:nvSpPr>
          <p:cNvPr id="8" name="Rectangle 8"/>
          <p:cNvSpPr/>
          <p:nvPr/>
        </p:nvSpPr>
        <p:spPr>
          <a:xfrm>
            <a:off x="670560" y="1828800"/>
            <a:ext cx="2286000" cy="82296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841248" y="2014728"/>
            <a:ext cx="562051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6B7A90"/>
                </a:solidFill>
                <a:latin typeface="Arial"/>
                <a:ea typeface="Microsoft YaHei"/>
                <a:cs typeface="Arial"/>
              </a:rPr>
              <a:t>总体进度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0580" y="2244090"/>
            <a:ext cx="46157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3D79"/>
                </a:solidFill>
                <a:latin typeface="Arial"/>
                <a:ea typeface="Microsoft YaHei"/>
                <a:cs typeface="Arial"/>
              </a:rPr>
              <a:t>82%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73174" y="2217039"/>
            <a:ext cx="643890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核心任务完成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783080" y="2423160"/>
            <a:ext cx="960120" cy="76200"/>
          </a:xfrm>
          <a:prstGeom prst="roundRect">
            <a:avLst>
              <a:gd name="adj" fmla="val 50000"/>
            </a:avLst>
          </a:prstGeom>
          <a:solidFill>
            <a:srgbClr val="D7DEE8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1783080" y="2423160"/>
            <a:ext cx="777240" cy="76200"/>
          </a:xfrm>
          <a:prstGeom prst="roundRect">
            <a:avLst>
              <a:gd name="adj" fmla="val 50000"/>
            </a:avLst>
          </a:prstGeom>
          <a:solidFill>
            <a:srgbClr val="2F80ED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3337560" y="1828800"/>
            <a:ext cx="2286000" cy="82296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3508248" y="2014728"/>
            <a:ext cx="427634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6B7A90"/>
                </a:solidFill>
                <a:latin typeface="Arial"/>
                <a:ea typeface="Microsoft YaHei"/>
                <a:cs typeface="Arial"/>
              </a:rPr>
              <a:t>主流程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97580" y="2244090"/>
            <a:ext cx="61279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3D79"/>
                </a:solidFill>
                <a:latin typeface="Arial"/>
                <a:ea typeface="Microsoft YaHei"/>
                <a:cs typeface="Arial"/>
              </a:rPr>
              <a:t>12/14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440174" y="2217039"/>
            <a:ext cx="643890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联调用例通过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450080" y="2423160"/>
            <a:ext cx="960120" cy="76200"/>
          </a:xfrm>
          <a:prstGeom prst="roundRect">
            <a:avLst>
              <a:gd name="adj" fmla="val 50000"/>
            </a:avLst>
          </a:prstGeom>
          <a:solidFill>
            <a:srgbClr val="D7DEE8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4450080" y="2423160"/>
            <a:ext cx="815340" cy="76200"/>
          </a:xfrm>
          <a:prstGeom prst="roundRect">
            <a:avLst>
              <a:gd name="adj" fmla="val 50000"/>
            </a:avLst>
          </a:prstGeom>
          <a:solidFill>
            <a:srgbClr val="2F80ED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6004560" y="1828800"/>
            <a:ext cx="2286000" cy="82296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175248" y="2014728"/>
            <a:ext cx="562051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6B7A90"/>
                </a:solidFill>
                <a:latin typeface="Arial"/>
                <a:ea typeface="Microsoft YaHei"/>
                <a:cs typeface="Arial"/>
              </a:rPr>
              <a:t>验收材料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164580" y="2244090"/>
            <a:ext cx="46157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3D79"/>
                </a:solidFill>
                <a:latin typeface="Arial"/>
                <a:ea typeface="Microsoft YaHei"/>
                <a:cs typeface="Arial"/>
              </a:rPr>
              <a:t>70%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107174" y="2217039"/>
            <a:ext cx="539877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附件待补齐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117080" y="2423160"/>
            <a:ext cx="960120" cy="76200"/>
          </a:xfrm>
          <a:prstGeom prst="roundRect">
            <a:avLst>
              <a:gd name="adj" fmla="val 50000"/>
            </a:avLst>
          </a:prstGeom>
          <a:solidFill>
            <a:srgbClr val="D7DEE8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7117080" y="2423160"/>
            <a:ext cx="662940" cy="76200"/>
          </a:xfrm>
          <a:prstGeom prst="roundRect">
            <a:avLst>
              <a:gd name="adj" fmla="val 50000"/>
            </a:avLst>
          </a:prstGeom>
          <a:solidFill>
            <a:srgbClr val="2F80ED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8671560" y="1828800"/>
            <a:ext cx="2286000" cy="82296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842248" y="2014728"/>
            <a:ext cx="69646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6B7A90"/>
                </a:solidFill>
                <a:latin typeface="Arial"/>
                <a:ea typeface="Microsoft YaHei"/>
                <a:cs typeface="Arial"/>
              </a:rPr>
              <a:t>问题关闭率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831580" y="2244090"/>
            <a:ext cx="46157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3D79"/>
                </a:solidFill>
                <a:latin typeface="Arial"/>
                <a:ea typeface="Microsoft YaHei"/>
                <a:cs typeface="Arial"/>
              </a:rPr>
              <a:t>78%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774174" y="2217039"/>
            <a:ext cx="643890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已关闭十一项</a:t>
            </a:r>
          </a:p>
        </p:txBody>
      </p:sp>
      <p:sp>
        <p:nvSpPr>
          <p:cNvPr id="30" name="Rectangle 30"/>
          <p:cNvSpPr/>
          <p:nvPr/>
        </p:nvSpPr>
        <p:spPr>
          <a:xfrm>
            <a:off x="9784080" y="2423160"/>
            <a:ext cx="960120" cy="76200"/>
          </a:xfrm>
          <a:prstGeom prst="roundRect">
            <a:avLst>
              <a:gd name="adj" fmla="val 50000"/>
            </a:avLst>
          </a:prstGeom>
          <a:solidFill>
            <a:srgbClr val="D7DEE8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9784080" y="2423160"/>
            <a:ext cx="739140" cy="76200"/>
          </a:xfrm>
          <a:prstGeom prst="roundRect">
            <a:avLst>
              <a:gd name="adj" fmla="val 50000"/>
            </a:avLst>
          </a:prstGeom>
          <a:solidFill>
            <a:srgbClr val="2F80ED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670560" y="2849880"/>
            <a:ext cx="3276600" cy="2499360"/>
          </a:xfrm>
          <a:prstGeom prst="roundRect">
            <a:avLst>
              <a:gd name="adj" fmla="val 5488"/>
            </a:avLst>
          </a:prstGeom>
          <a:solidFill>
            <a:srgbClr val="003D79"/>
          </a:solidFill>
          <a:ln w="9525">
            <a:solidFill>
              <a:srgbClr val="003D79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897636" y="3027426"/>
            <a:ext cx="1142467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领导先看结论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02208" y="3416808"/>
            <a:ext cx="2309470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EAF3FF"/>
                </a:solidFill>
                <a:latin typeface="Arial"/>
                <a:ea typeface="Microsoft YaHei"/>
                <a:cs typeface="Arial"/>
              </a:rPr>
              <a:t>总体可控：核心链路已进入验收准备。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02208" y="3691128"/>
            <a:ext cx="2712720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EAF3FF"/>
                </a:solidFill>
                <a:latin typeface="Arial"/>
                <a:ea typeface="Microsoft YaHei"/>
                <a:cs typeface="Arial"/>
              </a:rPr>
              <a:t>主要缺口：口径确认、驻场排期、截图证据。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02208" y="3965448"/>
            <a:ext cx="2175053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EAF3FF"/>
                </a:solidFill>
                <a:latin typeface="Arial"/>
                <a:ea typeface="Microsoft YaHei"/>
                <a:cs typeface="Arial"/>
              </a:rPr>
              <a:t>本周动作：两项红色风险必须升级。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02208" y="4239768"/>
            <a:ext cx="2363236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EAF3FF"/>
                </a:solidFill>
                <a:latin typeface="Arial"/>
                <a:ea typeface="Microsoft YaHei"/>
                <a:cs typeface="Arial"/>
              </a:rPr>
              <a:t>验收判断：6月14日前完成提交包复核。</a:t>
            </a:r>
          </a:p>
        </p:txBody>
      </p:sp>
      <p:sp>
        <p:nvSpPr>
          <p:cNvPr id="38" name="Rectangle 38"/>
          <p:cNvSpPr/>
          <p:nvPr/>
        </p:nvSpPr>
        <p:spPr>
          <a:xfrm>
            <a:off x="914400" y="4815840"/>
            <a:ext cx="2621280" cy="335280"/>
          </a:xfrm>
          <a:prstGeom prst="roundRect">
            <a:avLst>
              <a:gd name="adj" fmla="val 45455"/>
            </a:avLst>
          </a:prstGeom>
          <a:solidFill>
            <a:srgbClr val="F59E0B"/>
          </a:solidFill>
          <a:ln w="9525">
            <a:solidFill>
              <a:srgbClr val="F59E0B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1085850" y="4932045"/>
            <a:ext cx="209581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本页输出：进度 + 证据 + 风险 + 行动</a:t>
            </a:r>
          </a:p>
        </p:txBody>
      </p:sp>
      <p:sp>
        <p:nvSpPr>
          <p:cNvPr id="40" name="Rectangle 40"/>
          <p:cNvSpPr/>
          <p:nvPr/>
        </p:nvSpPr>
        <p:spPr>
          <a:xfrm>
            <a:off x="4206240" y="2849880"/>
            <a:ext cx="4450080" cy="24993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4372356" y="2996946"/>
            <a:ext cx="1327290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003D79"/>
                </a:solidFill>
                <a:latin typeface="Arial"/>
                <a:ea typeface="Microsoft YaHei"/>
                <a:cs typeface="Arial"/>
              </a:rPr>
              <a:t>验收倒排里程碑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455414" y="3360039"/>
            <a:ext cx="238239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2F80ED"/>
                </a:solidFill>
                <a:latin typeface="Arial"/>
                <a:ea typeface="Microsoft YaHei"/>
                <a:cs typeface="Arial"/>
              </a:rPr>
              <a:t>节点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476494" y="3360039"/>
            <a:ext cx="456667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2F80ED"/>
                </a:solidFill>
                <a:latin typeface="Arial"/>
                <a:ea typeface="Microsoft YaHei"/>
                <a:cs typeface="Arial"/>
              </a:rPr>
              <a:t>完成标准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924294" y="3360039"/>
            <a:ext cx="456667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2F80ED"/>
                </a:solidFill>
                <a:latin typeface="Arial"/>
                <a:ea typeface="Microsoft YaHei"/>
                <a:cs typeface="Arial"/>
              </a:rPr>
              <a:t>证据材料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219694" y="3360039"/>
            <a:ext cx="238239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2F80ED"/>
                </a:solidFill>
                <a:latin typeface="Arial"/>
                <a:ea typeface="Microsoft YaHei"/>
                <a:cs typeface="Arial"/>
              </a:rPr>
              <a:t>状态</a:t>
            </a:r>
          </a:p>
        </p:txBody>
      </p:sp>
      <p:sp>
        <p:nvSpPr>
          <p:cNvPr id="46" name="Line 46"/>
          <p:cNvSpPr/>
          <p:nvPr/>
        </p:nvSpPr>
        <p:spPr>
          <a:xfrm>
            <a:off x="4358640" y="3520440"/>
            <a:ext cx="4099560" cy="9525"/>
          </a:xfrm>
          <a:custGeom>
            <a:avLst/>
            <a:gdLst/>
            <a:ahLst/>
            <a:cxnLst/>
            <a:rect l="l" t="t" r="r" b="b"/>
            <a:pathLst>
              <a:path w="4099560" h="9525">
                <a:moveTo>
                  <a:pt x="0" y="0"/>
                </a:moveTo>
                <a:lnTo>
                  <a:pt x="4099560" y="0"/>
                </a:lnTo>
              </a:path>
            </a:pathLst>
          </a:custGeom>
          <a:noFill/>
          <a:ln w="7620">
            <a:solidFill>
              <a:srgbClr val="D7DEE8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4453890" y="3636645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03D79"/>
                </a:solidFill>
                <a:latin typeface="Arial"/>
                <a:ea typeface="Microsoft YaHei"/>
                <a:cs typeface="Arial"/>
              </a:rPr>
              <a:t>立项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476494" y="3649599"/>
            <a:ext cx="1062802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范围/责任矩阵已归档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924294" y="3649599"/>
            <a:ext cx="846715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会议纪要、RACI表</a:t>
            </a:r>
          </a:p>
        </p:txBody>
      </p:sp>
      <p:sp>
        <p:nvSpPr>
          <p:cNvPr id="50" name="Rectangle 50"/>
          <p:cNvSpPr/>
          <p:nvPr/>
        </p:nvSpPr>
        <p:spPr>
          <a:xfrm>
            <a:off x="8077200" y="3543300"/>
            <a:ext cx="899160" cy="25908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9525">
            <a:solidFill>
              <a:srgbClr val="15803D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8203692" y="3627882"/>
            <a:ext cx="138951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15803D"/>
                </a:solidFill>
                <a:latin typeface="Arial"/>
                <a:ea typeface="Microsoft YaHei"/>
                <a:cs typeface="Arial"/>
              </a:rPr>
              <a:t>绿</a:t>
            </a:r>
          </a:p>
        </p:txBody>
      </p:sp>
      <p:sp>
        <p:nvSpPr>
          <p:cNvPr id="52" name="Line 52"/>
          <p:cNvSpPr/>
          <p:nvPr/>
        </p:nvSpPr>
        <p:spPr>
          <a:xfrm>
            <a:off x="4358640" y="3886200"/>
            <a:ext cx="4099560" cy="9525"/>
          </a:xfrm>
          <a:custGeom>
            <a:avLst/>
            <a:gdLst/>
            <a:ahLst/>
            <a:cxnLst/>
            <a:rect l="l" t="t" r="r" b="b"/>
            <a:pathLst>
              <a:path w="4099560" h="9525">
                <a:moveTo>
                  <a:pt x="0" y="0"/>
                </a:moveTo>
                <a:lnTo>
                  <a:pt x="4099560" y="0"/>
                </a:lnTo>
              </a:path>
            </a:pathLst>
          </a:custGeom>
          <a:noFill/>
          <a:ln w="7620">
            <a:solidFill>
              <a:srgbClr val="D7DEE8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4453890" y="4002405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03D79"/>
                </a:solidFill>
                <a:latin typeface="Arial"/>
                <a:ea typeface="Microsoft YaHei"/>
                <a:cs typeface="Arial"/>
              </a:rPr>
              <a:t>联调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476494" y="4015359"/>
            <a:ext cx="877139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主流程 12/14 通过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924294" y="4015359"/>
            <a:ext cx="747903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联调清单、截图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077200" y="3909060"/>
            <a:ext cx="899160" cy="25908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9525">
            <a:solidFill>
              <a:srgbClr val="15803D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8203692" y="3993642"/>
            <a:ext cx="138951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15803D"/>
                </a:solidFill>
                <a:latin typeface="Arial"/>
                <a:ea typeface="Microsoft YaHei"/>
                <a:cs typeface="Arial"/>
              </a:rPr>
              <a:t>绿</a:t>
            </a:r>
          </a:p>
        </p:txBody>
      </p:sp>
      <p:sp>
        <p:nvSpPr>
          <p:cNvPr id="58" name="Line 58"/>
          <p:cNvSpPr/>
          <p:nvPr/>
        </p:nvSpPr>
        <p:spPr>
          <a:xfrm>
            <a:off x="4358640" y="4251960"/>
            <a:ext cx="4099560" cy="9525"/>
          </a:xfrm>
          <a:custGeom>
            <a:avLst/>
            <a:gdLst/>
            <a:ahLst/>
            <a:cxnLst/>
            <a:rect l="l" t="t" r="r" b="b"/>
            <a:pathLst>
              <a:path w="4099560" h="9525">
                <a:moveTo>
                  <a:pt x="0" y="0"/>
                </a:moveTo>
                <a:lnTo>
                  <a:pt x="4099560" y="0"/>
                </a:lnTo>
              </a:path>
            </a:pathLst>
          </a:custGeom>
          <a:noFill/>
          <a:ln w="7620">
            <a:solidFill>
              <a:srgbClr val="D7DEE8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4453890" y="4368165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03D79"/>
                </a:solidFill>
                <a:latin typeface="Arial"/>
                <a:ea typeface="Microsoft YaHei"/>
                <a:cs typeface="Arial"/>
              </a:rPr>
              <a:t>试点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476494" y="4381119"/>
            <a:ext cx="1024578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2家单位验收材料70%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924294" y="4381119"/>
            <a:ext cx="747903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材料包、签收表</a:t>
            </a:r>
          </a:p>
        </p:txBody>
      </p:sp>
      <p:sp>
        <p:nvSpPr>
          <p:cNvPr id="62" name="Rectangle 62"/>
          <p:cNvSpPr/>
          <p:nvPr/>
        </p:nvSpPr>
        <p:spPr>
          <a:xfrm>
            <a:off x="8077200" y="4274820"/>
            <a:ext cx="899160" cy="259080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 w="9525">
            <a:solidFill>
              <a:srgbClr val="B45309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8203692" y="4359402"/>
            <a:ext cx="138951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黄</a:t>
            </a:r>
          </a:p>
        </p:txBody>
      </p:sp>
      <p:sp>
        <p:nvSpPr>
          <p:cNvPr id="64" name="Line 64"/>
          <p:cNvSpPr/>
          <p:nvPr/>
        </p:nvSpPr>
        <p:spPr>
          <a:xfrm>
            <a:off x="4358640" y="4617720"/>
            <a:ext cx="4099560" cy="9525"/>
          </a:xfrm>
          <a:custGeom>
            <a:avLst/>
            <a:gdLst/>
            <a:ahLst/>
            <a:cxnLst/>
            <a:rect l="l" t="t" r="r" b="b"/>
            <a:pathLst>
              <a:path w="4099560" h="9525">
                <a:moveTo>
                  <a:pt x="0" y="0"/>
                </a:moveTo>
                <a:lnTo>
                  <a:pt x="4099560" y="0"/>
                </a:lnTo>
              </a:path>
            </a:pathLst>
          </a:custGeom>
          <a:noFill/>
          <a:ln w="7620">
            <a:solidFill>
              <a:srgbClr val="D7DEE8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4453890" y="4733925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03D79"/>
                </a:solidFill>
                <a:latin typeface="Arial"/>
                <a:ea typeface="Microsoft YaHei"/>
                <a:cs typeface="Arial"/>
              </a:rPr>
              <a:t>验收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476494" y="4746879"/>
            <a:ext cx="893521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月底提交总结材料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924294" y="4746879"/>
            <a:ext cx="851916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口径说明、排期表</a:t>
            </a:r>
          </a:p>
        </p:txBody>
      </p:sp>
      <p:sp>
        <p:nvSpPr>
          <p:cNvPr id="68" name="Rectangle 68"/>
          <p:cNvSpPr/>
          <p:nvPr/>
        </p:nvSpPr>
        <p:spPr>
          <a:xfrm>
            <a:off x="8077200" y="4640580"/>
            <a:ext cx="899160" cy="259080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9525">
            <a:solidFill>
              <a:srgbClr val="B91C1C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8203692" y="4725162"/>
            <a:ext cx="138951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红</a:t>
            </a:r>
          </a:p>
        </p:txBody>
      </p:sp>
      <p:sp>
        <p:nvSpPr>
          <p:cNvPr id="70" name="Rectangle 70"/>
          <p:cNvSpPr/>
          <p:nvPr/>
        </p:nvSpPr>
        <p:spPr>
          <a:xfrm>
            <a:off x="8915400" y="2849880"/>
            <a:ext cx="2606040" cy="24993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9111996" y="3027426"/>
            <a:ext cx="1327290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003D79"/>
                </a:solidFill>
                <a:latin typeface="Arial"/>
                <a:ea typeface="Microsoft YaHei"/>
                <a:cs typeface="Arial"/>
              </a:rPr>
              <a:t>进度趋势与阻塞</a:t>
            </a:r>
          </a:p>
        </p:txBody>
      </p:sp>
      <p:sp>
        <p:nvSpPr>
          <p:cNvPr id="72" name="Rectangle 72"/>
          <p:cNvSpPr/>
          <p:nvPr/>
        </p:nvSpPr>
        <p:spPr>
          <a:xfrm>
            <a:off x="9159240" y="4069080"/>
            <a:ext cx="228600" cy="487680"/>
          </a:xfrm>
          <a:prstGeom prst="roundRect">
            <a:avLst>
              <a:gd name="adj" fmla="val 26667"/>
            </a:avLst>
          </a:prstGeom>
          <a:solidFill>
            <a:srgbClr val="2F80ED"/>
          </a:solidFill>
          <a:ln>
            <a:noFill/>
          </a:ln>
        </p:spPr>
      </p:sp>
      <p:sp>
        <p:nvSpPr>
          <p:cNvPr id="73" name="TextBox 73"/>
          <p:cNvSpPr txBox="1"/>
          <p:nvPr/>
        </p:nvSpPr>
        <p:spPr>
          <a:xfrm>
            <a:off x="9121140" y="4705350"/>
            <a:ext cx="179060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" b="1" dirty="0">
                <a:solidFill>
                  <a:srgbClr val="6B7A90"/>
                </a:solidFill>
                <a:latin typeface="Arial"/>
                <a:ea typeface="Microsoft YaHei"/>
                <a:cs typeface="Arial"/>
              </a:rPr>
              <a:t>5/13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9144000" y="3897630"/>
            <a:ext cx="153857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" b="1" dirty="0">
                <a:solidFill>
                  <a:srgbClr val="003D79"/>
                </a:solidFill>
                <a:latin typeface="Arial"/>
                <a:ea typeface="Microsoft YaHei"/>
                <a:cs typeface="Arial"/>
              </a:rPr>
              <a:t>48%</a:t>
            </a:r>
          </a:p>
        </p:txBody>
      </p:sp>
      <p:sp>
        <p:nvSpPr>
          <p:cNvPr id="75" name="Rectangle 75"/>
          <p:cNvSpPr/>
          <p:nvPr/>
        </p:nvSpPr>
        <p:spPr>
          <a:xfrm>
            <a:off x="9570720" y="3962400"/>
            <a:ext cx="228600" cy="594360"/>
          </a:xfrm>
          <a:prstGeom prst="roundRect">
            <a:avLst>
              <a:gd name="adj" fmla="val 26667"/>
            </a:avLst>
          </a:prstGeom>
          <a:solidFill>
            <a:srgbClr val="2F80ED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9532620" y="4705350"/>
            <a:ext cx="200063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" b="1" dirty="0">
                <a:solidFill>
                  <a:srgbClr val="6B7A90"/>
                </a:solidFill>
                <a:latin typeface="Arial"/>
                <a:ea typeface="Microsoft YaHei"/>
                <a:cs typeface="Arial"/>
              </a:rPr>
              <a:t>5/20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9555480" y="3790950"/>
            <a:ext cx="153857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" b="1" dirty="0">
                <a:solidFill>
                  <a:srgbClr val="003D79"/>
                </a:solidFill>
                <a:latin typeface="Arial"/>
                <a:ea typeface="Microsoft YaHei"/>
                <a:cs typeface="Arial"/>
              </a:rPr>
              <a:t>58%</a:t>
            </a:r>
          </a:p>
        </p:txBody>
      </p:sp>
      <p:sp>
        <p:nvSpPr>
          <p:cNvPr id="78" name="Rectangle 78"/>
          <p:cNvSpPr/>
          <p:nvPr/>
        </p:nvSpPr>
        <p:spPr>
          <a:xfrm>
            <a:off x="9982200" y="3870960"/>
            <a:ext cx="228600" cy="685800"/>
          </a:xfrm>
          <a:prstGeom prst="roundRect">
            <a:avLst>
              <a:gd name="adj" fmla="val 26667"/>
            </a:avLst>
          </a:prstGeom>
          <a:solidFill>
            <a:srgbClr val="2F80ED"/>
          </a:solidFill>
          <a:ln>
            <a:noFill/>
          </a:ln>
        </p:spPr>
      </p:sp>
      <p:sp>
        <p:nvSpPr>
          <p:cNvPr id="79" name="TextBox 79"/>
          <p:cNvSpPr txBox="1"/>
          <p:nvPr/>
        </p:nvSpPr>
        <p:spPr>
          <a:xfrm>
            <a:off x="9944100" y="4705350"/>
            <a:ext cx="200063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" b="1" dirty="0">
                <a:solidFill>
                  <a:srgbClr val="6B7A90"/>
                </a:solidFill>
                <a:latin typeface="Arial"/>
                <a:ea typeface="Microsoft YaHei"/>
                <a:cs typeface="Arial"/>
              </a:rPr>
              <a:t>5/27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9966960" y="3699510"/>
            <a:ext cx="153857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" b="1" dirty="0">
                <a:solidFill>
                  <a:srgbClr val="003D79"/>
                </a:solidFill>
                <a:latin typeface="Arial"/>
                <a:ea typeface="Microsoft YaHei"/>
                <a:cs typeface="Arial"/>
              </a:rPr>
              <a:t>67%</a:t>
            </a:r>
          </a:p>
        </p:txBody>
      </p:sp>
      <p:sp>
        <p:nvSpPr>
          <p:cNvPr id="81" name="Rectangle 81"/>
          <p:cNvSpPr/>
          <p:nvPr/>
        </p:nvSpPr>
        <p:spPr>
          <a:xfrm>
            <a:off x="10393680" y="3779520"/>
            <a:ext cx="228600" cy="777240"/>
          </a:xfrm>
          <a:prstGeom prst="roundRect">
            <a:avLst>
              <a:gd name="adj" fmla="val 26667"/>
            </a:avLst>
          </a:prstGeom>
          <a:solidFill>
            <a:srgbClr val="2F80ED"/>
          </a:solidFill>
          <a:ln>
            <a:noFill/>
          </a:ln>
        </p:spPr>
      </p:sp>
      <p:sp>
        <p:nvSpPr>
          <p:cNvPr id="82" name="TextBox 82"/>
          <p:cNvSpPr txBox="1"/>
          <p:nvPr/>
        </p:nvSpPr>
        <p:spPr>
          <a:xfrm>
            <a:off x="10355580" y="4705350"/>
            <a:ext cx="200063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" b="1" dirty="0">
                <a:solidFill>
                  <a:srgbClr val="6B7A90"/>
                </a:solidFill>
                <a:latin typeface="Arial"/>
                <a:ea typeface="Microsoft YaHei"/>
                <a:cs typeface="Arial"/>
              </a:rPr>
              <a:t>6/03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0378440" y="3608070"/>
            <a:ext cx="153857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" b="1" dirty="0">
                <a:solidFill>
                  <a:srgbClr val="003D79"/>
                </a:solidFill>
                <a:latin typeface="Arial"/>
                <a:ea typeface="Microsoft YaHei"/>
                <a:cs typeface="Arial"/>
              </a:rPr>
              <a:t>76%</a:t>
            </a:r>
          </a:p>
        </p:txBody>
      </p:sp>
      <p:sp>
        <p:nvSpPr>
          <p:cNvPr id="84" name="Rectangle 84"/>
          <p:cNvSpPr/>
          <p:nvPr/>
        </p:nvSpPr>
        <p:spPr>
          <a:xfrm>
            <a:off x="10805160" y="3718560"/>
            <a:ext cx="228600" cy="838200"/>
          </a:xfrm>
          <a:prstGeom prst="roundRect">
            <a:avLst>
              <a:gd name="adj" fmla="val 26667"/>
            </a:avLst>
          </a:prstGeom>
          <a:solidFill>
            <a:srgbClr val="2F80ED"/>
          </a:solidFill>
          <a:ln>
            <a:noFill/>
          </a:ln>
        </p:spPr>
      </p:sp>
      <p:sp>
        <p:nvSpPr>
          <p:cNvPr id="85" name="TextBox 85"/>
          <p:cNvSpPr txBox="1"/>
          <p:nvPr/>
        </p:nvSpPr>
        <p:spPr>
          <a:xfrm>
            <a:off x="10767060" y="4705350"/>
            <a:ext cx="200063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" b="1" dirty="0">
                <a:solidFill>
                  <a:srgbClr val="6B7A90"/>
                </a:solidFill>
                <a:latin typeface="Arial"/>
                <a:ea typeface="Microsoft YaHei"/>
                <a:cs typeface="Arial"/>
              </a:rPr>
              <a:t>6/06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0789920" y="3547110"/>
            <a:ext cx="153857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" b="1" dirty="0">
                <a:solidFill>
                  <a:srgbClr val="003D79"/>
                </a:solidFill>
                <a:latin typeface="Arial"/>
                <a:ea typeface="Microsoft YaHei"/>
                <a:cs typeface="Arial"/>
              </a:rPr>
              <a:t>82%</a:t>
            </a:r>
          </a:p>
        </p:txBody>
      </p:sp>
      <p:sp>
        <p:nvSpPr>
          <p:cNvPr id="87" name="Rectangle 87"/>
          <p:cNvSpPr/>
          <p:nvPr/>
        </p:nvSpPr>
        <p:spPr>
          <a:xfrm>
            <a:off x="9159240" y="4953000"/>
            <a:ext cx="2118360" cy="259080"/>
          </a:xfrm>
          <a:prstGeom prst="roundRect">
            <a:avLst>
              <a:gd name="adj" fmla="val 41176"/>
            </a:avLst>
          </a:prstGeom>
          <a:solidFill>
            <a:srgbClr val="FEF2F2"/>
          </a:solidFill>
          <a:ln w="9525">
            <a:solidFill>
              <a:srgbClr val="B91C1C"/>
            </a:solidFill>
          </a:ln>
        </p:spPr>
      </p:sp>
      <p:sp>
        <p:nvSpPr>
          <p:cNvPr id="88" name="TextBox 88"/>
          <p:cNvSpPr txBox="1"/>
          <p:nvPr/>
        </p:nvSpPr>
        <p:spPr>
          <a:xfrm>
            <a:off x="9301734" y="5036439"/>
            <a:ext cx="1548803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红色阻塞：口径差异、驻场排期</a:t>
            </a:r>
          </a:p>
        </p:txBody>
      </p:sp>
      <p:sp>
        <p:nvSpPr>
          <p:cNvPr id="89" name="Rectangle 89"/>
          <p:cNvSpPr/>
          <p:nvPr/>
        </p:nvSpPr>
        <p:spPr>
          <a:xfrm>
            <a:off x="670560" y="5516880"/>
            <a:ext cx="2438400" cy="472440"/>
          </a:xfrm>
          <a:prstGeom prst="roundRect">
            <a:avLst>
              <a:gd name="adj" fmla="val 22581"/>
            </a:avLst>
          </a:prstGeom>
          <a:solidFill>
            <a:srgbClr val="EAF3FF"/>
          </a:solidFill>
          <a:ln w="9525">
            <a:solidFill>
              <a:srgbClr val="B8D8FF"/>
            </a:solidFill>
          </a:ln>
        </p:spPr>
      </p:sp>
      <p:sp>
        <p:nvSpPr>
          <p:cNvPr id="90" name="TextBox 90"/>
          <p:cNvSpPr txBox="1"/>
          <p:nvPr/>
        </p:nvSpPr>
        <p:spPr>
          <a:xfrm>
            <a:off x="797814" y="5630799"/>
            <a:ext cx="1002735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2F80ED"/>
                </a:solidFill>
                <a:latin typeface="Arial"/>
                <a:ea typeface="Microsoft YaHei"/>
                <a:cs typeface="Arial"/>
              </a:rPr>
              <a:t>来源｜项目周报台账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798576" y="5820156"/>
            <a:ext cx="132885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003D79"/>
                </a:solidFill>
                <a:latin typeface="Arial"/>
                <a:ea typeface="Microsoft YaHei"/>
                <a:cs typeface="Arial"/>
              </a:rPr>
              <a:t>完成率、主流程、问题关闭率</a:t>
            </a:r>
          </a:p>
        </p:txBody>
      </p:sp>
      <p:sp>
        <p:nvSpPr>
          <p:cNvPr id="92" name="Rectangle 92"/>
          <p:cNvSpPr/>
          <p:nvPr/>
        </p:nvSpPr>
        <p:spPr>
          <a:xfrm>
            <a:off x="3383280" y="5516880"/>
            <a:ext cx="2438400" cy="472440"/>
          </a:xfrm>
          <a:prstGeom prst="roundRect">
            <a:avLst>
              <a:gd name="adj" fmla="val 22581"/>
            </a:avLst>
          </a:prstGeom>
          <a:solidFill>
            <a:srgbClr val="EAF3FF"/>
          </a:solidFill>
          <a:ln w="9525">
            <a:solidFill>
              <a:srgbClr val="B8D8FF"/>
            </a:solidFill>
          </a:ln>
        </p:spPr>
      </p:sp>
      <p:sp>
        <p:nvSpPr>
          <p:cNvPr id="93" name="TextBox 93"/>
          <p:cNvSpPr txBox="1"/>
          <p:nvPr/>
        </p:nvSpPr>
        <p:spPr>
          <a:xfrm>
            <a:off x="3510534" y="5630799"/>
            <a:ext cx="1002735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2F80ED"/>
                </a:solidFill>
                <a:latin typeface="Arial"/>
                <a:ea typeface="Microsoft YaHei"/>
                <a:cs typeface="Arial"/>
              </a:rPr>
              <a:t>证据｜联调问题清单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3511296" y="5820156"/>
            <a:ext cx="1343974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003D79"/>
                </a:solidFill>
                <a:latin typeface="Arial"/>
                <a:ea typeface="Microsoft YaHei"/>
                <a:cs typeface="Arial"/>
              </a:rPr>
              <a:t>异常回流、关闭截图、Owner</a:t>
            </a:r>
          </a:p>
        </p:txBody>
      </p:sp>
      <p:sp>
        <p:nvSpPr>
          <p:cNvPr id="95" name="Rectangle 95"/>
          <p:cNvSpPr/>
          <p:nvPr/>
        </p:nvSpPr>
        <p:spPr>
          <a:xfrm>
            <a:off x="6096000" y="5516880"/>
            <a:ext cx="2438400" cy="472440"/>
          </a:xfrm>
          <a:prstGeom prst="roundRect">
            <a:avLst>
              <a:gd name="adj" fmla="val 22581"/>
            </a:avLst>
          </a:prstGeom>
          <a:solidFill>
            <a:srgbClr val="EAF3FF"/>
          </a:solidFill>
          <a:ln w="9525">
            <a:solidFill>
              <a:srgbClr val="B8D8FF"/>
            </a:solidFill>
          </a:ln>
        </p:spPr>
      </p:sp>
      <p:sp>
        <p:nvSpPr>
          <p:cNvPr id="96" name="TextBox 96"/>
          <p:cNvSpPr txBox="1"/>
          <p:nvPr/>
        </p:nvSpPr>
        <p:spPr>
          <a:xfrm>
            <a:off x="6223254" y="5630799"/>
            <a:ext cx="898982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2F80ED"/>
                </a:solidFill>
                <a:latin typeface="Arial"/>
                <a:ea typeface="Microsoft YaHei"/>
                <a:cs typeface="Arial"/>
              </a:rPr>
              <a:t>排期｜PMO排期表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6224016" y="5820156"/>
            <a:ext cx="1026414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003D79"/>
                </a:solidFill>
                <a:latin typeface="Arial"/>
                <a:ea typeface="Microsoft YaHei"/>
                <a:cs typeface="Arial"/>
              </a:rPr>
              <a:t>区县窗口、供应商冲突</a:t>
            </a:r>
          </a:p>
        </p:txBody>
      </p:sp>
      <p:sp>
        <p:nvSpPr>
          <p:cNvPr id="98" name="Rectangle 98"/>
          <p:cNvSpPr/>
          <p:nvPr/>
        </p:nvSpPr>
        <p:spPr>
          <a:xfrm>
            <a:off x="8808720" y="5516880"/>
            <a:ext cx="2438400" cy="472440"/>
          </a:xfrm>
          <a:prstGeom prst="roundRect">
            <a:avLst>
              <a:gd name="adj" fmla="val 22581"/>
            </a:avLst>
          </a:prstGeom>
          <a:solidFill>
            <a:srgbClr val="EAF3FF"/>
          </a:solidFill>
          <a:ln w="9525">
            <a:solidFill>
              <a:srgbClr val="B8D8FF"/>
            </a:solidFill>
          </a:ln>
        </p:spPr>
      </p:sp>
      <p:sp>
        <p:nvSpPr>
          <p:cNvPr id="99" name="TextBox 99"/>
          <p:cNvSpPr txBox="1"/>
          <p:nvPr/>
        </p:nvSpPr>
        <p:spPr>
          <a:xfrm>
            <a:off x="8935974" y="5630799"/>
            <a:ext cx="893521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2F80ED"/>
                </a:solidFill>
                <a:latin typeface="Arial"/>
                <a:ea typeface="Microsoft YaHei"/>
                <a:cs typeface="Arial"/>
              </a:rPr>
              <a:t>归档｜验收证据包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8936736" y="5820156"/>
            <a:ext cx="132885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003D79"/>
                </a:solidFill>
                <a:latin typeface="Arial"/>
                <a:ea typeface="Microsoft YaHei"/>
                <a:cs typeface="Arial"/>
              </a:rPr>
              <a:t>部署包、培训签到、会议纪要</a:t>
            </a:r>
          </a:p>
        </p:txBody>
      </p:sp>
      <p:sp>
        <p:nvSpPr>
          <p:cNvPr id="101" name="Rectangle 101"/>
          <p:cNvSpPr/>
          <p:nvPr/>
        </p:nvSpPr>
        <p:spPr>
          <a:xfrm>
            <a:off x="670560" y="6096000"/>
            <a:ext cx="10850880" cy="259080"/>
          </a:xfrm>
          <a:prstGeom prst="roundRect">
            <a:avLst>
              <a:gd name="adj" fmla="val 41176"/>
            </a:avLst>
          </a:prstGeom>
          <a:solidFill>
            <a:srgbClr val="003D79"/>
          </a:solidFill>
          <a:ln w="9525">
            <a:solidFill>
              <a:srgbClr val="003D79"/>
            </a:solidFill>
          </a:ln>
        </p:spPr>
      </p:sp>
      <p:sp>
        <p:nvSpPr>
          <p:cNvPr id="102" name="TextBox 102"/>
          <p:cNvSpPr txBox="1"/>
          <p:nvPr/>
        </p:nvSpPr>
        <p:spPr>
          <a:xfrm>
            <a:off x="889254" y="6187059"/>
            <a:ext cx="6184923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倒排判断：若 6月11日前未锁定口径和驻场排期，月底验收材料将无法一次性提交；本页不是时间轴装饰，而是验收可行性证明。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661416" y="6368796"/>
            <a:ext cx="316748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B7A90"/>
                </a:solidFill>
                <a:latin typeface="Arial"/>
                <a:ea typeface="Microsoft YaHei"/>
                <a:cs typeface="Arial"/>
              </a:rPr>
              <a:t>素材：项目周报台账 / 联调问题清单 / PMO 验收排期表 / 验收证据包目录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9439656" y="6368796"/>
            <a:ext cx="1232840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B7A90"/>
                </a:solidFill>
                <a:latin typeface="Arial"/>
                <a:ea typeface="Microsoft YaHei"/>
                <a:cs typeface="Arial"/>
              </a:rPr>
              <a:t>项目阶段汇报 / 04-timeline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59130" y="85725"/>
            <a:ext cx="2977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6B7A90"/>
                </a:solidFill>
                <a:latin typeface="Arial"/>
                <a:ea typeface="Microsoft YaHei"/>
                <a:cs typeface="Arial"/>
              </a:rPr>
              <a:t>市级数据治理项目 / 阶段汇报 / SVG-PPT 高密度示例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1604" y="653034"/>
            <a:ext cx="6761950" cy="4632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80" b="1" dirty="0">
                <a:solidFill>
                  <a:srgbClr val="003D79"/>
                </a:solidFill>
                <a:latin typeface="Arial"/>
                <a:ea typeface="Microsoft YaHei"/>
                <a:cs typeface="Arial"/>
              </a:rPr>
              <a:t>问题清单：每项阻塞都要有来源、影响和下一步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6844" y="1117854"/>
            <a:ext cx="2403729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真实项目汇报需要可追踪 issue log。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70560" y="1432560"/>
            <a:ext cx="10850880" cy="320040"/>
          </a:xfrm>
          <a:prstGeom prst="roundRect">
            <a:avLst>
              <a:gd name="adj" fmla="val 42857"/>
            </a:avLst>
          </a:prstGeom>
          <a:solidFill>
            <a:srgbClr val="EAF3FF"/>
          </a:solidFill>
          <a:ln w="9525">
            <a:solidFill>
              <a:srgbClr val="B8D8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72490" y="1541145"/>
            <a:ext cx="52084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03D79"/>
                </a:solidFill>
                <a:latin typeface="Arial"/>
                <a:ea typeface="Microsoft YaHei"/>
                <a:cs typeface="Arial"/>
              </a:rPr>
              <a:t>页面合同：观点 + 证据 + 解释 + 影响 + 行动/风险，所有正文页必须有责任人、时限或来源。</a:t>
            </a:r>
          </a:p>
        </p:txBody>
      </p:sp>
      <p:sp>
        <p:nvSpPr>
          <p:cNvPr id="8" name="Rectangle 8"/>
          <p:cNvSpPr/>
          <p:nvPr/>
        </p:nvSpPr>
        <p:spPr>
          <a:xfrm>
            <a:off x="670560" y="1859280"/>
            <a:ext cx="1661160" cy="62484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813054" y="2003679"/>
            <a:ext cx="456667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6B7A90"/>
                </a:solidFill>
                <a:latin typeface="Arial"/>
                <a:ea typeface="Microsoft YaHei"/>
                <a:cs typeface="Arial"/>
              </a:rPr>
              <a:t>红色阻塞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3910" y="2185035"/>
            <a:ext cx="1536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55776" y="2261616"/>
            <a:ext cx="421538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必须升级</a:t>
            </a:r>
          </a:p>
        </p:txBody>
      </p:sp>
      <p:sp>
        <p:nvSpPr>
          <p:cNvPr id="12" name="Rectangle 12"/>
          <p:cNvSpPr/>
          <p:nvPr/>
        </p:nvSpPr>
        <p:spPr>
          <a:xfrm>
            <a:off x="2529840" y="1859280"/>
            <a:ext cx="1661160" cy="62484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2672334" y="2003679"/>
            <a:ext cx="565880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6B7A90"/>
                </a:solidFill>
                <a:latin typeface="Arial"/>
                <a:ea typeface="Microsoft YaHei"/>
                <a:cs typeface="Arial"/>
              </a:rPr>
              <a:t>待关闭问题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63190" y="2185035"/>
            <a:ext cx="1536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15056" y="2261616"/>
            <a:ext cx="421538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日清跟踪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389120" y="1859280"/>
            <a:ext cx="1661160" cy="62484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4531614" y="2003679"/>
            <a:ext cx="456667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6B7A90"/>
                </a:solidFill>
                <a:latin typeface="Arial"/>
                <a:ea typeface="Microsoft YaHei"/>
                <a:cs typeface="Arial"/>
              </a:rPr>
              <a:t>需补证据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22470" y="2185035"/>
            <a:ext cx="1536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F80ED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74336" y="2261616"/>
            <a:ext cx="421538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入证据包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248400" y="1859280"/>
            <a:ext cx="1661160" cy="62484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390894" y="2003679"/>
            <a:ext cx="456667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6B7A90"/>
                </a:solidFill>
                <a:latin typeface="Arial"/>
                <a:ea typeface="Microsoft YaHei"/>
                <a:cs typeface="Arial"/>
              </a:rPr>
              <a:t>本周动作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381750" y="2185035"/>
            <a:ext cx="1536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803D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33616" y="2261616"/>
            <a:ext cx="421538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责任到人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458200" y="1859280"/>
            <a:ext cx="3063240" cy="624840"/>
          </a:xfrm>
          <a:prstGeom prst="roundRect">
            <a:avLst>
              <a:gd name="adj" fmla="val 17073"/>
            </a:avLst>
          </a:prstGeom>
          <a:solidFill>
            <a:srgbClr val="003D79"/>
          </a:solidFill>
          <a:ln w="9525">
            <a:solidFill>
              <a:srgbClr val="003D79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8660892" y="2012442"/>
            <a:ext cx="491795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EAF3FF"/>
                </a:solidFill>
                <a:latin typeface="Arial"/>
                <a:ea typeface="Microsoft YaHei"/>
                <a:cs typeface="Arial"/>
              </a:rPr>
              <a:t>本页结论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661654" y="2247519"/>
            <a:ext cx="2640940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问题不是罗列事项，而是推动跨部门闭环的证据台账。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70560" y="2667000"/>
            <a:ext cx="7391400" cy="2788920"/>
          </a:xfrm>
          <a:prstGeom prst="roundRect">
            <a:avLst>
              <a:gd name="adj" fmla="val 4372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874014" y="2902839"/>
            <a:ext cx="238239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2F80ED"/>
                </a:solidFill>
                <a:latin typeface="Arial"/>
                <a:ea typeface="Microsoft YaHei"/>
                <a:cs typeface="Arial"/>
              </a:rPr>
              <a:t>编号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92174" y="2902839"/>
            <a:ext cx="238239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2F80ED"/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550414" y="2902839"/>
            <a:ext cx="516734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2F80ED"/>
                </a:solidFill>
                <a:latin typeface="Arial"/>
                <a:ea typeface="Microsoft YaHei"/>
                <a:cs typeface="Arial"/>
              </a:rPr>
              <a:t>来源/证据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074414" y="2902839"/>
            <a:ext cx="238239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2F80ED"/>
                </a:solidFill>
                <a:latin typeface="Arial"/>
                <a:ea typeface="Microsoft YaHei"/>
                <a:cs typeface="Arial"/>
              </a:rPr>
              <a:t>影响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354574" y="2902839"/>
            <a:ext cx="363835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2F80ED"/>
                </a:solidFill>
                <a:latin typeface="Arial"/>
                <a:ea typeface="Microsoft YaHei"/>
                <a:cs typeface="Arial"/>
              </a:rPr>
              <a:t>Owner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177534" y="2902839"/>
            <a:ext cx="238239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2F80ED"/>
                </a:solidFill>
                <a:latin typeface="Arial"/>
                <a:ea typeface="Microsoft YaHei"/>
                <a:cs typeface="Arial"/>
              </a:rPr>
              <a:t>时限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893814" y="2902839"/>
            <a:ext cx="238239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2F80ED"/>
                </a:solidFill>
                <a:latin typeface="Arial"/>
                <a:ea typeface="Microsoft YaHei"/>
                <a:cs typeface="Arial"/>
              </a:rPr>
              <a:t>状态</a:t>
            </a:r>
          </a:p>
        </p:txBody>
      </p:sp>
      <p:sp>
        <p:nvSpPr>
          <p:cNvPr id="35" name="Line 35"/>
          <p:cNvSpPr/>
          <p:nvPr/>
        </p:nvSpPr>
        <p:spPr>
          <a:xfrm>
            <a:off x="807720" y="3093720"/>
            <a:ext cx="7071360" cy="9525"/>
          </a:xfrm>
          <a:custGeom>
            <a:avLst/>
            <a:gdLst/>
            <a:ahLst/>
            <a:cxnLst/>
            <a:rect l="l" t="t" r="r" b="b"/>
            <a:pathLst>
              <a:path w="7071360" h="9525">
                <a:moveTo>
                  <a:pt x="0" y="0"/>
                </a:moveTo>
                <a:lnTo>
                  <a:pt x="7071360" y="0"/>
                </a:lnTo>
              </a:path>
            </a:pathLst>
          </a:custGeom>
          <a:noFill/>
          <a:ln w="7620">
            <a:solidFill>
              <a:srgbClr val="D7DEE8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874776" y="3214116"/>
            <a:ext cx="103979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R1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92936" y="3214116"/>
            <a:ext cx="623164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指标口径差异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551176" y="3214116"/>
            <a:ext cx="69037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业务处室反馈单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075176" y="3214116"/>
            <a:ext cx="69037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验收材料一致性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355336" y="3214116"/>
            <a:ext cx="263119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业务A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178296" y="3214116"/>
            <a:ext cx="205511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6/10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894576" y="3214116"/>
            <a:ext cx="119101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红</a:t>
            </a:r>
          </a:p>
        </p:txBody>
      </p:sp>
      <p:sp>
        <p:nvSpPr>
          <p:cNvPr id="43" name="Line 43"/>
          <p:cNvSpPr/>
          <p:nvPr/>
        </p:nvSpPr>
        <p:spPr>
          <a:xfrm>
            <a:off x="807720" y="3444240"/>
            <a:ext cx="7071360" cy="9525"/>
          </a:xfrm>
          <a:custGeom>
            <a:avLst/>
            <a:gdLst/>
            <a:ahLst/>
            <a:cxnLst/>
            <a:rect l="l" t="t" r="r" b="b"/>
            <a:pathLst>
              <a:path w="7071360" h="9525">
                <a:moveTo>
                  <a:pt x="0" y="0"/>
                </a:moveTo>
                <a:lnTo>
                  <a:pt x="7071360" y="0"/>
                </a:lnTo>
              </a:path>
            </a:pathLst>
          </a:custGeom>
          <a:noFill/>
          <a:ln w="7620">
            <a:solidFill>
              <a:srgbClr val="D7DEE8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874776" y="3564636"/>
            <a:ext cx="12918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R2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92936" y="3564636"/>
            <a:ext cx="623164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驻场排期冲突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551176" y="3564636"/>
            <a:ext cx="503149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PMO排期表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075176" y="3564636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区县验收窗口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355336" y="3564636"/>
            <a:ext cx="296723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PMO B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178296" y="3564636"/>
            <a:ext cx="181508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6/11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894576" y="3564636"/>
            <a:ext cx="119101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红</a:t>
            </a:r>
          </a:p>
        </p:txBody>
      </p:sp>
      <p:sp>
        <p:nvSpPr>
          <p:cNvPr id="51" name="Line 51"/>
          <p:cNvSpPr/>
          <p:nvPr/>
        </p:nvSpPr>
        <p:spPr>
          <a:xfrm>
            <a:off x="807720" y="3794760"/>
            <a:ext cx="7071360" cy="9525"/>
          </a:xfrm>
          <a:custGeom>
            <a:avLst/>
            <a:gdLst/>
            <a:ahLst/>
            <a:cxnLst/>
            <a:rect l="l" t="t" r="r" b="b"/>
            <a:pathLst>
              <a:path w="7071360" h="9525">
                <a:moveTo>
                  <a:pt x="0" y="0"/>
                </a:moveTo>
                <a:lnTo>
                  <a:pt x="7071360" y="0"/>
                </a:lnTo>
              </a:path>
            </a:pathLst>
          </a:custGeom>
          <a:noFill/>
          <a:ln w="7620">
            <a:solidFill>
              <a:srgbClr val="D7DEE8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874776" y="3915156"/>
            <a:ext cx="103979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I3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392936" y="3915156"/>
            <a:ext cx="623164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异常回流失败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551176" y="3915156"/>
            <a:ext cx="656768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联调问题单#27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075176" y="3915156"/>
            <a:ext cx="498348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稳定性说明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355336" y="3915156"/>
            <a:ext cx="263119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技术C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178296" y="3915156"/>
            <a:ext cx="21031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每日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894576" y="3915156"/>
            <a:ext cx="119101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黄</a:t>
            </a:r>
          </a:p>
        </p:txBody>
      </p:sp>
      <p:sp>
        <p:nvSpPr>
          <p:cNvPr id="59" name="Line 59"/>
          <p:cNvSpPr/>
          <p:nvPr/>
        </p:nvSpPr>
        <p:spPr>
          <a:xfrm>
            <a:off x="807720" y="4145280"/>
            <a:ext cx="7071360" cy="9525"/>
          </a:xfrm>
          <a:custGeom>
            <a:avLst/>
            <a:gdLst/>
            <a:ahLst/>
            <a:cxnLst/>
            <a:rect l="l" t="t" r="r" b="b"/>
            <a:pathLst>
              <a:path w="7071360" h="9525">
                <a:moveTo>
                  <a:pt x="0" y="0"/>
                </a:moveTo>
                <a:lnTo>
                  <a:pt x="7071360" y="0"/>
                </a:lnTo>
              </a:path>
            </a:pathLst>
          </a:custGeom>
          <a:noFill/>
          <a:ln w="7620">
            <a:solidFill>
              <a:srgbClr val="D7DEE8"/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874776" y="4265676"/>
            <a:ext cx="103979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I4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392936" y="4265676"/>
            <a:ext cx="522351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培训未覆盖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551176" y="4265676"/>
            <a:ext cx="402336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运营计划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075176" y="4265676"/>
            <a:ext cx="498348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上线使用率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5355336" y="4265676"/>
            <a:ext cx="263119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运营D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178296" y="4265676"/>
            <a:ext cx="205511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6/13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6894576" y="4265676"/>
            <a:ext cx="119101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F80ED"/>
                </a:solidFill>
                <a:latin typeface="Arial"/>
                <a:ea typeface="Microsoft YaHei"/>
                <a:cs typeface="Arial"/>
              </a:rPr>
              <a:t>蓝</a:t>
            </a:r>
          </a:p>
        </p:txBody>
      </p:sp>
      <p:sp>
        <p:nvSpPr>
          <p:cNvPr id="67" name="Line 67"/>
          <p:cNvSpPr/>
          <p:nvPr/>
        </p:nvSpPr>
        <p:spPr>
          <a:xfrm>
            <a:off x="807720" y="4495800"/>
            <a:ext cx="7071360" cy="9525"/>
          </a:xfrm>
          <a:custGeom>
            <a:avLst/>
            <a:gdLst/>
            <a:ahLst/>
            <a:cxnLst/>
            <a:rect l="l" t="t" r="r" b="b"/>
            <a:pathLst>
              <a:path w="7071360" h="9525">
                <a:moveTo>
                  <a:pt x="0" y="0"/>
                </a:moveTo>
                <a:lnTo>
                  <a:pt x="7071360" y="0"/>
                </a:lnTo>
              </a:path>
            </a:pathLst>
          </a:custGeom>
          <a:noFill/>
          <a:ln w="7620">
            <a:solidFill>
              <a:srgbClr val="D7DEE8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874776" y="4616196"/>
            <a:ext cx="12918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E5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392936" y="4616196"/>
            <a:ext cx="623164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验收截图缺失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2551176" y="4616196"/>
            <a:ext cx="498348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证据包目录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4075176" y="4616196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提交包完整性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355336" y="4616196"/>
            <a:ext cx="263119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项目D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6178296" y="4616196"/>
            <a:ext cx="205511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6/14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6894576" y="4616196"/>
            <a:ext cx="119101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F80ED"/>
                </a:solidFill>
                <a:latin typeface="Arial"/>
                <a:ea typeface="Microsoft YaHei"/>
                <a:cs typeface="Arial"/>
              </a:rPr>
              <a:t>蓝</a:t>
            </a:r>
          </a:p>
        </p:txBody>
      </p:sp>
      <p:sp>
        <p:nvSpPr>
          <p:cNvPr id="75" name="Line 75"/>
          <p:cNvSpPr/>
          <p:nvPr/>
        </p:nvSpPr>
        <p:spPr>
          <a:xfrm>
            <a:off x="807720" y="4846320"/>
            <a:ext cx="7071360" cy="9525"/>
          </a:xfrm>
          <a:custGeom>
            <a:avLst/>
            <a:gdLst/>
            <a:ahLst/>
            <a:cxnLst/>
            <a:rect l="l" t="t" r="r" b="b"/>
            <a:pathLst>
              <a:path w="7071360" h="9525">
                <a:moveTo>
                  <a:pt x="0" y="0"/>
                </a:moveTo>
                <a:lnTo>
                  <a:pt x="7071360" y="0"/>
                </a:lnTo>
              </a:path>
            </a:pathLst>
          </a:custGeom>
          <a:noFill/>
          <a:ln w="7620">
            <a:solidFill>
              <a:srgbClr val="D7DEE8"/>
            </a:solidFill>
          </a:ln>
        </p:spPr>
      </p:sp>
      <p:sp>
        <p:nvSpPr>
          <p:cNvPr id="76" name="TextBox 76"/>
          <p:cNvSpPr txBox="1"/>
          <p:nvPr/>
        </p:nvSpPr>
        <p:spPr>
          <a:xfrm>
            <a:off x="874776" y="4966716"/>
            <a:ext cx="12918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A6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392936" y="4966716"/>
            <a:ext cx="623164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责任边界不清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2551176" y="4966716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会议纪要待补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4075176" y="4966716"/>
            <a:ext cx="498348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跨部门扯皮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5355336" y="4966716"/>
            <a:ext cx="296723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PMO B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6178296" y="4966716"/>
            <a:ext cx="205511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6/12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6894576" y="4966716"/>
            <a:ext cx="119101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黄</a:t>
            </a:r>
          </a:p>
        </p:txBody>
      </p:sp>
      <p:sp>
        <p:nvSpPr>
          <p:cNvPr id="83" name="Rectangle 83"/>
          <p:cNvSpPr/>
          <p:nvPr/>
        </p:nvSpPr>
        <p:spPr>
          <a:xfrm>
            <a:off x="8305800" y="2667000"/>
            <a:ext cx="3215640" cy="2788920"/>
          </a:xfrm>
          <a:prstGeom prst="roundRect">
            <a:avLst>
              <a:gd name="adj" fmla="val 4372"/>
            </a:avLst>
          </a:prstGeom>
          <a:solidFill>
            <a:srgbClr val="FFF7ED"/>
          </a:solidFill>
          <a:ln w="9525">
            <a:solidFill>
              <a:srgbClr val="F59E0B"/>
            </a:solidFill>
          </a:ln>
        </p:spPr>
      </p:sp>
      <p:sp>
        <p:nvSpPr>
          <p:cNvPr id="84" name="TextBox 84"/>
          <p:cNvSpPr txBox="1"/>
          <p:nvPr/>
        </p:nvSpPr>
        <p:spPr>
          <a:xfrm>
            <a:off x="8488680" y="2842260"/>
            <a:ext cx="13746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证据链与闭环动作</a:t>
            </a:r>
          </a:p>
        </p:txBody>
      </p:sp>
      <p:sp>
        <p:nvSpPr>
          <p:cNvPr id="85" name="Rectangle 85"/>
          <p:cNvSpPr/>
          <p:nvPr/>
        </p:nvSpPr>
        <p:spPr>
          <a:xfrm>
            <a:off x="8488680" y="3200400"/>
            <a:ext cx="2849880" cy="3810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F6C77A"/>
            </a:solidFill>
          </a:ln>
        </p:spPr>
      </p:sp>
      <p:sp>
        <p:nvSpPr>
          <p:cNvPr id="86" name="TextBox 86"/>
          <p:cNvSpPr txBox="1"/>
          <p:nvPr/>
        </p:nvSpPr>
        <p:spPr>
          <a:xfrm>
            <a:off x="8615934" y="3268599"/>
            <a:ext cx="303767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1 来源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9195816" y="3275076"/>
            <a:ext cx="173210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003D79"/>
                </a:solidFill>
                <a:latin typeface="Arial"/>
                <a:ea typeface="Microsoft YaHei"/>
                <a:cs typeface="Arial"/>
              </a:rPr>
              <a:t>问题单#27 / 业务反馈单 / PMO排期表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8617458" y="3433953"/>
            <a:ext cx="1310526" cy="1341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60" b="1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每项阻塞必须能追到文件或截图</a:t>
            </a:r>
          </a:p>
        </p:txBody>
      </p:sp>
      <p:sp>
        <p:nvSpPr>
          <p:cNvPr id="89" name="Rectangle 89"/>
          <p:cNvSpPr/>
          <p:nvPr/>
        </p:nvSpPr>
        <p:spPr>
          <a:xfrm>
            <a:off x="8488680" y="3718560"/>
            <a:ext cx="2849880" cy="3810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F6C77A"/>
            </a:solidFill>
          </a:ln>
        </p:spPr>
      </p:sp>
      <p:sp>
        <p:nvSpPr>
          <p:cNvPr id="90" name="TextBox 90"/>
          <p:cNvSpPr txBox="1"/>
          <p:nvPr/>
        </p:nvSpPr>
        <p:spPr>
          <a:xfrm>
            <a:off x="8615934" y="3786759"/>
            <a:ext cx="331071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2 判断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9195816" y="3793236"/>
            <a:ext cx="173210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003D79"/>
                </a:solidFill>
                <a:latin typeface="Arial"/>
                <a:ea typeface="Microsoft YaHei"/>
                <a:cs typeface="Arial"/>
              </a:rPr>
              <a:t>影响验收材料、驻场窗口、稳定性说明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8617458" y="3952113"/>
            <a:ext cx="1402937" cy="1341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60" b="1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写清为什么需要升级，不写泛风险</a:t>
            </a:r>
          </a:p>
        </p:txBody>
      </p:sp>
      <p:sp>
        <p:nvSpPr>
          <p:cNvPr id="93" name="Rectangle 93"/>
          <p:cNvSpPr/>
          <p:nvPr/>
        </p:nvSpPr>
        <p:spPr>
          <a:xfrm>
            <a:off x="8488680" y="4236720"/>
            <a:ext cx="2849880" cy="3810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F6C77A"/>
            </a:solidFill>
          </a:ln>
        </p:spPr>
      </p:sp>
      <p:sp>
        <p:nvSpPr>
          <p:cNvPr id="94" name="TextBox 94"/>
          <p:cNvSpPr txBox="1"/>
          <p:nvPr/>
        </p:nvSpPr>
        <p:spPr>
          <a:xfrm>
            <a:off x="8615934" y="4304919"/>
            <a:ext cx="331071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3 动作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9195816" y="4311396"/>
            <a:ext cx="1832915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003D79"/>
                </a:solidFill>
                <a:latin typeface="Arial"/>
                <a:ea typeface="Microsoft YaHei"/>
                <a:cs typeface="Arial"/>
              </a:rPr>
              <a:t>口径确认、排期协调、日清回归、补证据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8617458" y="4470273"/>
            <a:ext cx="1139564" cy="1341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60" b="1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动作必须绑定Owner和时限</a:t>
            </a:r>
          </a:p>
        </p:txBody>
      </p:sp>
      <p:sp>
        <p:nvSpPr>
          <p:cNvPr id="97" name="Rectangle 97"/>
          <p:cNvSpPr/>
          <p:nvPr/>
        </p:nvSpPr>
        <p:spPr>
          <a:xfrm>
            <a:off x="8488680" y="4754880"/>
            <a:ext cx="2849880" cy="3810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F6C77A"/>
            </a:solidFill>
          </a:ln>
        </p:spPr>
      </p:sp>
      <p:sp>
        <p:nvSpPr>
          <p:cNvPr id="98" name="TextBox 98"/>
          <p:cNvSpPr txBox="1"/>
          <p:nvPr/>
        </p:nvSpPr>
        <p:spPr>
          <a:xfrm>
            <a:off x="8615934" y="4823079"/>
            <a:ext cx="331071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4 验收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9195816" y="4829556"/>
            <a:ext cx="1933727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003D79"/>
                </a:solidFill>
                <a:latin typeface="Arial"/>
                <a:ea typeface="Microsoft YaHei"/>
                <a:cs typeface="Arial"/>
              </a:rPr>
              <a:t>关闭截图入库、口径说明签字、提交包复核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8617458" y="4988433"/>
            <a:ext cx="1134944" cy="1341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60" b="1" dirty="0">
                <a:solidFill>
                  <a:srgbClr val="243447"/>
                </a:solidFill>
                <a:latin typeface="Arial"/>
                <a:ea typeface="Microsoft YaHei"/>
                <a:cs typeface="Arial"/>
              </a:rPr>
              <a:t>用验收标准替代“持续跟进”</a:t>
            </a:r>
          </a:p>
        </p:txBody>
      </p:sp>
      <p:sp>
        <p:nvSpPr>
          <p:cNvPr id="101" name="Rectangle 101"/>
          <p:cNvSpPr/>
          <p:nvPr/>
        </p:nvSpPr>
        <p:spPr>
          <a:xfrm>
            <a:off x="670560" y="5608320"/>
            <a:ext cx="2438400" cy="396240"/>
          </a:xfrm>
          <a:prstGeom prst="roundRect">
            <a:avLst>
              <a:gd name="adj" fmla="val 26923"/>
            </a:avLst>
          </a:prstGeom>
          <a:solidFill>
            <a:srgbClr val="EAF3FF"/>
          </a:solidFill>
          <a:ln w="9525">
            <a:solidFill>
              <a:srgbClr val="B8D8FF"/>
            </a:solidFill>
          </a:ln>
        </p:spPr>
      </p:sp>
      <p:sp>
        <p:nvSpPr>
          <p:cNvPr id="102" name="Ellipse 102"/>
          <p:cNvSpPr/>
          <p:nvPr/>
        </p:nvSpPr>
        <p:spPr>
          <a:xfrm>
            <a:off x="800100" y="5684520"/>
            <a:ext cx="106680" cy="106680"/>
          </a:xfrm>
          <a:prstGeom prst="ellipse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103" name="TextBox 103"/>
          <p:cNvSpPr txBox="1"/>
          <p:nvPr/>
        </p:nvSpPr>
        <p:spPr>
          <a:xfrm>
            <a:off x="965454" y="5691759"/>
            <a:ext cx="456667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红色阻塞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1712976" y="5698236"/>
            <a:ext cx="577798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F80ED"/>
                </a:solidFill>
                <a:latin typeface="Arial"/>
                <a:ea typeface="Microsoft YaHei"/>
                <a:cs typeface="Arial"/>
              </a:rPr>
              <a:t>业务A｜周三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798576" y="5850636"/>
            <a:ext cx="1026414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003D79"/>
                </a:solidFill>
                <a:latin typeface="Arial"/>
                <a:ea typeface="Microsoft YaHei"/>
                <a:cs typeface="Arial"/>
              </a:rPr>
              <a:t>三类指标口径说明签字</a:t>
            </a:r>
          </a:p>
        </p:txBody>
      </p:sp>
      <p:sp>
        <p:nvSpPr>
          <p:cNvPr id="106" name="Rectangle 106"/>
          <p:cNvSpPr/>
          <p:nvPr/>
        </p:nvSpPr>
        <p:spPr>
          <a:xfrm>
            <a:off x="3383280" y="5608320"/>
            <a:ext cx="2438400" cy="396240"/>
          </a:xfrm>
          <a:prstGeom prst="roundRect">
            <a:avLst>
              <a:gd name="adj" fmla="val 26923"/>
            </a:avLst>
          </a:prstGeom>
          <a:solidFill>
            <a:srgbClr val="EAF3FF"/>
          </a:solidFill>
          <a:ln w="9525">
            <a:solidFill>
              <a:srgbClr val="B8D8FF"/>
            </a:solidFill>
          </a:ln>
        </p:spPr>
      </p:sp>
      <p:sp>
        <p:nvSpPr>
          <p:cNvPr id="107" name="Ellipse 107"/>
          <p:cNvSpPr/>
          <p:nvPr/>
        </p:nvSpPr>
        <p:spPr>
          <a:xfrm>
            <a:off x="3512820" y="5684520"/>
            <a:ext cx="106680" cy="106680"/>
          </a:xfrm>
          <a:prstGeom prst="ellipse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108" name="TextBox 108"/>
          <p:cNvSpPr txBox="1"/>
          <p:nvPr/>
        </p:nvSpPr>
        <p:spPr>
          <a:xfrm>
            <a:off x="3678174" y="5691759"/>
            <a:ext cx="456667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红色阻塞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4425696" y="5698236"/>
            <a:ext cx="61308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F80ED"/>
                </a:solidFill>
                <a:latin typeface="Arial"/>
                <a:ea typeface="Microsoft YaHei"/>
                <a:cs typeface="Arial"/>
              </a:rPr>
              <a:t>PMO B｜周四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3511296" y="5850636"/>
            <a:ext cx="824789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003D79"/>
                </a:solidFill>
                <a:latin typeface="Arial"/>
                <a:ea typeface="Microsoft YaHei"/>
                <a:cs typeface="Arial"/>
              </a:rPr>
              <a:t>区县驻场排期锁定</a:t>
            </a:r>
          </a:p>
        </p:txBody>
      </p:sp>
      <p:sp>
        <p:nvSpPr>
          <p:cNvPr id="111" name="Rectangle 111"/>
          <p:cNvSpPr/>
          <p:nvPr/>
        </p:nvSpPr>
        <p:spPr>
          <a:xfrm>
            <a:off x="6096000" y="5608320"/>
            <a:ext cx="2438400" cy="396240"/>
          </a:xfrm>
          <a:prstGeom prst="roundRect">
            <a:avLst>
              <a:gd name="adj" fmla="val 26923"/>
            </a:avLst>
          </a:prstGeom>
          <a:solidFill>
            <a:srgbClr val="EAF3FF"/>
          </a:solidFill>
          <a:ln w="9525">
            <a:solidFill>
              <a:srgbClr val="B8D8FF"/>
            </a:solidFill>
          </a:ln>
        </p:spPr>
      </p:sp>
      <p:sp>
        <p:nvSpPr>
          <p:cNvPr id="112" name="Ellipse 112"/>
          <p:cNvSpPr/>
          <p:nvPr/>
        </p:nvSpPr>
        <p:spPr>
          <a:xfrm>
            <a:off x="6225540" y="5684520"/>
            <a:ext cx="106680" cy="106680"/>
          </a:xfrm>
          <a:prstGeom prst="ellipse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13" name="TextBox 113"/>
          <p:cNvSpPr txBox="1"/>
          <p:nvPr/>
        </p:nvSpPr>
        <p:spPr>
          <a:xfrm>
            <a:off x="6390894" y="5691759"/>
            <a:ext cx="456667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黄色跟踪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7138416" y="5698236"/>
            <a:ext cx="577798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F80ED"/>
                </a:solidFill>
                <a:latin typeface="Arial"/>
                <a:ea typeface="Microsoft YaHei"/>
                <a:cs typeface="Arial"/>
              </a:rPr>
              <a:t>技术C｜日清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6224016" y="5850636"/>
            <a:ext cx="809667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003D79"/>
                </a:solidFill>
                <a:latin typeface="Arial"/>
                <a:ea typeface="Microsoft YaHei"/>
                <a:cs typeface="Arial"/>
              </a:rPr>
              <a:t>18点截图入证据包</a:t>
            </a:r>
          </a:p>
        </p:txBody>
      </p:sp>
      <p:sp>
        <p:nvSpPr>
          <p:cNvPr id="116" name="Rectangle 116"/>
          <p:cNvSpPr/>
          <p:nvPr/>
        </p:nvSpPr>
        <p:spPr>
          <a:xfrm>
            <a:off x="8808720" y="5608320"/>
            <a:ext cx="2438400" cy="396240"/>
          </a:xfrm>
          <a:prstGeom prst="roundRect">
            <a:avLst>
              <a:gd name="adj" fmla="val 26923"/>
            </a:avLst>
          </a:prstGeom>
          <a:solidFill>
            <a:srgbClr val="EAF3FF"/>
          </a:solidFill>
          <a:ln w="9525">
            <a:solidFill>
              <a:srgbClr val="B8D8FF"/>
            </a:solidFill>
          </a:ln>
        </p:spPr>
      </p:sp>
      <p:sp>
        <p:nvSpPr>
          <p:cNvPr id="117" name="Ellipse 117"/>
          <p:cNvSpPr/>
          <p:nvPr/>
        </p:nvSpPr>
        <p:spPr>
          <a:xfrm>
            <a:off x="8938260" y="5684520"/>
            <a:ext cx="106680" cy="106680"/>
          </a:xfrm>
          <a:prstGeom prst="ellipse">
            <a:avLst/>
          </a:prstGeom>
          <a:solidFill>
            <a:srgbClr val="2F80ED"/>
          </a:solidFill>
          <a:ln>
            <a:noFill/>
          </a:ln>
        </p:spPr>
      </p:sp>
      <p:sp>
        <p:nvSpPr>
          <p:cNvPr id="118" name="TextBox 118"/>
          <p:cNvSpPr txBox="1"/>
          <p:nvPr/>
        </p:nvSpPr>
        <p:spPr>
          <a:xfrm>
            <a:off x="9103614" y="5691759"/>
            <a:ext cx="456667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2F80ED"/>
                </a:solidFill>
                <a:latin typeface="Arial"/>
                <a:ea typeface="Microsoft YaHei"/>
                <a:cs typeface="Arial"/>
              </a:rPr>
              <a:t>蓝色归档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9851136" y="5698236"/>
            <a:ext cx="577798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F80ED"/>
                </a:solidFill>
                <a:latin typeface="Arial"/>
                <a:ea typeface="Microsoft YaHei"/>
                <a:cs typeface="Arial"/>
              </a:rPr>
              <a:t>项目D｜周五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8936736" y="5850636"/>
            <a:ext cx="925601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003D79"/>
                </a:solidFill>
                <a:latin typeface="Arial"/>
                <a:ea typeface="Microsoft YaHei"/>
                <a:cs typeface="Arial"/>
              </a:rPr>
              <a:t>提交包完成二次复核</a:t>
            </a:r>
          </a:p>
        </p:txBody>
      </p:sp>
      <p:sp>
        <p:nvSpPr>
          <p:cNvPr id="121" name="Rectangle 121"/>
          <p:cNvSpPr/>
          <p:nvPr/>
        </p:nvSpPr>
        <p:spPr>
          <a:xfrm>
            <a:off x="670560" y="6096000"/>
            <a:ext cx="10850880" cy="259080"/>
          </a:xfrm>
          <a:prstGeom prst="roundRect">
            <a:avLst>
              <a:gd name="adj" fmla="val 41176"/>
            </a:avLst>
          </a:prstGeom>
          <a:solidFill>
            <a:srgbClr val="003D79"/>
          </a:solidFill>
          <a:ln w="9525">
            <a:solidFill>
              <a:srgbClr val="003D79"/>
            </a:solidFill>
          </a:ln>
        </p:spPr>
      </p:sp>
      <p:sp>
        <p:nvSpPr>
          <p:cNvPr id="122" name="TextBox 122"/>
          <p:cNvSpPr txBox="1"/>
          <p:nvPr/>
        </p:nvSpPr>
        <p:spPr>
          <a:xfrm>
            <a:off x="889254" y="6187059"/>
            <a:ext cx="5890046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Issue log 合同：每项阻塞必须有来源、影响、Owner、时限、状态、验收标准；缺来源时标“需补证据”，不能删掉问题。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661416" y="6368796"/>
            <a:ext cx="316748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B7A90"/>
                </a:solidFill>
                <a:latin typeface="Arial"/>
                <a:ea typeface="Microsoft YaHei"/>
                <a:cs typeface="Arial"/>
              </a:rPr>
              <a:t>素材：项目周报台账 / 联调问题清单 / PMO 验收排期表 / 验收证据包目录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9439656" y="6368796"/>
            <a:ext cx="1290447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B7A90"/>
                </a:solidFill>
                <a:latin typeface="Arial"/>
                <a:ea typeface="Microsoft YaHei"/>
                <a:cs typeface="Arial"/>
              </a:rPr>
              <a:t>项目阶段汇报 / 08-issue-log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