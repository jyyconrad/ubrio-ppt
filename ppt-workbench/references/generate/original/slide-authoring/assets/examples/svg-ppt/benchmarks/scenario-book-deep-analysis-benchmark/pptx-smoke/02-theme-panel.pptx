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eck-framework-background-textur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Group 5"/>
          <p:cNvGrpSpPr/>
          <p:nvPr/>
        </p:nvGrpSpPr>
        <p:grpSpPr>
          <a:xfrm>
            <a:off x="729615" y="781050"/>
            <a:ext cx="6491573" cy="838200"/>
            <a:chOff x="729615" y="781050"/>
            <a:chExt cx="6491573" cy="838200"/>
          </a:xfrm>
        </p:grpSpPr>
        <p:sp>
          <p:nvSpPr>
            <p:cNvPr id="2" name="Rectangle 2"/>
            <p:cNvSpPr/>
            <p:nvPr/>
          </p:nvSpPr>
          <p:spPr>
            <a:xfrm>
              <a:off x="762000" y="781050"/>
              <a:ext cx="685800" cy="47625"/>
            </a:xfrm>
            <a:prstGeom prst="rect">
              <a:avLst/>
            </a:prstGeom>
            <a:solidFill>
              <a:srgbClr val="A1620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615" y="924878"/>
              <a:ext cx="649157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374151"/>
                  </a:solidFill>
                  <a:latin typeface="Times New Roman"/>
                  <a:ea typeface="Songti SC"/>
                  <a:cs typeface="Times New Roman"/>
                </a:rPr>
                <a:t>命运不是一条线，而是一张不断收紧的网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5810" y="1375410"/>
              <a:ext cx="4831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PingFang SC"/>
                  <a:cs typeface="Arial"/>
                </a:rPr>
                <a:t>这类页面用一张可追溯图片承担情绪，用右侧论述块承接讲述密度。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742950" y="1562100"/>
            <a:ext cx="6724650" cy="4095750"/>
          </a:xfrm>
          <a:prstGeom prst="roundRect">
            <a:avLst>
              <a:gd name="adj" fmla="val 5116"/>
            </a:avLst>
          </a:prstGeom>
          <a:solidFill>
            <a:srgbClr val="FFFCF6">
              <a:alpha val="72000"/>
            </a:srgbClr>
          </a:solidFill>
          <a:ln w="9525">
            <a:solidFill>
              <a:srgbClr val="D6C8B8">
                <a:alpha val="72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4418" y="1933099"/>
            <a:ext cx="1408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A16207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7800" y="1876425"/>
            <a:ext cx="1928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从出生处境进入主题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52562" y="2240756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先解释人物为什么被抛入某种秩序，而不是急着给出价值判断。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4418" y="305704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A16207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47800" y="3000375"/>
            <a:ext cx="1928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从身体经验进入文本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2562" y="3364706"/>
            <a:ext cx="39290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把疼痛、恐惧、亲密关系等具体经验转成可讲述的证据链。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4418" y="418099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A16207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7800" y="412432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从文本回到读者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2562" y="4488656"/>
            <a:ext cx="3629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最后把作品中的命运感翻译成听众能理解的现实回声。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066800" y="5334000"/>
            <a:ext cx="6076950" cy="723900"/>
          </a:xfrm>
          <a:prstGeom prst="roundRect">
            <a:avLst>
              <a:gd name="adj" fmla="val 23684"/>
            </a:avLst>
          </a:prstGeom>
          <a:solidFill>
            <a:srgbClr val="F7F0E5">
              <a:alpha val="72000"/>
            </a:srgbClr>
          </a:solidFill>
          <a:ln w="9525">
            <a:solidFill>
              <a:srgbClr val="D6C8B8">
                <a:alpha val="72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264920" y="5379720"/>
            <a:ext cx="24578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A16207"/>
                </a:solidFill>
                <a:latin typeface="Times New Roman"/>
                <a:ea typeface="Songti SC"/>
                <a:cs typeface="Times New Roman"/>
              </a:rPr>
              <a:t>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03058" y="5501164"/>
            <a:ext cx="44954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74151"/>
                </a:solidFill>
                <a:latin typeface="Times New Roman"/>
                <a:ea typeface="Songti SC"/>
                <a:cs typeface="Times New Roman"/>
              </a:rPr>
              <a:t>不是命运先完成我们，而是我们在回应中继续生成命运。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096250" y="1581150"/>
            <a:ext cx="3333750" cy="3924300"/>
            <a:chOff x="8096250" y="1581150"/>
            <a:chExt cx="3333750" cy="3924300"/>
          </a:xfrm>
        </p:grpSpPr>
        <p:sp>
          <p:nvSpPr>
            <p:cNvPr id="19" name="Rectangle 19"/>
            <p:cNvSpPr/>
            <p:nvPr/>
          </p:nvSpPr>
          <p:spPr>
            <a:xfrm>
              <a:off x="8096250" y="1581150"/>
              <a:ext cx="3333750" cy="3924300"/>
            </a:xfrm>
            <a:prstGeom prst="roundRect">
              <a:avLst>
                <a:gd name="adj" fmla="val 5714"/>
              </a:avLst>
            </a:prstGeom>
            <a:solidFill>
              <a:srgbClr val="F7F0E5">
                <a:alpha val="78000"/>
              </a:srgbClr>
            </a:solidFill>
            <a:ln w="9525">
              <a:solidFill>
                <a:srgbClr val="D6C8B8">
                  <a:alpha val="78000"/>
                </a:srgbClr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267700" y="1752600"/>
              <a:ext cx="2990850" cy="3314700"/>
            </a:xfrm>
            <a:prstGeom prst="roundRect">
              <a:avLst>
                <a:gd name="adj" fmla="val 5096"/>
              </a:avLst>
            </a:prstGeom>
            <a:noFill/>
            <a:ln w="9525">
              <a:solidFill>
                <a:srgbClr val="E7D2A4">
                  <a:alpha val="8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1518" y="5133499"/>
              <a:ext cx="26250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PingFang SC"/>
                  <a:cs typeface="Arial"/>
                </a:rPr>
                <a:t>用户上传《命运》样本中抽取的深色影像素材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51522" y="6330791"/>
            <a:ext cx="32388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C6F64"/>
                </a:solidFill>
                <a:latin typeface="Arial"/>
                <a:ea typeface="PingFang SC"/>
                <a:cs typeface="Arial"/>
              </a:rPr>
              <a:t>来源：用户上传样本 PPT / slide-authoring literary benchmark</a:t>
            </a:r>
          </a:p>
        </p:txBody>
      </p:sp>
      <p:pic>
        <p:nvPicPr>
          <p:cNvPr id="25" name="暗色森林/人物意象背景图，用于文学纪录片式页面" descr="native-image-destiny-cover-like-photo.png"/>
          <p:cNvPicPr>
            <a:picLocks noChangeAspect="1"/>
          </p:cNvPicPr>
          <p:nvPr/>
        </p:nvPicPr>
        <p:blipFill>
          <a:blip r:embed="rId2"/>
          <a:srcRect t="1843" b="1843"/>
          <a:stretch>
            <a:fillRect/>
          </a:stretch>
        </p:blipFill>
        <p:spPr>
          <a:xfrm>
            <a:off x="8096047" y="1581149"/>
            <a:ext cx="3333666" cy="3924299"/>
          </a:xfrm>
          <a:prstGeom prst="round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