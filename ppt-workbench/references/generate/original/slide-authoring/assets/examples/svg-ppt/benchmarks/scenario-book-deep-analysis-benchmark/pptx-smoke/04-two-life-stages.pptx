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wide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deck-framework-background-texture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4" name="Group 24"/>
          <p:cNvGrpSpPr/>
          <p:nvPr/>
        </p:nvGrpSpPr>
        <p:grpSpPr>
          <a:xfrm>
            <a:off x="729615" y="781050"/>
            <a:ext cx="10700385" cy="5276850"/>
            <a:chOff x="729615" y="781050"/>
            <a:chExt cx="10700385" cy="5276850"/>
          </a:xfrm>
        </p:grpSpPr>
        <p:grpSp>
          <p:nvGrpSpPr>
            <p:cNvPr id="5" name="Group 5"/>
            <p:cNvGrpSpPr/>
            <p:nvPr/>
          </p:nvGrpSpPr>
          <p:grpSpPr>
            <a:xfrm>
              <a:off x="729615" y="781050"/>
              <a:ext cx="7919752" cy="838200"/>
              <a:chOff x="729615" y="781050"/>
              <a:chExt cx="7919752" cy="838200"/>
            </a:xfrm>
          </p:grpSpPr>
          <p:sp>
            <p:nvSpPr>
              <p:cNvPr id="2" name="Rectangle 2"/>
              <p:cNvSpPr/>
              <p:nvPr/>
            </p:nvSpPr>
            <p:spPr>
              <a:xfrm>
                <a:off x="762000" y="781050"/>
                <a:ext cx="685800" cy="47625"/>
              </a:xfrm>
              <a:prstGeom prst="rect">
                <a:avLst/>
              </a:prstGeom>
              <a:solidFill>
                <a:srgbClr val="A16207"/>
              </a:solidFill>
              <a:ln>
                <a:noFill/>
              </a:ln>
            </p:spPr>
          </p:sp>
          <p:sp>
            <p:nvSpPr>
              <p:cNvPr id="3" name="TextBox 3"/>
              <p:cNvSpPr txBox="1"/>
              <p:nvPr/>
            </p:nvSpPr>
            <p:spPr>
              <a:xfrm>
                <a:off x="729615" y="924878"/>
                <a:ext cx="7919752" cy="51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两个阶段，解释命运如何从外部压力变成内部叙事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765810" y="1375410"/>
                <a:ext cx="434301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B7280"/>
                    </a:solidFill>
                    <a:latin typeface="Arial"/>
                    <a:ea typeface="PingFang SC"/>
                    <a:cs typeface="Arial"/>
                  </a:rPr>
                  <a:t>2up 页面用来承载大段对照判断：一边讲处境，一边讲回应。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762000" y="1809750"/>
              <a:ext cx="5200650" cy="3257550"/>
              <a:chOff x="762000" y="1809750"/>
              <a:chExt cx="5200650" cy="32575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809750"/>
                <a:ext cx="5200650" cy="3257550"/>
              </a:xfrm>
              <a:prstGeom prst="roundRect">
                <a:avLst>
                  <a:gd name="adj" fmla="val 5848"/>
                </a:avLst>
              </a:prstGeom>
              <a:solidFill>
                <a:srgbClr val="FFFCF6">
                  <a:alpha val="78000"/>
                </a:srgbClr>
              </a:solidFill>
              <a:ln w="9525">
                <a:solidFill>
                  <a:srgbClr val="D6C8B8">
                    <a:alpha val="78000"/>
                  </a:srgbClr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3460" y="20802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A16207"/>
                    </a:solidFill>
                    <a:latin typeface="Arial"/>
                    <a:ea typeface="PingFang SC"/>
                    <a:cs typeface="Arial"/>
                  </a:rPr>
                  <a:t>阶段一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1028700" y="2381250"/>
                <a:ext cx="514350" cy="38100"/>
              </a:xfrm>
              <a:prstGeom prst="rect">
                <a:avLst/>
              </a:prstGeom>
              <a:solidFill>
                <a:srgbClr val="A16207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008698" y="266842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被处境命名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14412" y="3440906"/>
                <a:ext cx="42291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人物先被家庭、时代、性别和身体经验命名；讲述时要把这些外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14412" y="36504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部约束说清楚。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17270" y="470344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PingFang SC"/>
                    <a:cs typeface="Arial"/>
                  </a:rPr>
                  <a:t>外部结构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229350" y="1809750"/>
              <a:ext cx="5200650" cy="3257550"/>
              <a:chOff x="6229350" y="1809750"/>
              <a:chExt cx="5200650" cy="32575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6229350" y="1809750"/>
                <a:ext cx="5200650" cy="3257550"/>
              </a:xfrm>
              <a:prstGeom prst="roundRect">
                <a:avLst>
                  <a:gd name="adj" fmla="val 5848"/>
                </a:avLst>
              </a:prstGeom>
              <a:solidFill>
                <a:srgbClr val="FFFCF6">
                  <a:alpha val="78000"/>
                </a:srgbClr>
              </a:solidFill>
              <a:ln w="9525">
                <a:solidFill>
                  <a:srgbClr val="D6C8B8">
                    <a:alpha val="78000"/>
                  </a:srgbClr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480810" y="20802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A16207"/>
                    </a:solidFill>
                    <a:latin typeface="Arial"/>
                    <a:ea typeface="PingFang SC"/>
                    <a:cs typeface="Arial"/>
                  </a:rPr>
                  <a:t>阶段二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6496050" y="2381250"/>
                <a:ext cx="514350" cy="38100"/>
              </a:xfrm>
              <a:prstGeom prst="rect">
                <a:avLst/>
              </a:prstGeom>
              <a:solidFill>
                <a:srgbClr val="A16207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476048" y="2668429"/>
                <a:ext cx="136317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重新命名自己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481762" y="3440906"/>
                <a:ext cx="42291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当人物开始解释自己的痛苦、欲望和选择，命运就从压迫转成一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481762" y="36504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74151"/>
                    </a:solidFill>
                    <a:latin typeface="Times New Roman"/>
                    <a:ea typeface="Songti SC"/>
                    <a:cs typeface="Times New Roman"/>
                  </a:rPr>
                  <a:t>种可被重写的叙事。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484620" y="470344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/>
                    <a:ea typeface="PingFang SC"/>
                    <a:cs typeface="Arial"/>
                  </a:rPr>
                  <a:t>内部回应</a:t>
                </a:r>
              </a:p>
            </p:txBody>
          </p:sp>
        </p:grpSp>
        <p:sp>
          <p:nvSpPr>
            <p:cNvPr id="22" name="Rectangle 22"/>
            <p:cNvSpPr/>
            <p:nvPr/>
          </p:nvSpPr>
          <p:spPr>
            <a:xfrm>
              <a:off x="762000" y="5353050"/>
              <a:ext cx="10668000" cy="704850"/>
            </a:xfrm>
            <a:prstGeom prst="roundRect">
              <a:avLst>
                <a:gd name="adj" fmla="val 24324"/>
              </a:avLst>
            </a:prstGeom>
            <a:solidFill>
              <a:srgbClr val="F7F0E5">
                <a:alpha val="68000"/>
              </a:srgbClr>
            </a:solidFill>
            <a:ln w="9525">
              <a:solidFill>
                <a:srgbClr val="D6C8B8">
                  <a:alpha val="68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9655" y="5607368"/>
              <a:ext cx="69431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74151"/>
                  </a:solidFill>
                  <a:latin typeface="Times New Roman"/>
                  <a:ea typeface="Songti SC"/>
                  <a:cs typeface="Times New Roman"/>
                </a:rPr>
                <a:t>这一页验证 story_cards_2up：大段文字必须仍然可读，不能退化成低密度海报。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751522" y="6330791"/>
            <a:ext cx="27933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C6F64"/>
                </a:solidFill>
                <a:latin typeface="Arial"/>
                <a:ea typeface="PingFang SC"/>
                <a:cs typeface="Arial"/>
              </a:rPr>
              <a:t>来源：content-literary-documentary-narrative.md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