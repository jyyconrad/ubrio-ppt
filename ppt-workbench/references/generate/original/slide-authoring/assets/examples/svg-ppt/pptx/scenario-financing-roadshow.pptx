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0560" y="784860"/>
            <a:ext cx="2071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企业智能化升级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4652" y="1311402"/>
            <a:ext cx="6433490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垂直行业智能化进入规模复制期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512" y="2023872"/>
            <a:ext cx="6181344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以行业数据、交付网络和标杆客户形成壁垒，支撑产品扩展和销售放大。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281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窗口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25830" y="46005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高价值行业先启动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095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壁垒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7230" y="4600575"/>
            <a:ext cx="1539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 + 交付网络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48600" y="3886200"/>
            <a:ext cx="3200400" cy="1143000"/>
          </a:xfrm>
          <a:prstGeom prst="roundRect">
            <a:avLst>
              <a:gd name="adj" fmla="val 16000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090916" y="4200906"/>
            <a:ext cx="403174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用途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8630" y="46005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工程化与销售放大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5486400"/>
            <a:ext cx="10820400" cy="548640"/>
          </a:xfrm>
          <a:prstGeom prst="roundRect">
            <a:avLst>
              <a:gd name="adj" fmla="val 27778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0402" y="5706237"/>
            <a:ext cx="4626011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示例重点：这是一套多页 deck 的封面，不作为内容页结构复用。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6656" y="6444996"/>
            <a:ext cx="351792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01-cover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24438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agenda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473734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路演目录：机会、产品、验证、模式和融资用途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894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BP deck 需要用投资人视角组织证据链。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209550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196340" y="2327910"/>
            <a:ext cx="25994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4436" y="227304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市场窗口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9770" y="254698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TAM/SAM/SOM 与供给缺口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1008" y="24185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机会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14400" y="299466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96340" y="322707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4436" y="317220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产品壁垒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9770" y="344614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行业知识库、交付网络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1008" y="33177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壁垒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" y="389382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96340" y="412623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4436" y="407136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增长验证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9770" y="4345305"/>
            <a:ext cx="13010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客户、ARR、留存、回款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51008" y="42169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验证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" y="4792980"/>
            <a:ext cx="10363200" cy="670560"/>
          </a:xfrm>
          <a:prstGeom prst="roundRect">
            <a:avLst>
              <a:gd name="adj" fmla="val 2045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96340" y="5025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64436" y="4970526"/>
            <a:ext cx="772820" cy="268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融资用途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9770" y="524446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产品、数据、销售网络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51008" y="511606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资金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59473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02-agenda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47700" y="819150"/>
            <a:ext cx="59569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第一部分：市场机会与切入窗口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8274" y="1466469"/>
            <a:ext cx="3715512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先说明为什么是现在，再说明为什么是我们。</a:t>
            </a:r>
          </a:p>
        </p:txBody>
      </p:sp>
      <p:sp>
        <p:nvSpPr>
          <p:cNvPr id="5" name="Line 5"/>
          <p:cNvSpPr/>
          <p:nvPr/>
        </p:nvSpPr>
        <p:spPr>
          <a:xfrm>
            <a:off x="685800" y="20574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45720">
            <a:solidFill>
              <a:srgbClr val="45D1F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43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402080" y="3238500"/>
            <a:ext cx="2069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7508" y="3641598"/>
            <a:ext cx="1131760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投资人问题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3604" y="4059174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市场是否足够大？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5890" y="4413885"/>
            <a:ext cx="1325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预算、刚需、替代方案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2895600"/>
            <a:ext cx="4267200" cy="16002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355080" y="323850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Method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50508" y="3641598"/>
            <a:ext cx="913333" cy="3169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6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回答方式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6604" y="4059174"/>
            <a:ext cx="179885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漏斗 + 数据缺口 + 切入场景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890" y="441388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不讲纯愿景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6656" y="6444996"/>
            <a:ext cx="401238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03-section-market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6062358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市场机会：需求增长但供给仍然碎片化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44390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BP 市场页用漏斗拆 TAM/SAM/SOM，同时标出待补数据口径。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1295400" y="2171700"/>
            <a:ext cx="6858000" cy="800100"/>
          </a:xfrm>
          <a:prstGeom prst="roundRect">
            <a:avLst>
              <a:gd name="adj" fmla="val 17143"/>
            </a:avLst>
          </a:prstGeom>
          <a:solidFill>
            <a:srgbClr val="45D1FF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5430" y="2345055"/>
            <a:ext cx="4266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1526" y="2655951"/>
            <a:ext cx="1386078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企业智能化升级总需求</a:t>
            </a:r>
          </a:p>
        </p:txBody>
      </p:sp>
      <p:sp>
        <p:nvSpPr>
          <p:cNvPr id="9" name="Rectangle 9"/>
          <p:cNvSpPr/>
          <p:nvPr/>
        </p:nvSpPr>
        <p:spPr>
          <a:xfrm>
            <a:off x="2057400" y="3276600"/>
            <a:ext cx="5334000" cy="800100"/>
          </a:xfrm>
          <a:prstGeom prst="roundRect">
            <a:avLst>
              <a:gd name="adj" fmla="val 17143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297430" y="3449955"/>
            <a:ext cx="4266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03526" y="376085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垂直行业可服务市场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819400" y="4381500"/>
            <a:ext cx="3810000" cy="800100"/>
          </a:xfrm>
          <a:prstGeom prst="roundRect">
            <a:avLst>
              <a:gd name="adj" fmla="val 17143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059430" y="4554855"/>
            <a:ext cx="4686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65526" y="4865751"/>
            <a:ext cx="1324870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12-18 个月可获得市场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34400" y="2171700"/>
            <a:ext cx="2971800" cy="800100"/>
          </a:xfrm>
          <a:prstGeom prst="roundRect">
            <a:avLst>
              <a:gd name="adj" fmla="val 17143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747760" y="236220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最大市场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51570" y="2653665"/>
            <a:ext cx="2681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制造、能源、园区预算明确 / 需补第三方市场报告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34400" y="3276600"/>
            <a:ext cx="2971800" cy="800100"/>
          </a:xfrm>
          <a:prstGeom prst="roundRect">
            <a:avLst>
              <a:gd name="adj" fmla="val 17143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747760" y="346710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可服务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51570" y="375856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先聚焦高频流程 / 渠道伙伴可覆盖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534400" y="4381500"/>
            <a:ext cx="2971800" cy="800100"/>
          </a:xfrm>
          <a:prstGeom prst="roundRect">
            <a:avLst>
              <a:gd name="adj" fmla="val 17143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747760" y="457200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近期目标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51570" y="4863465"/>
            <a:ext cx="18410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围绕标杆客户复制 / 销售线索集中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6656" y="6444996"/>
            <a:ext cx="361393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02-market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179422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产品壁垒：行业知识库和交付网络共同形成复制能力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能力页要展示模块关系，而不是罗列功能名。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4495800" y="2781300"/>
            <a:ext cx="3200400" cy="1066800"/>
          </a:xfrm>
          <a:prstGeom prst="roundRect">
            <a:avLst>
              <a:gd name="adj" fmla="val 17143"/>
            </a:avLst>
          </a:prstGeom>
          <a:solidFill>
            <a:srgbClr val="45D1FF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69077" y="30441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核心平台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781" y="3426714"/>
            <a:ext cx="167643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 / 流程 / 权限 / 反馈</a:t>
            </a:r>
          </a:p>
        </p:txBody>
      </p:sp>
      <p:sp>
        <p:nvSpPr>
          <p:cNvPr id="9" name="Rectangle 9"/>
          <p:cNvSpPr/>
          <p:nvPr/>
        </p:nvSpPr>
        <p:spPr>
          <a:xfrm>
            <a:off x="8382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9274" y="2388489"/>
            <a:ext cx="1001173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行业知识库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4608" y="27386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沉淀高频业务场景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6132" y="3041142"/>
            <a:ext cx="125349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流程、指标、话术可复用</a:t>
            </a:r>
          </a:p>
        </p:txBody>
      </p:sp>
      <p:sp>
        <p:nvSpPr>
          <p:cNvPr id="13" name="Line 13"/>
          <p:cNvSpPr/>
          <p:nvPr/>
        </p:nvSpPr>
        <p:spPr>
          <a:xfrm>
            <a:off x="3810000" y="2819400"/>
            <a:ext cx="2286000" cy="495300"/>
          </a:xfrm>
          <a:custGeom>
            <a:avLst/>
            <a:gdLst/>
            <a:ahLst/>
            <a:cxnLst/>
            <a:rect l="l" t="t" r="r" b="b"/>
            <a:pathLst>
              <a:path w="2286000" h="495300">
                <a:moveTo>
                  <a:pt x="0" y="0"/>
                </a:moveTo>
                <a:lnTo>
                  <a:pt x="2286000" y="495300"/>
                </a:lnTo>
              </a:path>
            </a:pathLst>
          </a:custGeom>
          <a:noFill/>
          <a:ln w="22860">
            <a:solidFill>
              <a:srgbClr val="2B4C7E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8153400" y="21717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364474" y="23884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交付网络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69808" y="27386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区域伙伴支撑落地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1332" y="3041142"/>
            <a:ext cx="102946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本地化实施成本更低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2819400"/>
            <a:ext cx="2057400" cy="495300"/>
          </a:xfrm>
          <a:custGeom>
            <a:avLst/>
            <a:gdLst/>
            <a:ahLst/>
            <a:cxnLst/>
            <a:rect l="l" t="t" r="r" b="b"/>
            <a:pathLst>
              <a:path w="2057400" h="495300">
                <a:moveTo>
                  <a:pt x="2057400" y="0"/>
                </a:moveTo>
                <a:lnTo>
                  <a:pt x="0" y="495300"/>
                </a:lnTo>
              </a:path>
            </a:pathLst>
          </a:custGeom>
          <a:noFill/>
          <a:ln w="22860">
            <a:solidFill>
              <a:srgbClr val="2B4C7E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382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492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智能编排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4608" y="4834128"/>
            <a:ext cx="130454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把任务识别到执行闭环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6132" y="5136642"/>
            <a:ext cx="9174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减少单点工具割裂</a:t>
            </a:r>
          </a:p>
        </p:txBody>
      </p:sp>
      <p:sp>
        <p:nvSpPr>
          <p:cNvPr id="23" name="Line 23"/>
          <p:cNvSpPr/>
          <p:nvPr/>
        </p:nvSpPr>
        <p:spPr>
          <a:xfrm>
            <a:off x="3810000" y="3314700"/>
            <a:ext cx="2286000" cy="1600200"/>
          </a:xfrm>
          <a:custGeom>
            <a:avLst/>
            <a:gdLst/>
            <a:ahLst/>
            <a:cxnLst/>
            <a:rect l="l" t="t" r="r" b="b"/>
            <a:pathLst>
              <a:path w="2286000" h="1600200">
                <a:moveTo>
                  <a:pt x="0" y="1600200"/>
                </a:moveTo>
                <a:lnTo>
                  <a:pt x="2286000" y="0"/>
                </a:lnTo>
              </a:path>
            </a:pathLst>
          </a:custGeom>
          <a:noFill/>
          <a:ln w="22860">
            <a:solidFill>
              <a:srgbClr val="2B4C7E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153400" y="4267200"/>
            <a:ext cx="2971800" cy="1295400"/>
          </a:xfrm>
          <a:prstGeom prst="roundRect">
            <a:avLst>
              <a:gd name="adj" fmla="val 11765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36447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客户成功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69808" y="4834128"/>
            <a:ext cx="104851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复购运营形成反馈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1332" y="5136642"/>
            <a:ext cx="917448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场景数据反哺模型</a:t>
            </a:r>
          </a:p>
        </p:txBody>
      </p:sp>
      <p:sp>
        <p:nvSpPr>
          <p:cNvPr id="28" name="Line 28"/>
          <p:cNvSpPr/>
          <p:nvPr/>
        </p:nvSpPr>
        <p:spPr>
          <a:xfrm>
            <a:off x="6096000" y="3314700"/>
            <a:ext cx="2057400" cy="1600200"/>
          </a:xfrm>
          <a:custGeom>
            <a:avLst/>
            <a:gdLst/>
            <a:ahLst/>
            <a:cxnLst/>
            <a:rect l="l" t="t" r="r" b="b"/>
            <a:pathLst>
              <a:path w="2057400" h="1600200">
                <a:moveTo>
                  <a:pt x="2057400" y="1600200"/>
                </a:moveTo>
                <a:lnTo>
                  <a:pt x="0" y="0"/>
                </a:lnTo>
              </a:path>
            </a:pathLst>
          </a:custGeom>
          <a:noFill/>
          <a:ln w="22860">
            <a:solidFill>
              <a:srgbClr val="2B4C7E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76656" y="6444996"/>
            <a:ext cx="393077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03-product-moat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8532266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增长验证：标杆客户证明复制方向，但财务指标需补齐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融资页必须主动标注证据和缺口。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85444" y="226085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试点客户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3252" y="2522982"/>
            <a:ext cx="580242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 家</a:t>
            </a:r>
          </a:p>
        </p:txBody>
      </p:sp>
      <p:sp>
        <p:nvSpPr>
          <p:cNvPr id="9" name="Rectangle 9"/>
          <p:cNvSpPr/>
          <p:nvPr/>
        </p:nvSpPr>
        <p:spPr>
          <a:xfrm>
            <a:off x="19812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981200" y="2590800"/>
            <a:ext cx="396240" cy="91440"/>
          </a:xfrm>
          <a:prstGeom prst="roundRect">
            <a:avLst>
              <a:gd name="adj" fmla="val 50000"/>
            </a:avLst>
          </a:prstGeom>
          <a:solidFill>
            <a:srgbClr val="45D1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3909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590544" y="2260854"/>
            <a:ext cx="2769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ARR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783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6863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686300" y="2590800"/>
            <a:ext cx="259080" cy="91440"/>
          </a:xfrm>
          <a:prstGeom prst="roundRect">
            <a:avLst>
              <a:gd name="adj" fmla="val 50000"/>
            </a:avLst>
          </a:prstGeom>
          <a:solidFill>
            <a:srgbClr val="45D1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60960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295644" y="226085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留存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834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3914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391400" y="2590800"/>
            <a:ext cx="213360" cy="91440"/>
          </a:xfrm>
          <a:prstGeom prst="roundRect">
            <a:avLst>
              <a:gd name="adj" fmla="val 50000"/>
            </a:avLst>
          </a:prstGeom>
          <a:solidFill>
            <a:srgbClr val="45D1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801100" y="1981200"/>
            <a:ext cx="2400300" cy="990600"/>
          </a:xfrm>
          <a:prstGeom prst="roundRect">
            <a:avLst>
              <a:gd name="adj" fmla="val 13846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000744" y="2260854"/>
            <a:ext cx="63230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回款周期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8552" y="2522982"/>
            <a:ext cx="623087" cy="4145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0096500" y="2590800"/>
            <a:ext cx="800100" cy="91440"/>
          </a:xfrm>
          <a:prstGeom prst="roundRect">
            <a:avLst>
              <a:gd name="adj" fmla="val 50000"/>
            </a:avLst>
          </a:prstGeom>
          <a:solidFill>
            <a:srgbClr val="2B4C7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96500" y="2590800"/>
            <a:ext cx="182880" cy="91440"/>
          </a:xfrm>
          <a:prstGeom prst="roundRect">
            <a:avLst>
              <a:gd name="adj" fmla="val 50000"/>
            </a:avLst>
          </a:prstGeom>
          <a:solidFill>
            <a:srgbClr val="45D1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85800" y="3505200"/>
            <a:ext cx="5105400" cy="1600200"/>
          </a:xfrm>
          <a:prstGeom prst="roundRect">
            <a:avLst>
              <a:gd name="adj" fmla="val 9524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25830" y="3800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已有证据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1164" y="4211574"/>
            <a:ext cx="161163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客户痛点和试点价值成立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2688" y="4590288"/>
            <a:ext cx="1925422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政企会议、督办、项目协同高频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688" y="4834128"/>
            <a:ext cx="141335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管理视图减少人工汇总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172200" y="3505200"/>
            <a:ext cx="5105400" cy="1600200"/>
          </a:xfrm>
          <a:prstGeom prst="roundRect">
            <a:avLst>
              <a:gd name="adj" fmla="val 9524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412230" y="38004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证据缺口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17564" y="4211574"/>
            <a:ext cx="1467612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投资人会追问财务质量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19088" y="4590288"/>
            <a:ext cx="1791005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需补 ARR、毛利、留存、回款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19088" y="4834128"/>
            <a:ext cx="115732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需补客户合同截图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6656" y="6444996"/>
            <a:ext cx="367634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04-traction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826578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商业模式：从项目制交付转向产品化订阅和服务包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商业模式页对比当前模式与目标模式。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133600"/>
            <a:ext cx="5181600" cy="2514600"/>
          </a:xfrm>
          <a:prstGeom prst="roundRect">
            <a:avLst>
              <a:gd name="adj" fmla="val 6667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4880" y="24993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现状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8784" y="2851404"/>
            <a:ext cx="983590" cy="341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当前模式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404" y="3327654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项目制收入占比高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928" y="3767328"/>
            <a:ext cx="77327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定制交付重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7928" y="4026408"/>
            <a:ext cx="77327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区域复制慢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324600" y="2133600"/>
            <a:ext cx="5181600" cy="2514600"/>
          </a:xfrm>
          <a:prstGeom prst="roundRect">
            <a:avLst>
              <a:gd name="adj" fmla="val 6667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83680" y="249936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7584" y="2851404"/>
            <a:ext cx="983590" cy="341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目标模式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5204" y="3327654"/>
            <a:ext cx="120117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订阅 + 服务包组合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6728" y="376732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标准产品售卖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86728" y="4026408"/>
            <a:ext cx="90129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伙伴交付复制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5334000"/>
            <a:ext cx="10820400" cy="594360"/>
          </a:xfrm>
          <a:prstGeom prst="roundRect">
            <a:avLst>
              <a:gd name="adj" fmla="val 25641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9640" y="5570220"/>
            <a:ext cx="22147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影响：提升毛利和可预测收入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49446" y="5589651"/>
            <a:ext cx="262383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工程化降低交付成本 / 续费和增购形成 LTV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656" y="6444996"/>
            <a:ext cx="3988384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05-business-model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2359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120890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财务证据表：增长叙事必须补齐关键经营指标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用于提醒模型主动标注待补数据。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685800" y="2019300"/>
            <a:ext cx="10820400" cy="3886200"/>
          </a:xfrm>
          <a:prstGeom prst="roundRect">
            <a:avLst>
              <a:gd name="adj" fmla="val 35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76884" y="2321814"/>
            <a:ext cx="48108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证据项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3384" y="2321814"/>
            <a:ext cx="715478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来源/口径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9884" y="2321814"/>
            <a:ext cx="1085964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必须补齐的信息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8984" y="2321814"/>
            <a:ext cx="32987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类型</a:t>
            </a:r>
          </a:p>
        </p:txBody>
      </p:sp>
      <p:sp>
        <p:nvSpPr>
          <p:cNvPr id="11" name="Line 11"/>
          <p:cNvSpPr/>
          <p:nvPr/>
        </p:nvSpPr>
        <p:spPr>
          <a:xfrm>
            <a:off x="914400" y="258318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76122" y="2749677"/>
            <a:ext cx="292329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ARR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54908" y="276910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财务模型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32170" y="277558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当前值待补；同比增速待补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0508" y="276910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收入</a:t>
            </a:r>
          </a:p>
        </p:txBody>
      </p:sp>
      <p:sp>
        <p:nvSpPr>
          <p:cNvPr id="16" name="Line 16"/>
          <p:cNvSpPr/>
          <p:nvPr/>
        </p:nvSpPr>
        <p:spPr>
          <a:xfrm>
            <a:off x="914400" y="328422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2B4C7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76122" y="3450717"/>
            <a:ext cx="50781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毛利率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4908" y="3470148"/>
            <a:ext cx="53644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财务报表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32170" y="3476625"/>
            <a:ext cx="1787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项目制 vs 订阅制；交付成本拆分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508" y="347014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质量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398526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76122" y="4151757"/>
            <a:ext cx="50781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留存率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54908" y="4171188"/>
            <a:ext cx="792480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客户成功台账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32170" y="417766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续费、增购、流失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60508" y="417118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留存</a:t>
            </a:r>
          </a:p>
        </p:txBody>
      </p:sp>
      <p:sp>
        <p:nvSpPr>
          <p:cNvPr id="26" name="Line 26"/>
          <p:cNvSpPr/>
          <p:nvPr/>
        </p:nvSpPr>
        <p:spPr>
          <a:xfrm>
            <a:off x="914400" y="468630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7620">
            <a:solidFill>
              <a:srgbClr val="2B4C7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76122" y="4852797"/>
            <a:ext cx="667436" cy="2316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获客成本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54908" y="4872228"/>
            <a:ext cx="664464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销售费用表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32170" y="487870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线索、转化、回款周期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60508" y="4872228"/>
            <a:ext cx="293218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效率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6656" y="6444996"/>
            <a:ext cx="397398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08-financial-table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81201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7879505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融资用途：12 个月完成产品工程化和重点区域复制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结尾页给资金用途、里程碑和可验收成果。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7072" y="2602992"/>
            <a:ext cx="1437871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45% 产品工程化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2406" y="3090291"/>
            <a:ext cx="842010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补齐平台能力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3930" y="3522345"/>
            <a:ext cx="1445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权限、审计、部署自动化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4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671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662172" y="2602992"/>
            <a:ext cx="123624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30% 行业数据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67506" y="3090291"/>
            <a:ext cx="705993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沉淀知识库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69030" y="352234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覆盖三类重点行业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675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722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67272" y="2602992"/>
            <a:ext cx="1236246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25% 销售网络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2606" y="3090291"/>
            <a:ext cx="842010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扩大区域覆盖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74130" y="3522345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伙伴培训和线索转化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26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销售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77300" y="2324100"/>
            <a:ext cx="2362200" cy="2895600"/>
          </a:xfrm>
          <a:prstGeom prst="roundRect">
            <a:avLst>
              <a:gd name="adj" fmla="val 6452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072372" y="2602992"/>
            <a:ext cx="843077" cy="2926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4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验收目标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77706" y="3090291"/>
            <a:ext cx="1250061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形成可复制增长模型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79230" y="352234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指标口径待补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378142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- 季度复盘给董事会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77706" y="465239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6656" y="6444996"/>
            <a:ext cx="3834765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06-funding-use / 来源：模拟业务素材，真实生成时需替换为用户证据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2084" y="553974"/>
            <a:ext cx="136679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融资路演 / appendix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3796" y="810006"/>
            <a:ext cx="4298137" cy="512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附录：投资人尽调材料清单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0560" y="1348740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路演附录页要覆盖可被追问的底层材料。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838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69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市场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市场材料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9848" y="3051048"/>
            <a:ext cx="132374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第三方报告 / 行业预算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372" y="3277362"/>
            <a:ext cx="1046264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TAM/SAM/SOM 口径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172200" y="22098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03086" y="24654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客户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8514" y="27313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客户材料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3848" y="3051048"/>
            <a:ext cx="108691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合同 / 案例 / 证言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5372" y="3277362"/>
            <a:ext cx="102946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标杆客户可披露范围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38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69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财务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财务材料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" y="4803648"/>
            <a:ext cx="1086917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收入 / 毛利 / 回款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1372" y="5029962"/>
            <a:ext cx="693420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模型假设说明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172200" y="3962400"/>
            <a:ext cx="4724400" cy="1333500"/>
          </a:xfrm>
          <a:prstGeom prst="roundRect">
            <a:avLst>
              <a:gd name="adj" fmla="val 11429"/>
            </a:avLst>
          </a:prstGeom>
          <a:solidFill>
            <a:srgbClr val="0F2438"/>
          </a:solidFill>
          <a:ln w="9525">
            <a:solidFill>
              <a:srgbClr val="2B4C7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403086" y="4218051"/>
            <a:ext cx="311544" cy="207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20" b="1" dirty="0">
                <a:solidFill>
                  <a:srgbClr val="45D1FF"/>
                </a:solidFill>
                <a:latin typeface="Arial"/>
                <a:ea typeface="Microsoft YaHei"/>
                <a:cs typeface="Arial"/>
              </a:rPr>
              <a:t>产品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98514" y="4483989"/>
            <a:ext cx="807949" cy="280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8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产品材料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3848" y="4803648"/>
            <a:ext cx="997306" cy="195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60" dirty="0">
                <a:solidFill>
                  <a:srgbClr val="D8E7FF"/>
                </a:solidFill>
                <a:latin typeface="Arial"/>
                <a:ea typeface="Microsoft YaHei"/>
                <a:cs typeface="Arial"/>
              </a:rPr>
              <a:t>Demo / Roadmap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05372" y="5029962"/>
            <a:ext cx="1029462" cy="170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4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安全合规与部署能力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" y="6444996"/>
            <a:ext cx="3652342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" dirty="0">
                <a:solidFill>
                  <a:srgbClr val="8CA3C7"/>
                </a:solidFill>
                <a:latin typeface="Arial"/>
                <a:ea typeface="Microsoft YaHei"/>
                <a:cs typeface="Arial"/>
              </a:rPr>
              <a:t>示例：融资路演 / 10-appendix / 来源：模拟业务素材，真实生成时需替换为用户证据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