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725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年度经营总结 / 经营复盘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37794"/>
            <a:ext cx="676195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年度结果：收入结构优化，但复购质量仍需补强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02614"/>
            <a:ext cx="2619756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经营复盘页用指标和差距同时证明观点。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1732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25905"/>
            <a:ext cx="5819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页面合同：年度总结必须同时写结果、差距、原因、证据口径和来年动作；缺数据时标缺口，不删问题。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70560" y="1889760"/>
            <a:ext cx="10637520" cy="929640"/>
            <a:chOff x="670560" y="1889760"/>
            <a:chExt cx="10637520" cy="929640"/>
          </a:xfrm>
        </p:grpSpPr>
        <p:sp>
          <p:nvSpPr>
            <p:cNvPr id="8" name="Rectangle 8"/>
            <p:cNvSpPr/>
            <p:nvPr/>
          </p:nvSpPr>
          <p:spPr>
            <a:xfrm>
              <a:off x="670560" y="1889760"/>
              <a:ext cx="2499360" cy="929640"/>
            </a:xfrm>
            <a:prstGeom prst="roundRect">
              <a:avLst>
                <a:gd name="adj" fmla="val 13115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2010" y="206692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收入达成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818" y="2283333"/>
              <a:ext cx="411850" cy="3779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102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88414" y="2262759"/>
              <a:ext cx="347453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达成率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89938" y="2473833"/>
              <a:ext cx="544830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年度财务月报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98320" y="2651760"/>
              <a:ext cx="1082040" cy="76200"/>
            </a:xfrm>
            <a:prstGeom prst="roundRect">
              <a:avLst>
                <a:gd name="adj" fmla="val 50000"/>
              </a:avLst>
            </a:prstGeom>
            <a:solidFill>
              <a:srgbClr val="D9E2EC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798320" y="2651760"/>
              <a:ext cx="838200" cy="762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83280" y="1889760"/>
              <a:ext cx="2499360" cy="929640"/>
            </a:xfrm>
            <a:prstGeom prst="roundRect">
              <a:avLst>
                <a:gd name="adj" fmla="val 13115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554730" y="206692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重点行业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42538" y="2283333"/>
              <a:ext cx="333720" cy="3779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58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1134" y="226275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收入占比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02658" y="2473833"/>
              <a:ext cx="531628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CRM合同清单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511040" y="2651760"/>
              <a:ext cx="1082040" cy="76200"/>
            </a:xfrm>
            <a:prstGeom prst="roundRect">
              <a:avLst>
                <a:gd name="adj" fmla="val 50000"/>
              </a:avLst>
            </a:prstGeom>
            <a:solidFill>
              <a:srgbClr val="D9E2EC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11040" y="2651760"/>
              <a:ext cx="716280" cy="762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0" y="1889760"/>
              <a:ext cx="2499360" cy="929640"/>
            </a:xfrm>
            <a:prstGeom prst="roundRect">
              <a:avLst>
                <a:gd name="adj" fmla="val 13115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67450" y="206692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交付效率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55258" y="2283333"/>
              <a:ext cx="411850" cy="3779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+18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13854" y="226275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周期改善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15378" y="2473833"/>
              <a:ext cx="549231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PMO项目台账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23760" y="2651760"/>
              <a:ext cx="1082040" cy="76200"/>
            </a:xfrm>
            <a:prstGeom prst="roundRect">
              <a:avLst>
                <a:gd name="adj" fmla="val 50000"/>
              </a:avLst>
            </a:prstGeom>
            <a:solidFill>
              <a:srgbClr val="D9E2EC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223760" y="2651760"/>
              <a:ext cx="632460" cy="762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808720" y="1889760"/>
              <a:ext cx="2499360" cy="929640"/>
            </a:xfrm>
            <a:prstGeom prst="roundRect">
              <a:avLst>
                <a:gd name="adj" fmla="val 13115"/>
              </a:avLst>
            </a:prstGeom>
            <a:solidFill>
              <a:srgbClr val="FEF2F2"/>
            </a:solidFill>
            <a:ln w="9525">
              <a:solidFill>
                <a:srgbClr val="B91C1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80170" y="206692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复购贡献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67978" y="2283333"/>
              <a:ext cx="568109" cy="3779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6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待补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26574" y="226275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口径缺口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928098" y="2473833"/>
              <a:ext cx="544830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客户成功台账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936480" y="2651760"/>
              <a:ext cx="1082040" cy="76200"/>
            </a:xfrm>
            <a:prstGeom prst="roundRect">
              <a:avLst>
                <a:gd name="adj" fmla="val 50000"/>
              </a:avLst>
            </a:prstGeom>
            <a:solidFill>
              <a:srgbClr val="D9E2EC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936480" y="2651760"/>
              <a:ext cx="365760" cy="76200"/>
            </a:xfrm>
            <a:prstGeom prst="roundRect">
              <a:avLst>
                <a:gd name="adj" fmla="val 50000"/>
              </a:avLst>
            </a:prstGeom>
            <a:solidFill>
              <a:srgbClr val="B91C1C"/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670560" y="3063240"/>
            <a:ext cx="3337560" cy="2179320"/>
            <a:chOff x="670560" y="3063240"/>
            <a:chExt cx="3337560" cy="2179320"/>
          </a:xfrm>
        </p:grpSpPr>
        <p:sp>
          <p:nvSpPr>
            <p:cNvPr id="37" name="Rectangle 37"/>
            <p:cNvSpPr/>
            <p:nvPr/>
          </p:nvSpPr>
          <p:spPr>
            <a:xfrm>
              <a:off x="670560" y="3063240"/>
              <a:ext cx="3337560" cy="2179320"/>
            </a:xfrm>
            <a:prstGeom prst="roundRect">
              <a:avLst>
                <a:gd name="adj" fmla="val 6294"/>
              </a:avLst>
            </a:prstGeom>
            <a:solidFill>
              <a:srgbClr val="0F3B73"/>
            </a:solidFill>
            <a:ln w="9525">
              <a:solidFill>
                <a:srgbClr val="0F3B73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636" y="3240786"/>
              <a:ext cx="1142467" cy="268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先给经营判断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2208" y="3645408"/>
              <a:ext cx="2981554" cy="195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" b="1" dirty="0">
                  <a:solidFill>
                    <a:srgbClr val="EAF3FF"/>
                  </a:solidFill>
                  <a:latin typeface="Arial"/>
                  <a:ea typeface="Microsoft YaHei"/>
                  <a:cs typeface="Arial"/>
                </a:rPr>
                <a:t>全年目标稳步达成，但增长质量仍有结构性短板。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2208" y="3919728"/>
              <a:ext cx="2443886" cy="195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" b="1" dirty="0">
                  <a:solidFill>
                    <a:srgbClr val="EAF3FF"/>
                  </a:solidFill>
                  <a:latin typeface="Arial"/>
                  <a:ea typeface="Microsoft YaHei"/>
                  <a:cs typeface="Arial"/>
                </a:rPr>
                <a:t>重点行业贡献提升，说明打法复制有效。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2208" y="4194048"/>
              <a:ext cx="2309470" cy="195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" b="1" dirty="0">
                  <a:solidFill>
                    <a:srgbClr val="EAF3FF"/>
                  </a:solidFill>
                  <a:latin typeface="Arial"/>
                  <a:ea typeface="Microsoft YaHei"/>
                  <a:cs typeface="Arial"/>
                </a:rPr>
                <a:t>复购贡献缺口暴露客户成功台账不足。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2208" y="4468368"/>
              <a:ext cx="2309470" cy="195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" b="1" dirty="0">
                  <a:solidFill>
                    <a:srgbClr val="EAF3FF"/>
                  </a:solidFill>
                  <a:latin typeface="Arial"/>
                  <a:ea typeface="Microsoft YaHei"/>
                  <a:cs typeface="Arial"/>
                </a:rPr>
                <a:t>来年必须把复购从口号变成经营责任。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14400" y="4861560"/>
              <a:ext cx="2590800" cy="27432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 w="9525">
              <a:solidFill>
                <a:srgbClr val="F59E0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01852" y="4953762"/>
              <a:ext cx="1903171" cy="170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一句话收口：增长质量优于规模增速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4251960" y="3063240"/>
            <a:ext cx="3642360" cy="2179320"/>
            <a:chOff x="4251960" y="3063240"/>
            <a:chExt cx="3642360" cy="2179320"/>
          </a:xfrm>
        </p:grpSpPr>
        <p:sp>
          <p:nvSpPr>
            <p:cNvPr id="46" name="Rectangle 46"/>
            <p:cNvSpPr/>
            <p:nvPr/>
          </p:nvSpPr>
          <p:spPr>
            <a:xfrm>
              <a:off x="4251960" y="3063240"/>
              <a:ext cx="3642360" cy="2179320"/>
            </a:xfrm>
            <a:prstGeom prst="roundRect">
              <a:avLst>
                <a:gd name="adj" fmla="val 5594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48556" y="3210306"/>
              <a:ext cx="1696936" cy="268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月度收入与质量趋势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572000" y="4015740"/>
              <a:ext cx="259080" cy="693420"/>
            </a:xfrm>
            <a:prstGeom prst="roundRect">
              <a:avLst>
                <a:gd name="adj" fmla="val 23529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548378" y="4820793"/>
              <a:ext cx="160002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7月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48378" y="3822573"/>
              <a:ext cx="11841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68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074920" y="3970020"/>
              <a:ext cx="259080" cy="739140"/>
            </a:xfrm>
            <a:prstGeom prst="roundRect">
              <a:avLst>
                <a:gd name="adj" fmla="val 23529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051298" y="4820793"/>
              <a:ext cx="160002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8月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051298" y="3776853"/>
              <a:ext cx="11841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72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577840" y="3939540"/>
              <a:ext cx="259080" cy="769620"/>
            </a:xfrm>
            <a:prstGeom prst="roundRect">
              <a:avLst>
                <a:gd name="adj" fmla="val 23529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554218" y="4820793"/>
              <a:ext cx="160002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9月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554218" y="3746373"/>
              <a:ext cx="11841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75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80760" y="3878580"/>
              <a:ext cx="259080" cy="830580"/>
            </a:xfrm>
            <a:prstGeom prst="roundRect">
              <a:avLst>
                <a:gd name="adj" fmla="val 23529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57138" y="4820793"/>
              <a:ext cx="187725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10月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57138" y="3685413"/>
              <a:ext cx="95314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81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583680" y="3825240"/>
              <a:ext cx="259080" cy="883920"/>
            </a:xfrm>
            <a:prstGeom prst="roundRect">
              <a:avLst>
                <a:gd name="adj" fmla="val 23529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60058" y="4820793"/>
              <a:ext cx="164622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11月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60058" y="3632073"/>
              <a:ext cx="11841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86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086600" y="3794760"/>
              <a:ext cx="259080" cy="914400"/>
            </a:xfrm>
            <a:prstGeom prst="roundRect">
              <a:avLst>
                <a:gd name="adj" fmla="val 23529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062978" y="4820793"/>
              <a:ext cx="187725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12月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62978" y="3601593"/>
              <a:ext cx="11841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89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477000" y="3657600"/>
              <a:ext cx="1173480" cy="320040"/>
            </a:xfrm>
            <a:prstGeom prst="roundRect">
              <a:avLst>
                <a:gd name="adj" fmla="val 33333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05016" y="3785616"/>
              <a:ext cx="8802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结构改善&gt;短期冲量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477000" y="4145280"/>
              <a:ext cx="1173480" cy="320040"/>
            </a:xfrm>
            <a:prstGeom prst="roundRect">
              <a:avLst>
                <a:gd name="adj" fmla="val 33333"/>
              </a:avLst>
            </a:prstGeom>
            <a:solidFill>
              <a:srgbClr val="FEF2F2"/>
            </a:solidFill>
            <a:ln w="9525">
              <a:solidFill>
                <a:srgbClr val="FCA5A5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05016" y="4273296"/>
              <a:ext cx="72397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复购口径仍待补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138160" y="3063240"/>
            <a:ext cx="3383280" cy="2179320"/>
            <a:chOff x="8138160" y="3063240"/>
            <a:chExt cx="3383280" cy="2179320"/>
          </a:xfrm>
        </p:grpSpPr>
        <p:sp>
          <p:nvSpPr>
            <p:cNvPr id="71" name="Rectangle 71"/>
            <p:cNvSpPr/>
            <p:nvPr/>
          </p:nvSpPr>
          <p:spPr>
            <a:xfrm>
              <a:off x="8138160" y="3063240"/>
              <a:ext cx="3383280" cy="2179320"/>
            </a:xfrm>
            <a:prstGeom prst="roundRect">
              <a:avLst>
                <a:gd name="adj" fmla="val 5594"/>
              </a:avLst>
            </a:prstGeom>
            <a:solidFill>
              <a:srgbClr val="FFF7ED"/>
            </a:solidFill>
            <a:ln w="9525">
              <a:solidFill>
                <a:srgbClr val="F59E0B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334756" y="3210306"/>
              <a:ext cx="957644" cy="268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2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差距转行动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41614" y="345147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贡献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30056" y="3457956"/>
              <a:ext cx="112722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行业深耕带来高毛利项目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830818" y="3616833"/>
              <a:ext cx="848468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沉淀三类行业打法包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341614" y="38172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差距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830056" y="3823716"/>
              <a:ext cx="102641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复购运营还未责任到人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30818" y="3982593"/>
              <a:ext cx="973224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补 A/B/C 客户分层台账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41614" y="418299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原因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830056" y="4189476"/>
              <a:ext cx="102641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数据口径跨部门不统一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830818" y="4348353"/>
              <a:ext cx="1042532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收入/毛利/回款进入月会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341614" y="454875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风险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830056" y="4555236"/>
              <a:ext cx="102641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续约金额和复购率待补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830818" y="4714113"/>
              <a:ext cx="848468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客户成功部周度拉通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670560" y="5486400"/>
            <a:ext cx="10850880" cy="822960"/>
            <a:chOff x="670560" y="5486400"/>
            <a:chExt cx="10850880" cy="822960"/>
          </a:xfrm>
        </p:grpSpPr>
        <p:sp>
          <p:nvSpPr>
            <p:cNvPr id="86" name="Rectangle 86"/>
            <p:cNvSpPr/>
            <p:nvPr/>
          </p:nvSpPr>
          <p:spPr>
            <a:xfrm>
              <a:off x="670560" y="5486400"/>
              <a:ext cx="2438400" cy="44196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97814" y="5585079"/>
              <a:ext cx="1002735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财务｜年度财务月报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98576" y="5759196"/>
              <a:ext cx="73405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收入/毛利/回款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3383280" y="5486400"/>
              <a:ext cx="2438400" cy="44196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3510534" y="5585079"/>
              <a:ext cx="986353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客户｜CRM合同清单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3511296" y="5759196"/>
              <a:ext cx="8802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重点行业/客户名单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096000" y="5486400"/>
              <a:ext cx="2438400" cy="44196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223254" y="5585079"/>
              <a:ext cx="1008196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交付｜PMO项目台账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224016" y="5759196"/>
              <a:ext cx="73405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周期/返工/验收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8808720" y="5486400"/>
              <a:ext cx="2438400" cy="44196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935974" y="5585079"/>
              <a:ext cx="1002735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复购｜客户成功台账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936736" y="5759196"/>
              <a:ext cx="73405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续约/复购/风险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70560" y="6035040"/>
              <a:ext cx="10850880" cy="274320"/>
            </a:xfrm>
            <a:prstGeom prst="roundRect">
              <a:avLst>
                <a:gd name="adj" fmla="val 38889"/>
              </a:avLst>
            </a:prstGeom>
            <a:solidFill>
              <a:srgbClr val="0F3B73"/>
            </a:solidFill>
            <a:ln w="9525">
              <a:solidFill>
                <a:srgbClr val="0F3B73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89254" y="6133719"/>
              <a:ext cx="4388358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年度驾驶舱合同：不能只放指标卡，必须同时出现结论、趋势、差距、来源和下一步动作。</a:t>
              </a:r>
            </a:p>
          </p:txBody>
        </p:sp>
      </p:grpSp>
      <p:sp>
        <p:nvSpPr>
          <p:cNvPr id="101" name="TextBox 101"/>
          <p:cNvSpPr txBox="1"/>
          <p:nvPr/>
        </p:nvSpPr>
        <p:spPr>
          <a:xfrm>
            <a:off x="661416" y="6368796"/>
            <a:ext cx="3498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素材：年度财务月报 / CRM 商机与合同清单 / 交付 PMO 台账 / 客户成功复购台账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9439656" y="6368796"/>
            <a:ext cx="133845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年度经营总结 / 04-dashboard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725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年度经营总结 / 经营复盘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37794"/>
            <a:ext cx="644271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证据表：经营结论必须对应来源、口径和缺口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02614"/>
            <a:ext cx="2187702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用于训练模型不要只写泛化判断。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1732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25905"/>
            <a:ext cx="5819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页面合同：年度总结必须同时写结果、差距、原因、证据口径和来年动作；缺数据时标缺口，不删问题。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70560" y="1889760"/>
            <a:ext cx="10576560" cy="573405"/>
            <a:chOff x="670560" y="1889760"/>
            <a:chExt cx="10576560" cy="573405"/>
          </a:xfrm>
        </p:grpSpPr>
        <p:sp>
          <p:nvSpPr>
            <p:cNvPr id="8" name="Rectangle 8"/>
            <p:cNvSpPr/>
            <p:nvPr/>
          </p:nvSpPr>
          <p:spPr>
            <a:xfrm>
              <a:off x="67056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3054" y="2018919"/>
              <a:ext cx="565880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已验证结论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5434" y="2182749"/>
              <a:ext cx="141325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5336" y="2238756"/>
              <a:ext cx="82478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收入、行业、效率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8328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2577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待补口径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18154" y="2182749"/>
              <a:ext cx="141325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58056" y="2238756"/>
              <a:ext cx="112722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毛利、复购、返工、续约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849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责任部门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30874" y="2182749"/>
              <a:ext cx="141325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70776" y="2238756"/>
              <a:ext cx="124820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财经/销售/交付/客成/运营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0872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5121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复盘频率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43594" y="2182749"/>
              <a:ext cx="421500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月度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83496" y="2238756"/>
              <a:ext cx="52235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进入经营会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70560" y="2682240"/>
            <a:ext cx="7757160" cy="2697480"/>
            <a:chOff x="670560" y="2682240"/>
            <a:chExt cx="7757160" cy="2697480"/>
          </a:xfrm>
        </p:grpSpPr>
        <p:sp>
          <p:nvSpPr>
            <p:cNvPr id="25" name="Rectangle 25"/>
            <p:cNvSpPr/>
            <p:nvPr/>
          </p:nvSpPr>
          <p:spPr>
            <a:xfrm>
              <a:off x="670560" y="2682240"/>
              <a:ext cx="7757160" cy="2697480"/>
            </a:xfrm>
            <a:prstGeom prst="roundRect">
              <a:avLst>
                <a:gd name="adj" fmla="val 4520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9254" y="290283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经营结论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21814" y="2902839"/>
              <a:ext cx="516734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证据/口径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18254" y="29028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解释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48934" y="29028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缺口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90054" y="2902839"/>
              <a:ext cx="363835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Owner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07720" y="3108960"/>
              <a:ext cx="7437120" cy="9525"/>
            </a:xfrm>
            <a:custGeom>
              <a:avLst/>
              <a:gdLst/>
              <a:ahLst/>
              <a:cxnLst/>
              <a:rect l="l" t="t" r="r" b="b"/>
              <a:pathLst>
                <a:path w="7437120" h="9525">
                  <a:moveTo>
                    <a:pt x="0" y="0"/>
                  </a:moveTo>
                  <a:lnTo>
                    <a:pt x="743712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0016" y="3244596"/>
              <a:ext cx="42153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收入达成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22576" y="3244596"/>
              <a:ext cx="4023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财务月报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19016" y="3244596"/>
              <a:ext cx="117043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全年目标完成但结构需分解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49696" y="3244596"/>
              <a:ext cx="74317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按行业收入/毛利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90816" y="324459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财经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07720" y="3489960"/>
              <a:ext cx="7437120" cy="9525"/>
            </a:xfrm>
            <a:custGeom>
              <a:avLst/>
              <a:gdLst/>
              <a:ahLst/>
              <a:cxnLst/>
              <a:rect l="l" t="t" r="r" b="b"/>
              <a:pathLst>
                <a:path w="7437120" h="9525">
                  <a:moveTo>
                    <a:pt x="0" y="0"/>
                  </a:moveTo>
                  <a:lnTo>
                    <a:pt x="743712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0016" y="362559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重点行业提升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22576" y="3625596"/>
              <a:ext cx="57995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CRM合同清单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19016" y="3625596"/>
              <a:ext cx="97840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标杆复制开始形成贡献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49696" y="3625596"/>
              <a:ext cx="83919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客户名单/区域对比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90816" y="362559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销售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07720" y="3870960"/>
              <a:ext cx="7437120" cy="9525"/>
            </a:xfrm>
            <a:custGeom>
              <a:avLst/>
              <a:gdLst/>
              <a:ahLst/>
              <a:cxnLst/>
              <a:rect l="l" t="t" r="r" b="b"/>
              <a:pathLst>
                <a:path w="7437120" h="9525">
                  <a:moveTo>
                    <a:pt x="0" y="0"/>
                  </a:moveTo>
                  <a:lnTo>
                    <a:pt x="743712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90016" y="400659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交付效率改善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322576" y="4006596"/>
              <a:ext cx="59916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PMO项目台账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319016" y="4006596"/>
              <a:ext cx="97840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联合评审压缩返工周期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49696" y="4006596"/>
              <a:ext cx="74317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平均周期/返工率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90816" y="400659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交付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07720" y="4251960"/>
              <a:ext cx="7437120" cy="9525"/>
            </a:xfrm>
            <a:custGeom>
              <a:avLst/>
              <a:gdLst/>
              <a:ahLst/>
              <a:cxnLst/>
              <a:rect l="l" t="t" r="r" b="b"/>
              <a:pathLst>
                <a:path w="7437120" h="9525">
                  <a:moveTo>
                    <a:pt x="0" y="0"/>
                  </a:moveTo>
                  <a:lnTo>
                    <a:pt x="743712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90016" y="438759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复购贡献待补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322576" y="4387596"/>
              <a:ext cx="59436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客户成功台账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319016" y="4387596"/>
              <a:ext cx="88239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老客户价值挖掘不足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49696" y="4387596"/>
              <a:ext cx="74317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复购率/续约金额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90816" y="438759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客成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807720" y="4632960"/>
              <a:ext cx="7437120" cy="9525"/>
            </a:xfrm>
            <a:custGeom>
              <a:avLst/>
              <a:gdLst/>
              <a:ahLst/>
              <a:cxnLst/>
              <a:rect l="l" t="t" r="r" b="b"/>
              <a:pathLst>
                <a:path w="7437120" h="9525">
                  <a:moveTo>
                    <a:pt x="0" y="0"/>
                  </a:moveTo>
                  <a:lnTo>
                    <a:pt x="743712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0016" y="476859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数据口径不一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322576" y="4768596"/>
              <a:ext cx="49834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经营会纪要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319016" y="4768596"/>
              <a:ext cx="88239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跨部门复盘无法闭环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949696" y="4768596"/>
              <a:ext cx="69037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统一字段和日期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90816" y="476859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运营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686800" y="2682240"/>
            <a:ext cx="2834640" cy="2697480"/>
            <a:chOff x="8686800" y="2682240"/>
            <a:chExt cx="2834640" cy="2697480"/>
          </a:xfrm>
        </p:grpSpPr>
        <p:sp>
          <p:nvSpPr>
            <p:cNvPr id="62" name="Rectangle 62"/>
            <p:cNvSpPr/>
            <p:nvPr/>
          </p:nvSpPr>
          <p:spPr>
            <a:xfrm>
              <a:off x="8686800" y="2682240"/>
              <a:ext cx="2834640" cy="2697480"/>
            </a:xfrm>
            <a:prstGeom prst="roundRect">
              <a:avLst>
                <a:gd name="adj" fmla="val 4520"/>
              </a:avLst>
            </a:prstGeom>
            <a:solidFill>
              <a:srgbClr val="FFF7ED"/>
            </a:solidFill>
            <a:ln w="9525">
              <a:solidFill>
                <a:srgbClr val="F59E0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854440" y="285750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证据链写法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854440" y="3276600"/>
              <a:ext cx="2484120" cy="27432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9525">
              <a:solidFill>
                <a:srgbClr val="F6C77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967216" y="3374136"/>
              <a:ext cx="28040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1 观点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501378" y="3380613"/>
              <a:ext cx="1218114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先写经营判断，不写名词标签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854440" y="3657600"/>
              <a:ext cx="2484120" cy="27432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9525">
              <a:solidFill>
                <a:srgbClr val="F6C77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967216" y="3755136"/>
              <a:ext cx="3056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2 证据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501378" y="3761613"/>
              <a:ext cx="1495349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每条结论绑定表格、截图或会议纪要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854440" y="4038600"/>
              <a:ext cx="2484120" cy="27432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9525">
              <a:solidFill>
                <a:srgbClr val="F6C77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967216" y="4136136"/>
              <a:ext cx="3056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3 解释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501378" y="4142613"/>
              <a:ext cx="1125703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说明数据为什么支撑该判断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854440" y="4419600"/>
              <a:ext cx="2484120" cy="27432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9525">
              <a:solidFill>
                <a:srgbClr val="F6C77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967216" y="4517136"/>
              <a:ext cx="3056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4 缺口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501378" y="4523613"/>
              <a:ext cx="1218114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缺数据时标待补口径和责任人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854440" y="4800600"/>
              <a:ext cx="2484120" cy="27432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9525">
              <a:solidFill>
                <a:srgbClr val="F6C77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967216" y="4898136"/>
              <a:ext cx="3056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5 动作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501378" y="4904613"/>
              <a:ext cx="1125703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进入来年计划或月度经营会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670560" y="5562600"/>
            <a:ext cx="10850880" cy="792480"/>
            <a:chOff x="670560" y="5562600"/>
            <a:chExt cx="10850880" cy="792480"/>
          </a:xfrm>
        </p:grpSpPr>
        <p:sp>
          <p:nvSpPr>
            <p:cNvPr id="80" name="Rectangle 80"/>
            <p:cNvSpPr/>
            <p:nvPr/>
          </p:nvSpPr>
          <p:spPr>
            <a:xfrm>
              <a:off x="670560" y="5562600"/>
              <a:ext cx="2438400" cy="411480"/>
            </a:xfrm>
            <a:prstGeom prst="roundRect">
              <a:avLst>
                <a:gd name="adj" fmla="val 25926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97814" y="56460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数据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95578" y="5658993"/>
              <a:ext cx="131976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按月/行业/区域补齐收入和毛利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95578" y="5826633"/>
              <a:ext cx="478822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财经负责人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3383280" y="5562600"/>
              <a:ext cx="2438400" cy="411480"/>
            </a:xfrm>
            <a:prstGeom prst="roundRect">
              <a:avLst>
                <a:gd name="adj" fmla="val 25926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3510534" y="56460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客户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908298" y="5658993"/>
              <a:ext cx="1250458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输出 A/B/C 客户分层和续约池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3908298" y="5826633"/>
              <a:ext cx="386410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客户成功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096000" y="5562600"/>
              <a:ext cx="2438400" cy="411480"/>
            </a:xfrm>
            <a:prstGeom prst="roundRect">
              <a:avLst>
                <a:gd name="adj" fmla="val 25926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223254" y="56460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交付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621018" y="5658993"/>
              <a:ext cx="1033291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补平均周期和返工率趋势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621018" y="5826633"/>
              <a:ext cx="418754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交付 PMO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808720" y="5562600"/>
              <a:ext cx="2438400" cy="411480"/>
            </a:xfrm>
            <a:prstGeom prst="roundRect">
              <a:avLst>
                <a:gd name="adj" fmla="val 25926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935974" y="56460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经营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333738" y="5658993"/>
              <a:ext cx="1125703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统一收入、毛利、回款口径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333738" y="5826633"/>
              <a:ext cx="478822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运营负责人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70560" y="6096000"/>
              <a:ext cx="10850880" cy="259080"/>
            </a:xfrm>
            <a:prstGeom prst="roundRect">
              <a:avLst>
                <a:gd name="adj" fmla="val 41176"/>
              </a:avLst>
            </a:prstGeom>
            <a:solidFill>
              <a:srgbClr val="0F3B73"/>
            </a:solidFill>
            <a:ln w="9525">
              <a:solidFill>
                <a:srgbClr val="0F3B73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89254" y="6187059"/>
              <a:ext cx="5289371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证据表合同：每个经营结论必须有来源、解释、缺口和Owner；不能用“持续优化、加强管理”替代表格证据。</a:t>
              </a:r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661416" y="6368796"/>
            <a:ext cx="3498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素材：年度财务月报 / CRM 商机与合同清单 / 交付 PMO 台账 / 客户成功复购台账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9439656" y="6368796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年度经营总结 / 08-evidence-table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725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年度经营总结 / 经营复盘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37794"/>
            <a:ext cx="708119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行动闭环：把经营判断落到责任、指标和复盘节奏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02614"/>
            <a:ext cx="2619756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总结页不只写口号，要形成可追踪台账。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1732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25905"/>
            <a:ext cx="5819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页面合同：年度总结必须同时写结果、差距、原因、证据口径和来年动作；缺数据时标缺口，不删问题。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70560" y="1889760"/>
            <a:ext cx="10576560" cy="573405"/>
            <a:chOff x="670560" y="1889760"/>
            <a:chExt cx="10576560" cy="573405"/>
          </a:xfrm>
        </p:grpSpPr>
        <p:sp>
          <p:nvSpPr>
            <p:cNvPr id="8" name="Rectangle 8"/>
            <p:cNvSpPr/>
            <p:nvPr/>
          </p:nvSpPr>
          <p:spPr>
            <a:xfrm>
              <a:off x="67056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305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来年抓手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5434" y="2182749"/>
              <a:ext cx="141325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4376" y="2238756"/>
              <a:ext cx="99113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行业/交付/复购/口径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8328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2577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责任部门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18154" y="2182749"/>
              <a:ext cx="141325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97096" y="2238756"/>
              <a:ext cx="52235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跨部门闭环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849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复盘节奏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30874" y="2182749"/>
              <a:ext cx="421500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月度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09816" y="2238756"/>
              <a:ext cx="52235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经营会跟踪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0872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5121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风险缺口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43594" y="2182749"/>
              <a:ext cx="141325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22536" y="2238756"/>
              <a:ext cx="72397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复购和毛利口径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70560" y="2667000"/>
            <a:ext cx="7772400" cy="2743200"/>
            <a:chOff x="670560" y="2667000"/>
            <a:chExt cx="7772400" cy="2743200"/>
          </a:xfrm>
        </p:grpSpPr>
        <p:sp>
          <p:nvSpPr>
            <p:cNvPr id="25" name="Rectangle 25"/>
            <p:cNvSpPr/>
            <p:nvPr/>
          </p:nvSpPr>
          <p:spPr>
            <a:xfrm>
              <a:off x="670560" y="2667000"/>
              <a:ext cx="7772400" cy="27432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9254" y="29028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事项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13254" y="2902839"/>
              <a:ext cx="347453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责任人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00094" y="290283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关键动作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09894" y="290283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检查标准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33894" y="29028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节奏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07720" y="3093720"/>
              <a:ext cx="7452360" cy="9525"/>
            </a:xfrm>
            <a:custGeom>
              <a:avLst/>
              <a:gdLst/>
              <a:ahLst/>
              <a:cxnLst/>
              <a:rect l="l" t="t" r="r" b="b"/>
              <a:pathLst>
                <a:path w="7452360" h="9525">
                  <a:moveTo>
                    <a:pt x="0" y="0"/>
                  </a:moveTo>
                  <a:lnTo>
                    <a:pt x="745236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0016" y="3229356"/>
              <a:ext cx="52235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行业打法包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14016" y="3229356"/>
              <a:ext cx="64716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市场+销售战区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00856" y="3229356"/>
              <a:ext cx="146806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2月底完成模板，覆盖3个重点行业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0656" y="3229356"/>
              <a:ext cx="88239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案例库可被区域复用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34656" y="322935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月度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07720" y="3474720"/>
              <a:ext cx="7452360" cy="9525"/>
            </a:xfrm>
            <a:custGeom>
              <a:avLst/>
              <a:gdLst/>
              <a:ahLst/>
              <a:cxnLst/>
              <a:rect l="l" t="t" r="r" b="b"/>
              <a:pathLst>
                <a:path w="7452360" h="9525">
                  <a:moveTo>
                    <a:pt x="0" y="0"/>
                  </a:moveTo>
                  <a:lnTo>
                    <a:pt x="745236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0016" y="361035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交付效率专项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14016" y="3610356"/>
              <a:ext cx="40713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交付PMO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00856" y="3610356"/>
              <a:ext cx="137205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建立周期看板，异常48小时升级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0656" y="3610356"/>
              <a:ext cx="88239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周期和返工率可追踪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34656" y="361035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双周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07720" y="3855720"/>
              <a:ext cx="7452360" cy="9525"/>
            </a:xfrm>
            <a:custGeom>
              <a:avLst/>
              <a:gdLst/>
              <a:ahLst/>
              <a:cxnLst/>
              <a:rect l="l" t="t" r="r" b="b"/>
              <a:pathLst>
                <a:path w="7452360" h="9525">
                  <a:moveTo>
                    <a:pt x="0" y="0"/>
                  </a:moveTo>
                  <a:lnTo>
                    <a:pt x="745236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90016" y="399135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复购运营台账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14016" y="3991356"/>
              <a:ext cx="49834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客户成功部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00856" y="3991356"/>
              <a:ext cx="1434465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完成A/B/C分层，季度复盘续约池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10656" y="3991356"/>
              <a:ext cx="97840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复购率和续约金额入表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34656" y="399135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季度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07720" y="4236720"/>
              <a:ext cx="7452360" cy="9525"/>
            </a:xfrm>
            <a:custGeom>
              <a:avLst/>
              <a:gdLst/>
              <a:ahLst/>
              <a:cxnLst/>
              <a:rect l="l" t="t" r="r" b="b"/>
              <a:pathLst>
                <a:path w="7452360" h="9525">
                  <a:moveTo>
                    <a:pt x="0" y="0"/>
                  </a:moveTo>
                  <a:lnTo>
                    <a:pt x="745236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90016" y="437235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经营数据口径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414016" y="4372356"/>
              <a:ext cx="4023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财务运营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800856" y="4372356"/>
              <a:ext cx="117043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统一收入、毛利、回款字段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10656" y="4372356"/>
              <a:ext cx="78638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月会引用同一张表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34656" y="437235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月度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807720" y="4617720"/>
              <a:ext cx="7452360" cy="9525"/>
            </a:xfrm>
            <a:custGeom>
              <a:avLst/>
              <a:gdLst/>
              <a:ahLst/>
              <a:cxnLst/>
              <a:rect l="l" t="t" r="r" b="b"/>
              <a:pathLst>
                <a:path w="7452360" h="9525">
                  <a:moveTo>
                    <a:pt x="0" y="0"/>
                  </a:moveTo>
                  <a:lnTo>
                    <a:pt x="745236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0016" y="475335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风险客户处理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414016" y="4753356"/>
              <a:ext cx="45514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客成+销售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800856" y="4753356"/>
              <a:ext cx="85359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TOP10风险客户挽回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10656" y="4753356"/>
              <a:ext cx="8967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Owner和截止日明确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34656" y="475335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周度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686800" y="2667000"/>
            <a:ext cx="2834640" cy="2758440"/>
            <a:chOff x="8686800" y="2667000"/>
            <a:chExt cx="2834640" cy="2758440"/>
          </a:xfrm>
        </p:grpSpPr>
        <p:sp>
          <p:nvSpPr>
            <p:cNvPr id="62" name="Rectangle 62"/>
            <p:cNvSpPr/>
            <p:nvPr/>
          </p:nvSpPr>
          <p:spPr>
            <a:xfrm>
              <a:off x="8686800" y="2667000"/>
              <a:ext cx="2834640" cy="2743200"/>
            </a:xfrm>
            <a:prstGeom prst="roundRect">
              <a:avLst>
                <a:gd name="adj" fmla="val 4444"/>
              </a:avLst>
            </a:prstGeom>
            <a:solidFill>
              <a:srgbClr val="0F3B73"/>
            </a:solidFill>
            <a:ln w="9525">
              <a:solidFill>
                <a:srgbClr val="0F3B73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854440" y="285750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复盘闭环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869680" y="3307080"/>
              <a:ext cx="2468880" cy="32004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B8D8F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996934" y="342861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485376" y="3435096"/>
              <a:ext cx="128348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财务/CRM/PMO/客成四张表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869680" y="3749040"/>
              <a:ext cx="2468880" cy="32004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B8D8F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996934" y="387057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判断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85376" y="3877056"/>
              <a:ext cx="14296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收入质量、结构贡献、效率短板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869680" y="4191000"/>
              <a:ext cx="2468880" cy="32004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B8D8F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996934" y="43125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行动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485376" y="4319016"/>
              <a:ext cx="132885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打法包、效率专项、复购台账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869680" y="4632960"/>
              <a:ext cx="2468880" cy="32004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B8D8F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996934" y="475449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验证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485376" y="4760976"/>
              <a:ext cx="134397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下月经营会复盘指标和Owner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869680" y="5135880"/>
              <a:ext cx="2468880" cy="289560"/>
            </a:xfrm>
            <a:prstGeom prst="roundRect">
              <a:avLst>
                <a:gd name="adj" fmla="val 36842"/>
              </a:avLst>
            </a:prstGeom>
            <a:solidFill>
              <a:srgbClr val="F59E0B"/>
            </a:solidFill>
            <a:ln w="9525">
              <a:solidFill>
                <a:srgbClr val="F59E0B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012936" y="5248656"/>
              <a:ext cx="193372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禁止只写：持续推进、加强协同、重点关注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70560" y="5593080"/>
            <a:ext cx="10850880" cy="762000"/>
            <a:chOff x="670560" y="5593080"/>
            <a:chExt cx="10850880" cy="762000"/>
          </a:xfrm>
        </p:grpSpPr>
        <p:sp>
          <p:nvSpPr>
            <p:cNvPr id="79" name="Rectangle 79"/>
            <p:cNvSpPr/>
            <p:nvPr/>
          </p:nvSpPr>
          <p:spPr>
            <a:xfrm>
              <a:off x="670560" y="5593080"/>
              <a:ext cx="10850880" cy="381000"/>
            </a:xfrm>
            <a:prstGeom prst="roundRect">
              <a:avLst>
                <a:gd name="adj" fmla="val 32000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87730" y="5739765"/>
              <a:ext cx="66764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行动页收口：每项行动必须有责任人、交付物、检查标准和复盘节奏；缺指标时写“待补口径+Owner”，不能删掉风险。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70560" y="6096000"/>
              <a:ext cx="10850880" cy="259080"/>
            </a:xfrm>
            <a:prstGeom prst="roundRect">
              <a:avLst>
                <a:gd name="adj" fmla="val 41176"/>
              </a:avLst>
            </a:prstGeom>
            <a:solidFill>
              <a:srgbClr val="0F3B73"/>
            </a:solidFill>
            <a:ln w="9525">
              <a:solidFill>
                <a:srgbClr val="0F3B73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89254" y="6187059"/>
              <a:ext cx="3733076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年度总结不是荣誉清单，最后必须形成来年经营台账，让下一次复盘可追踪。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661416" y="6368796"/>
            <a:ext cx="3498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素材：年度财务月报 / CRM 商机与合同清单 / 交付 PMO 台账 / 客户成功复购台账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439656" y="6368796"/>
            <a:ext cx="120883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年度经营总结 / 09-actions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