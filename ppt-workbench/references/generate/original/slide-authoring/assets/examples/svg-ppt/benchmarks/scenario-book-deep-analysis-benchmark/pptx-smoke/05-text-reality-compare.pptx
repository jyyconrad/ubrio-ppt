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wide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eck-framework-background-textur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Group 5"/>
          <p:cNvGrpSpPr/>
          <p:nvPr/>
        </p:nvGrpSpPr>
        <p:grpSpPr>
          <a:xfrm>
            <a:off x="729615" y="781050"/>
            <a:ext cx="7205662" cy="838200"/>
            <a:chOff x="729615" y="781050"/>
            <a:chExt cx="7205662" cy="838200"/>
          </a:xfrm>
        </p:grpSpPr>
        <p:sp>
          <p:nvSpPr>
            <p:cNvPr id="2" name="Rectangle 2"/>
            <p:cNvSpPr/>
            <p:nvPr/>
          </p:nvSpPr>
          <p:spPr>
            <a:xfrm>
              <a:off x="762000" y="781050"/>
              <a:ext cx="685800" cy="47625"/>
            </a:xfrm>
            <a:prstGeom prst="rect">
              <a:avLst/>
            </a:prstGeom>
            <a:solidFill>
              <a:srgbClr val="A1620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615" y="924878"/>
              <a:ext cx="720566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374151"/>
                  </a:solidFill>
                  <a:latin typeface="Times New Roman"/>
                  <a:ea typeface="Songti SC"/>
                  <a:cs typeface="Times New Roman"/>
                </a:rPr>
                <a:t>文本里的命运，与现实中的自我选择彼此照亮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5810" y="1375410"/>
              <a:ext cx="4511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PingFang SC"/>
                  <a:cs typeface="Arial"/>
                </a:rPr>
                <a:t>对照页把书中判断、现实经验和讲者观点放在同一页完成互证。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19150" y="1733550"/>
            <a:ext cx="2860358" cy="3676650"/>
            <a:chOff x="819150" y="1733550"/>
            <a:chExt cx="2860358" cy="3676650"/>
          </a:xfrm>
        </p:grpSpPr>
        <p:sp>
          <p:nvSpPr>
            <p:cNvPr id="6" name="Rectangle 6"/>
            <p:cNvSpPr/>
            <p:nvPr/>
          </p:nvSpPr>
          <p:spPr>
            <a:xfrm>
              <a:off x="819150" y="1733550"/>
              <a:ext cx="2724150" cy="3676650"/>
            </a:xfrm>
            <a:prstGeom prst="roundRect">
              <a:avLst>
                <a:gd name="adj" fmla="val 6993"/>
              </a:avLst>
            </a:prstGeom>
            <a:solidFill>
              <a:srgbClr val="F7F0E5">
                <a:alpha val="78000"/>
              </a:srgbClr>
            </a:solidFill>
            <a:ln w="9525">
              <a:solidFill>
                <a:srgbClr val="D6C8B8">
                  <a:alpha val="78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90600" y="1905000"/>
              <a:ext cx="2381250" cy="3067050"/>
            </a:xfrm>
            <a:prstGeom prst="roundRect">
              <a:avLst>
                <a:gd name="adj" fmla="val 6400"/>
              </a:avLst>
            </a:prstGeom>
            <a:noFill/>
            <a:ln w="9525">
              <a:solidFill>
                <a:srgbClr val="E7D2A4">
                  <a:alpha val="85000"/>
                </a:srgbClr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4418" y="5038249"/>
              <a:ext cx="26250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PingFang SC"/>
                  <a:cs typeface="Arial"/>
                </a:rPr>
                <a:t>用户上传《命运》样本中抽取的深色影像素材</a:t>
              </a:r>
            </a:p>
          </p:txBody>
        </p:sp>
      </p:grpSp>
      <p:sp>
        <p:nvSpPr>
          <p:cNvPr id="10" name="Rectangle 10"/>
          <p:cNvSpPr/>
          <p:nvPr/>
        </p:nvSpPr>
        <p:spPr>
          <a:xfrm>
            <a:off x="4095750" y="1657350"/>
            <a:ext cx="7239000" cy="781050"/>
          </a:xfrm>
          <a:prstGeom prst="roundRect">
            <a:avLst>
              <a:gd name="adj" fmla="val 19512"/>
            </a:avLst>
          </a:prstGeom>
          <a:solidFill>
            <a:srgbClr val="FFFCF6">
              <a:alpha val="74000"/>
            </a:srgbClr>
          </a:solidFill>
          <a:ln w="9525">
            <a:solidFill>
              <a:srgbClr val="D6C8B8">
                <a:alpha val="74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306252" y="1827371"/>
            <a:ext cx="43524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374151"/>
                </a:solidFill>
                <a:latin typeface="Times New Roman"/>
                <a:ea typeface="Songti SC"/>
                <a:cs typeface="Times New Roman"/>
              </a:rPr>
              <a:t>文本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82615" y="1839278"/>
            <a:ext cx="33870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Times New Roman"/>
                <a:ea typeface="Songti SC"/>
                <a:cs typeface="Times New Roman"/>
              </a:rPr>
              <a:t>作品提供人物如何被环境塑造的细节，承担叙事证据。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095750" y="2647950"/>
            <a:ext cx="7239000" cy="781050"/>
          </a:xfrm>
          <a:prstGeom prst="roundRect">
            <a:avLst>
              <a:gd name="adj" fmla="val 19512"/>
            </a:avLst>
          </a:prstGeom>
          <a:solidFill>
            <a:srgbClr val="FFFCF6">
              <a:alpha val="74000"/>
            </a:srgbClr>
          </a:solidFill>
          <a:ln w="9525">
            <a:solidFill>
              <a:srgbClr val="D6C8B8">
                <a:alpha val="74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306252" y="2817971"/>
            <a:ext cx="43524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374151"/>
                </a:solidFill>
                <a:latin typeface="Times New Roman"/>
                <a:ea typeface="Songti SC"/>
                <a:cs typeface="Times New Roman"/>
              </a:rPr>
              <a:t>现实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82615" y="2829878"/>
            <a:ext cx="36671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Times New Roman"/>
                <a:ea typeface="Songti SC"/>
                <a:cs typeface="Times New Roman"/>
              </a:rPr>
              <a:t>现实经验提供听众理解入口，避免文学解读变成自说自话。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095750" y="3638550"/>
            <a:ext cx="7239000" cy="781050"/>
          </a:xfrm>
          <a:prstGeom prst="roundRect">
            <a:avLst>
              <a:gd name="adj" fmla="val 19512"/>
            </a:avLst>
          </a:prstGeom>
          <a:solidFill>
            <a:srgbClr val="FFFCF6">
              <a:alpha val="74000"/>
            </a:srgbClr>
          </a:solidFill>
          <a:ln w="9525">
            <a:solidFill>
              <a:srgbClr val="D6C8B8">
                <a:alpha val="74000"/>
              </a:srgbClr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306252" y="3808571"/>
            <a:ext cx="43524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374151"/>
                </a:solidFill>
                <a:latin typeface="Times New Roman"/>
                <a:ea typeface="Songti SC"/>
                <a:cs typeface="Times New Roman"/>
              </a:rPr>
              <a:t>观点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82615" y="3820478"/>
            <a:ext cx="39471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Times New Roman"/>
                <a:ea typeface="Songti SC"/>
                <a:cs typeface="Times New Roman"/>
              </a:rPr>
              <a:t>讲者需要给出判断：所谓命运，是处境与回应互相塑形的结果。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095750" y="4972050"/>
            <a:ext cx="7239000" cy="723900"/>
          </a:xfrm>
          <a:prstGeom prst="roundRect">
            <a:avLst>
              <a:gd name="adj" fmla="val 23684"/>
            </a:avLst>
          </a:prstGeom>
          <a:solidFill>
            <a:srgbClr val="F7F0E5">
              <a:alpha val="72000"/>
            </a:srgbClr>
          </a:solidFill>
          <a:ln w="9525">
            <a:solidFill>
              <a:srgbClr val="D6C8B8">
                <a:alpha val="72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293870" y="5017770"/>
            <a:ext cx="24578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16207"/>
                </a:solidFill>
                <a:latin typeface="Times New Roman"/>
                <a:ea typeface="Songti SC"/>
                <a:cs typeface="Times New Roman"/>
              </a:rPr>
              <a:t>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32008" y="5139214"/>
            <a:ext cx="556657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374151"/>
                </a:solidFill>
                <a:latin typeface="Times New Roman"/>
                <a:ea typeface="Songti SC"/>
                <a:cs typeface="Times New Roman"/>
              </a:rPr>
              <a:t>好的读书分享不是复述情节，而是让一本书解释我们正在经历的生活。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1522" y="6330791"/>
            <a:ext cx="32498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C6F64"/>
                </a:solidFill>
                <a:latin typeface="Arial"/>
                <a:ea typeface="PingFang SC"/>
                <a:cs typeface="Arial"/>
              </a:rPr>
              <a:t>来源：用户上传样本 PPT / style-literary-documentary-cn.md</a:t>
            </a:r>
          </a:p>
        </p:txBody>
      </p:sp>
      <p:pic>
        <p:nvPicPr>
          <p:cNvPr id="24" name="暗色森林/人物意象背景图，用于文学纪录片式页面" descr="native-image-destiny-cover-like-photo.png"/>
          <p:cNvPicPr>
            <a:picLocks noChangeAspect="1"/>
          </p:cNvPicPr>
          <p:nvPr/>
        </p:nvPicPr>
        <p:blipFill>
          <a:blip r:embed="rId2"/>
          <a:srcRect l="4722" r="4722"/>
          <a:stretch>
            <a:fillRect/>
          </a:stretch>
        </p:blipFill>
        <p:spPr>
          <a:xfrm>
            <a:off x="819129" y="1733550"/>
            <a:ext cx="2724081" cy="3676649"/>
          </a:xfrm>
          <a:prstGeom prst="round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