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0560" y="784860"/>
            <a:ext cx="22399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国产智能协同平台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4652" y="1311402"/>
            <a:ext cx="6433490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三项能力重构政企客户协同闭环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512" y="2023872"/>
            <a:ext cx="5605272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从单点提醒升级为任务识别、过程跟踪和结果复盘的端到端协同。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281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对象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5830" y="4600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政企协同场景</a:t>
            </a:r>
          </a:p>
        </p:txBody>
      </p:sp>
      <p:sp>
        <p:nvSpPr>
          <p:cNvPr id="9" name="Rectangle 9"/>
          <p:cNvSpPr/>
          <p:nvPr/>
        </p:nvSpPr>
        <p:spPr>
          <a:xfrm>
            <a:off x="42672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095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7230" y="4600575"/>
            <a:ext cx="15292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识别-跟踪-复盘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486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0909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行动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8630" y="4600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开放试用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5486400"/>
            <a:ext cx="10820400" cy="548640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0402" y="5706237"/>
            <a:ext cx="4626011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示例重点：这是一套多页 deck 的封面，不作为内容页结构复用。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656" y="6444996"/>
            <a:ext cx="351792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01-cover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24438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发布目录：痛点、能力、价值验证和发布计划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43190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产品发布 deck 应从用户问题展开，而不是从功能清单展开。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09550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6340" y="232791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4436" y="227304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用户痛点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9770" y="254698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旅程断点与协同成本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1008" y="24185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痛点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14400" y="299466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96340" y="322707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4436" y="317220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产品能力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9770" y="344614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任务识别、跟踪、复盘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008" y="33177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" y="389382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96340" y="412623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4436" y="407136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价值验证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9770" y="434530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试点案例、前后对比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1008" y="42169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证据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" y="479298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96340" y="5025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4436" y="497052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发布行动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9770" y="524446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试用、样板、伙伴培训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1008" y="51160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行动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59473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02-agenda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47700" y="819150"/>
            <a:ext cx="595693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第一部分：用户问题与场景断点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8274" y="1466469"/>
            <a:ext cx="353148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先讲用户为什么需要，再讲产品怎么解决。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20574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45720">
            <a:solidFill>
              <a:srgbClr val="1A3A6B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143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402080" y="323850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7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核心问题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3604" y="4059174"/>
            <a:ext cx="218770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协同事项跨系统、跨部门、跨周期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5890" y="4413885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责任链和结果链断裂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355080" y="323850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表达方式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6604" y="4059174"/>
            <a:ext cx="1654835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旅程图 + 前后对比 + 案例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8890" y="441388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功能必须映射收益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656" y="6444996"/>
            <a:ext cx="388757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03-section-user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473734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用户旅程：断点出现在会议后、执行中和复盘时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5908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发布页先讲用户痛点，不先堆功能。</a:t>
            </a:r>
          </a:p>
        </p:txBody>
      </p:sp>
      <p:sp>
        <p:nvSpPr>
          <p:cNvPr id="6" name="Line 6"/>
          <p:cNvSpPr/>
          <p:nvPr/>
        </p:nvSpPr>
        <p:spPr>
          <a:xfrm>
            <a:off x="1143000" y="35814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45720">
            <a:solidFill>
              <a:srgbClr val="D9E2EC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112520" y="3383280"/>
            <a:ext cx="396240" cy="39624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70197" y="352044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9" name="Rectangle 9"/>
          <p:cNvSpPr/>
          <p:nvPr/>
        </p:nvSpPr>
        <p:spPr>
          <a:xfrm>
            <a:off x="990600" y="21717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55954" y="237324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会议后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1288" y="2715768"/>
            <a:ext cx="117652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纪要无法直接变任务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812" y="3018282"/>
            <a:ext cx="112467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责任人和时间易丢失</a:t>
            </a:r>
          </a:p>
        </p:txBody>
      </p:sp>
      <p:sp>
        <p:nvSpPr>
          <p:cNvPr id="13" name="Ellipse 13"/>
          <p:cNvSpPr/>
          <p:nvPr/>
        </p:nvSpPr>
        <p:spPr>
          <a:xfrm>
            <a:off x="3665220" y="3383280"/>
            <a:ext cx="396240" cy="39624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8018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543300" y="41148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708654" y="431634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执行中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13988" y="465886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管理者看不到进展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15512" y="4961382"/>
            <a:ext cx="900646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多项目状态分散</a:t>
            </a:r>
          </a:p>
        </p:txBody>
      </p:sp>
      <p:sp>
        <p:nvSpPr>
          <p:cNvPr id="19" name="Ellipse 19"/>
          <p:cNvSpPr/>
          <p:nvPr/>
        </p:nvSpPr>
        <p:spPr>
          <a:xfrm>
            <a:off x="6217920" y="3383280"/>
            <a:ext cx="396240" cy="39624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545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0" y="21717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261354" y="237324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协同中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66688" y="271576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跨部门依赖不透明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68212" y="3018282"/>
            <a:ext cx="101266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风险不能及时升级</a:t>
            </a:r>
          </a:p>
        </p:txBody>
      </p:sp>
      <p:sp>
        <p:nvSpPr>
          <p:cNvPr id="25" name="Ellipse 25"/>
          <p:cNvSpPr/>
          <p:nvPr/>
        </p:nvSpPr>
        <p:spPr>
          <a:xfrm>
            <a:off x="8770620" y="3383280"/>
            <a:ext cx="396240" cy="39624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07294" y="352044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648700" y="4114800"/>
            <a:ext cx="2286000" cy="1409700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814054" y="4316349"/>
            <a:ext cx="614724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复盘时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19388" y="465886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经验难沉淀为模板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20912" y="4961382"/>
            <a:ext cx="101266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下一次仍从零开始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863569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02-pain-journey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062358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产品能力：围绕任务闭环构建三层架构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能力页用架构关系解释功能价值。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4495800" y="2781300"/>
            <a:ext cx="3200400" cy="1066800"/>
          </a:xfrm>
          <a:prstGeom prst="roundRect">
            <a:avLst>
              <a:gd name="adj" fmla="val 17143"/>
            </a:avLst>
          </a:prstGeom>
          <a:solidFill>
            <a:srgbClr val="1A3A6B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69077" y="3044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781" y="3426714"/>
            <a:ext cx="167643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 / 流程 / 权限 / 反馈</a:t>
            </a:r>
          </a:p>
        </p:txBody>
      </p:sp>
      <p:sp>
        <p:nvSpPr>
          <p:cNvPr id="9" name="Rectangle 9"/>
          <p:cNvSpPr/>
          <p:nvPr/>
        </p:nvSpPr>
        <p:spPr>
          <a:xfrm>
            <a:off x="838200" y="21717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9274" y="23884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任务识别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4608" y="27386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自动抽取责任事项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6132" y="3041142"/>
            <a:ext cx="136550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会议、文档、聊天多源输入</a:t>
            </a:r>
          </a:p>
        </p:txBody>
      </p:sp>
      <p:sp>
        <p:nvSpPr>
          <p:cNvPr id="13" name="Line 13"/>
          <p:cNvSpPr/>
          <p:nvPr/>
        </p:nvSpPr>
        <p:spPr>
          <a:xfrm>
            <a:off x="3810000" y="2819400"/>
            <a:ext cx="2286000" cy="495300"/>
          </a:xfrm>
          <a:custGeom>
            <a:avLst/>
            <a:gdLst/>
            <a:ahLst/>
            <a:cxnLst/>
            <a:rect l="l" t="t" r="r" b="b"/>
            <a:pathLst>
              <a:path w="2286000" h="495300">
                <a:moveTo>
                  <a:pt x="0" y="0"/>
                </a:moveTo>
                <a:lnTo>
                  <a:pt x="2286000" y="495300"/>
                </a:lnTo>
              </a:path>
            </a:pathLst>
          </a:custGeom>
          <a:noFill/>
          <a:ln w="22860">
            <a:solidFill>
              <a:srgbClr val="D9E2EC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153400" y="21717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364474" y="23884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过程跟踪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69808" y="2738628"/>
            <a:ext cx="117652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按项目和责任人归集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1332" y="3041142"/>
            <a:ext cx="1141476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看板、提醒、风险升级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2819400"/>
            <a:ext cx="2057400" cy="495300"/>
          </a:xfrm>
          <a:custGeom>
            <a:avLst/>
            <a:gdLst/>
            <a:ahLst/>
            <a:cxnLst/>
            <a:rect l="l" t="t" r="r" b="b"/>
            <a:pathLst>
              <a:path w="2057400" h="495300">
                <a:moveTo>
                  <a:pt x="2057400" y="0"/>
                </a:moveTo>
                <a:lnTo>
                  <a:pt x="0" y="495300"/>
                </a:lnTo>
              </a:path>
            </a:pathLst>
          </a:custGeom>
          <a:noFill/>
          <a:ln w="22860">
            <a:solidFill>
              <a:srgbClr val="D9E2EC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38200" y="42672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4927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结果复盘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4608" y="4834128"/>
            <a:ext cx="117652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生成复盘建议和模板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6132" y="513664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沉淀有效动作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0" y="3314700"/>
            <a:ext cx="2286000" cy="1600200"/>
          </a:xfrm>
          <a:custGeom>
            <a:avLst/>
            <a:gdLst/>
            <a:ahLst/>
            <a:cxnLst/>
            <a:rect l="l" t="t" r="r" b="b"/>
            <a:pathLst>
              <a:path w="2286000" h="1600200">
                <a:moveTo>
                  <a:pt x="0" y="1600200"/>
                </a:moveTo>
                <a:lnTo>
                  <a:pt x="2286000" y="0"/>
                </a:lnTo>
              </a:path>
            </a:pathLst>
          </a:custGeom>
          <a:noFill/>
          <a:ln w="22860">
            <a:solidFill>
              <a:srgbClr val="D9E2EC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153400" y="42672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6447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权限审计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9808" y="48341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满足政企安全要求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71332" y="5136642"/>
            <a:ext cx="80543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可追踪、可留痕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0" y="3314700"/>
            <a:ext cx="2057400" cy="1600200"/>
          </a:xfrm>
          <a:custGeom>
            <a:avLst/>
            <a:gdLst/>
            <a:ahLst/>
            <a:cxnLst/>
            <a:rect l="l" t="t" r="r" b="b"/>
            <a:pathLst>
              <a:path w="2057400" h="1600200">
                <a:moveTo>
                  <a:pt x="2057400" y="16002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D9E2E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76656" y="6444996"/>
            <a:ext cx="373395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03-capability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价值差异：从单点工具升级为组织级协同系统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功能亮点必须对应用户收益。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133600"/>
            <a:ext cx="518160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44880" y="249936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Before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8784" y="2851404"/>
            <a:ext cx="983590" cy="341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传统工具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6404" y="3327654"/>
            <a:ext cx="161163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提醒、表格和群消息割裂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928" y="376732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人工维护成本高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928" y="4026408"/>
            <a:ext cx="90129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责任链不清晰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324600" y="2133600"/>
            <a:ext cx="518160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83680" y="2499360"/>
            <a:ext cx="492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After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7584" y="2851404"/>
            <a:ext cx="748360" cy="341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新平台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5204" y="3327654"/>
            <a:ext cx="146761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事项自动进入执行闭环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6728" y="3767328"/>
            <a:ext cx="154137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责任、进度、结果可追踪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86728" y="4026408"/>
            <a:ext cx="102931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管理者一屏掌握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5334000"/>
            <a:ext cx="10820400" cy="59436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29640" y="5570220"/>
            <a:ext cx="29708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Value：减少人工汇总，提高督办透明度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49446" y="5589651"/>
            <a:ext cx="1930146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适配会议、专项督办、项目协同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6656" y="6444996"/>
            <a:ext cx="380116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04-comparison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062358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试点案例：专项督办场景验证闭环价值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案例页要写对象、动作、结果和待补指标。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286000"/>
            <a:ext cx="3276600" cy="236220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0120" y="2613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客户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6310" y="297751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对象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2406" y="3433191"/>
            <a:ext cx="125006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某政企客户专项督办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930" y="386524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事项多、责任链长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2286000"/>
            <a:ext cx="3276600" cy="236220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655820" y="2613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动作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52010" y="297751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动作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8106" y="3433191"/>
            <a:ext cx="125006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会议纪要转任务清单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9630" y="386524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责任人自动归集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9630" y="412432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风险定期提醒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77200" y="2286000"/>
            <a:ext cx="3276600" cy="236220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51520" y="26136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结果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7710" y="297751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53806" y="3433191"/>
            <a:ext cx="11140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人工汇总成本下降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55330" y="386524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需补具体效率指标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55330" y="412432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- 需补客户证言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" y="5295900"/>
            <a:ext cx="10820400" cy="624840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29640" y="5554980"/>
            <a:ext cx="4231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示例重点：案例页必须有对象、动作、结果和待补证据。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6656" y="6444996"/>
            <a:ext cx="348912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05-case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473734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发布指标：试用、转化、活跃和留存必须可追踪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发布计划页不能只写市场动作。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19300"/>
            <a:ext cx="10820400" cy="38862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2181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证据项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3384" y="232181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来源/口径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9884" y="2321814"/>
            <a:ext cx="108596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必须补齐的信息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984" y="232181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类型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4967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试用客户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54908" y="2769108"/>
            <a:ext cx="81168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CRM 目标名单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32170" y="2775585"/>
            <a:ext cx="1427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首批 20 家；行业分布待补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0508" y="27691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试用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8422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50717"/>
            <a:ext cx="50781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转化率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4908" y="347014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销售漏斗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32170" y="347662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试用到签约；周期待补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508" y="34701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转化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852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151757"/>
            <a:ext cx="50781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活跃度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54908" y="417118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产品埋点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32170" y="417766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任务创建、闭环率；周活待补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60508" y="41711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活跃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686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85279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客户反馈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54908" y="487222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访谈记录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32170" y="487870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证言、问题、需求池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60508" y="487222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反馈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404119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08-release-metrics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81201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5709514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发布计划：先试用验证，再行业复制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发布收口页给渠道、节奏和验收指标。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57400"/>
            <a:ext cx="10820400" cy="3810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事项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67684" y="235229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责任/判断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82284" y="235229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关键动作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4684" y="235229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标签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3443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开放试用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9208" y="2753868"/>
            <a:ext cx="68366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产品 + 客成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4570" y="2760345"/>
            <a:ext cx="21291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首批 20 家目标客户；2 周完成试用反馈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6208" y="27538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启动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5374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0499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行业样板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9208" y="342442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解决方案团队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4570" y="343090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沉淀 3 个场景模板；形成销售话术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6208" y="342442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复制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24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07555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伙伴培训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9208" y="409498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渠道团队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84570" y="410146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输出演示脚本；覆盖重点区域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46208" y="40949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放大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5948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D9E2E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74611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指标复盘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69208" y="476554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运营团队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84570" y="4772025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试用转化、活跃、留存；月度发布迭代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46208" y="47655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81076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06-launch-plan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6679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产品发布 / appendix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5003825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附录：发布素材与演示资产清单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5189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弱模型参考时要知道发布 deck 还需要哪些素材。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838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69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演示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4514" y="2731389"/>
            <a:ext cx="943206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Demo 素材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9848" y="3051048"/>
            <a:ext cx="93969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场景脚本 / 截图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372" y="3277362"/>
            <a:ext cx="115827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会议转任务 / 督办看板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03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销售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98514" y="27313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销售素材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3848" y="305104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一页纸 / FAQ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5372" y="3277362"/>
            <a:ext cx="104626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行业话术 / 竞品回应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69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客户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4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客户素材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848" y="4803648"/>
            <a:ext cx="93969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试点案例 / 证言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1372" y="5029962"/>
            <a:ext cx="104626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授权范围 / 指标口径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172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03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1A3A6B"/>
                </a:solidFill>
                <a:latin typeface="Arial"/>
                <a:ea typeface="Microsoft YaHei"/>
                <a:cs typeface="Arial"/>
              </a:rPr>
              <a:t>运营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98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运营素材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3848" y="4803648"/>
            <a:ext cx="106771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试用流程 / 反馈表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5372" y="5029962"/>
            <a:ext cx="104626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上线节奏 / 回访机制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65234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示例：产品发布 / 10-appendix / 来源：模拟业务素材，真实生成时需替换为用户证据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