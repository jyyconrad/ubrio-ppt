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5759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硕士论文答辩 / 智慧城市数据治理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8248117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面向多源数据口径一致性的识别方法研究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5605272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以城市治理数据为对象，构建可解释、可复核的半自动识别流程。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口径不一致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1539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规则 + 语义匹配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验证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实验指标待补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51792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2443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76804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答辩目录：问题、方法、实验、贡献和展望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1988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学术 deck 需要遵循答辩委员会的审查路径。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132729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研究背景与问题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现有方法不足、研究问题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问题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95764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方法与框架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模型、流程、输入输出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方法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95764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实验与结果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基线、指标、消融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实验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95764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创新与不足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贡献、局限、展望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结论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59473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7700" y="819150"/>
            <a:ext cx="59569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第一部分：研究问题与理论价值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274" y="1466469"/>
            <a:ext cx="2979420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先证明问题存在，再进入方法设计。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2057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45720">
            <a:solidFill>
              <a:srgbClr val="2563EB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43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02080" y="3238500"/>
            <a:ext cx="2069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Q1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答辩问题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604" y="4059174"/>
            <a:ext cx="146761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为什么这个问题重要？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890" y="441388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治理数据的一致性影响决策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55080" y="323850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Method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回答方式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6604" y="4059174"/>
            <a:ext cx="20868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背景冲突 + 现有不足 + 研究目标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441388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避免直接讲模型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" y="6444996"/>
            <a:ext cx="407479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03-section-question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76804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研究背景：多源数据治理面临三类现实冲突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答辩页用 SCQA 说明为什么这个问题值得研究。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1943100"/>
            <a:ext cx="4495800" cy="3810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8502" y="2250567"/>
            <a:ext cx="1018718" cy="353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4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研究问题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5360" y="2781300"/>
            <a:ext cx="37269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不同部门的数据口径、周期和责任主体存在差异。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646" y="3318891"/>
            <a:ext cx="109364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人工排查成本高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646" y="3608451"/>
            <a:ext cx="1365675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影响治理决策一致性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90600" y="4953000"/>
            <a:ext cx="1676400" cy="3048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222248" y="50551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问题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91200" y="1943100"/>
            <a:ext cx="57150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078474" y="215988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冲突一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3046" y="2488311"/>
            <a:ext cx="978027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指标定义不统一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6094" y="2727579"/>
            <a:ext cx="1699622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同名指标含义不同 / 跨部门映射缺失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91200" y="3200400"/>
            <a:ext cx="57150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078474" y="341718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冲突二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3046" y="3745611"/>
            <a:ext cx="11140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异常发现依赖经验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86094" y="3984879"/>
            <a:ext cx="128357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缺少自动排序 / 复核压力大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91200" y="4457700"/>
            <a:ext cx="57150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78474" y="467448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冲突三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83046" y="5002911"/>
            <a:ext cx="70599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责任闭环弱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6094" y="5242179"/>
            <a:ext cx="2011661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发现问题后难追踪整改 / 反馈不能反哺模型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6656" y="6444996"/>
            <a:ext cx="380596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02-background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17942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方法框架：规则约束、语义匹配和人工复核协同工作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方法页要展示模块输入输出，不只放框图名词。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4495800" y="2781300"/>
            <a:ext cx="3200400" cy="106680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69077" y="3044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核心平台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781" y="3426714"/>
            <a:ext cx="16764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数据 / 流程 / 权限 / 反馈</a:t>
            </a:r>
          </a:p>
        </p:txBody>
      </p:sp>
      <p:sp>
        <p:nvSpPr>
          <p:cNvPr id="9" name="Rectangle 9"/>
          <p:cNvSpPr/>
          <p:nvPr/>
        </p:nvSpPr>
        <p:spPr>
          <a:xfrm>
            <a:off x="8382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9274" y="2388489"/>
            <a:ext cx="1001173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口径知识库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4608" y="273862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沉淀指标定义和映射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6132" y="3041142"/>
            <a:ext cx="114147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字段、周期、责任主体</a:t>
            </a:r>
          </a:p>
        </p:txBody>
      </p:sp>
      <p:sp>
        <p:nvSpPr>
          <p:cNvPr id="13" name="Line 13"/>
          <p:cNvSpPr/>
          <p:nvPr/>
        </p:nvSpPr>
        <p:spPr>
          <a:xfrm>
            <a:off x="3810000" y="2819400"/>
            <a:ext cx="2286000" cy="495300"/>
          </a:xfrm>
          <a:custGeom>
            <a:avLst/>
            <a:gdLst/>
            <a:ahLst/>
            <a:cxnLst/>
            <a:rect l="l" t="t" r="r" b="b"/>
            <a:pathLst>
              <a:path w="2286000" h="495300">
                <a:moveTo>
                  <a:pt x="0" y="0"/>
                </a:moveTo>
                <a:lnTo>
                  <a:pt x="2286000" y="495300"/>
                </a:lnTo>
              </a:path>
            </a:pathLst>
          </a:custGeom>
          <a:noFill/>
          <a:ln w="22860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1534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364474" y="23884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候选识别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69808" y="27386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生成异常候选列表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1332" y="3041142"/>
            <a:ext cx="10462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规则过滤 + 语义匹配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2819400"/>
            <a:ext cx="2057400" cy="495300"/>
          </a:xfrm>
          <a:custGeom>
            <a:avLst/>
            <a:gdLst/>
            <a:ahLst/>
            <a:cxnLst/>
            <a:rect l="l" t="t" r="r" b="b"/>
            <a:pathLst>
              <a:path w="2057400" h="495300">
                <a:moveTo>
                  <a:pt x="2057400" y="0"/>
                </a:moveTo>
                <a:lnTo>
                  <a:pt x="0" y="495300"/>
                </a:lnTo>
              </a:path>
            </a:pathLst>
          </a:custGeom>
          <a:noFill/>
          <a:ln w="22860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382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492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复核流程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4608" y="483412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专家确认和标注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132" y="5136642"/>
            <a:ext cx="102946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结果可解释、可追踪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0" y="3314700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0" y="1600200"/>
                </a:moveTo>
                <a:lnTo>
                  <a:pt x="2286000" y="0"/>
                </a:lnTo>
              </a:path>
            </a:pathLst>
          </a:custGeom>
          <a:noFill/>
          <a:ln w="22860">
            <a:solidFill>
              <a:srgbClr val="E2E8F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1534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644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反馈迭代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9808" y="48341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复核结果反哺规则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1332" y="5136642"/>
            <a:ext cx="8054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降低误报和漏报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0" y="3314700"/>
            <a:ext cx="2057400" cy="1600200"/>
          </a:xfrm>
          <a:custGeom>
            <a:avLst/>
            <a:gdLst/>
            <a:ahLst/>
            <a:cxnLst/>
            <a:rect l="l" t="t" r="r" b="b"/>
            <a:pathLst>
              <a:path w="2057400" h="1600200">
                <a:moveTo>
                  <a:pt x="2057400" y="16002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76656" y="6444996"/>
            <a:ext cx="361393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03-method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17942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实验结果：关键指标优于规则基线，但泛化仍需验证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实验页必须写基线、指标和结论。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85444" y="226085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准确率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32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待补</a:t>
            </a:r>
          </a:p>
        </p:txBody>
      </p:sp>
      <p:sp>
        <p:nvSpPr>
          <p:cNvPr id="9" name="Rectangle 9"/>
          <p:cNvSpPr/>
          <p:nvPr/>
        </p:nvSpPr>
        <p:spPr>
          <a:xfrm>
            <a:off x="19812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981200" y="2590800"/>
            <a:ext cx="36576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3909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590544" y="226085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召回率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783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待补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6863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686300" y="2590800"/>
            <a:ext cx="33528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0960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295644" y="2260854"/>
            <a:ext cx="15596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F1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834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待补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3914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391400" y="2590800"/>
            <a:ext cx="30480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8011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000744" y="226085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样本量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85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待补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00965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96500" y="2590800"/>
            <a:ext cx="27432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85800" y="3505200"/>
            <a:ext cx="5105400" cy="16002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25830" y="3800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实验设计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1164" y="42115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与规则基线进行对比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2688" y="459028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需补数据集规模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688" y="4834128"/>
            <a:ext cx="12277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需补训练/测试划分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172200" y="3505200"/>
            <a:ext cx="5105400" cy="16002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412230" y="3800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实验结论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17564" y="4211574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方法提升方向成立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19088" y="459028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指标数值待补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19088" y="4834128"/>
            <a:ext cx="115732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跨城市泛化待验证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6656" y="6444996"/>
            <a:ext cx="380116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04-experiment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17942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创新贡献：从人工排查推进到可解释半自动治理流程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创新页用金字塔表达理论、方法和应用层贡献。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4114800" y="2171700"/>
            <a:ext cx="3962400" cy="853440"/>
          </a:xfrm>
          <a:prstGeom prst="roundRect">
            <a:avLst>
              <a:gd name="adj" fmla="val 16071"/>
            </a:avLst>
          </a:prstGeom>
          <a:solidFill>
            <a:srgbClr val="2563EB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370832" y="23667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应用贡献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166" y="2686431"/>
            <a:ext cx="1658112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支撑城市治理数据口径协同</a:t>
            </a:r>
          </a:p>
        </p:txBody>
      </p:sp>
      <p:sp>
        <p:nvSpPr>
          <p:cNvPr id="9" name="Rectangle 9"/>
          <p:cNvSpPr/>
          <p:nvPr/>
        </p:nvSpPr>
        <p:spPr>
          <a:xfrm>
            <a:off x="3200400" y="3276600"/>
            <a:ext cx="5791200" cy="85344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56432" y="34716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方法贡献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61766" y="3791331"/>
            <a:ext cx="1522095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融合规则约束和语义匹配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286000" y="4381500"/>
            <a:ext cx="7620000" cy="85344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542032" y="45765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理论贡献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7366" y="4896231"/>
            <a:ext cx="1522095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构建口径一致性识别框架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10600" y="243840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20912" y="267919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使用提示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7008" y="3127248"/>
            <a:ext cx="115732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层级要有递进关系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7008" y="341680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不把口号当证据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27008" y="370636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- 底层必须可执行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6656" y="6444996"/>
            <a:ext cx="386356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05-contribution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相关工作对比：明确本文方法解决了什么不足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学术页要有对比对象和评价维度。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19300"/>
            <a:ext cx="1082040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2181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证据项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3384" y="232181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来源/口径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9884" y="2321814"/>
            <a:ext cx="10859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必须补齐的信息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984" y="232181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类型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4967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规则方法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4908" y="276910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可解释但覆盖不足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2170" y="277558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维护成本高；难处理语义差异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08" y="2769108"/>
            <a:ext cx="5486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Baseline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8422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5071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统计方法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908" y="347014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可发现异常但解释弱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2170" y="347662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依赖样本规模；跨域泛化不稳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508" y="3470148"/>
            <a:ext cx="5486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Baseline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852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15175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语义匹配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4908" y="4171188"/>
            <a:ext cx="92049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能处理文本差异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2170" y="417766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需要领域知识约束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60508" y="4171188"/>
            <a:ext cx="50828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Related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686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85279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本文方法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4908" y="4872228"/>
            <a:ext cx="1342949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规则 + 语义 + 复核闭环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2170" y="487870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兼顾解释与效率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0508" y="4872228"/>
            <a:ext cx="34698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Ours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90677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08-related-work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81201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不足与展望：补齐实验指标后扩展跨城市验证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答辩收口页主动说明局限和后续研究计划。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57400"/>
            <a:ext cx="10820400" cy="3810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7684" y="235229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责任/判断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2284" y="235229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关键动作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46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标签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34437"/>
            <a:ext cx="98667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实验指标补充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9208" y="2753868"/>
            <a:ext cx="40843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研究者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4570" y="2760345"/>
            <a:ext cx="19370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补准确率/召回率/F1；补显著性说明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6208" y="27538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近期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5374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04997"/>
            <a:ext cx="82705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数据集扩展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9208" y="3424428"/>
            <a:ext cx="40843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课题组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4570" y="343090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增加跨城市样本；补充行业差异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6208" y="34244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中期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24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075557"/>
            <a:ext cx="82705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系统化落地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9208" y="409498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合作单位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4570" y="410146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接入治理平台；记录复核反馈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6208" y="40949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应用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5948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74611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论文完善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69208" y="4765548"/>
            <a:ext cx="28041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作者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4570" y="477202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图表统一口径；强化结论边界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46208" y="4765548"/>
            <a:ext cx="4276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答辩后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78195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06-limitations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6679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学术答辩 / appendix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5003825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附录：实验设置与论文补充材料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答辩附录用于准备老师追问。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838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9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数据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514" y="273138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数据集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9848" y="30510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样本来源 / 标注规则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72" y="3277362"/>
            <a:ext cx="114147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规模、字段、脱敏说明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03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指标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8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评价指标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3848" y="30510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准确率 / 召回率 / F1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5372" y="3277362"/>
            <a:ext cx="8054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定义和计算公式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69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基线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基线模型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" y="4803648"/>
            <a:ext cx="130454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规则、统计、语义匹配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372" y="5029962"/>
            <a:ext cx="8054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参数和实现说明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72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03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消融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98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1E293B"/>
                </a:solidFill>
                <a:latin typeface="Arial"/>
                <a:ea typeface="PingFang SC"/>
                <a:cs typeface="Arial"/>
              </a:rPr>
              <a:t>消融实验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3848" y="4803648"/>
            <a:ext cx="119573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去除规则 / 去除复核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5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验证模块贡献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6523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示例：学术答辩 / 10-appendix / 来源：模拟业务素材，真实生成时需替换为用户证据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