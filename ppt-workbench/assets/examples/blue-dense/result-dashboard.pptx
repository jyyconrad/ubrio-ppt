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14350" y="361950"/>
            <a:ext cx="11163300" cy="714375"/>
            <a:chOff x="514350" y="361950"/>
            <a:chExt cx="11163300" cy="714375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66675" cy="523875"/>
            </a:xfrm>
            <a:prstGeom prst="roundRect">
              <a:avLst>
                <a:gd name="adj" fmla="val 42857"/>
              </a:avLst>
            </a:prstGeom>
            <a:solidFill>
              <a:srgbClr val="0B4E9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12470" y="426720"/>
              <a:ext cx="966216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0A2F61"/>
                  </a:solidFill>
                  <a:latin typeface="Hiragino Sans GB"/>
                  <a:ea typeface="Hiragino Sans GB"/>
                  <a:cs typeface="Hiragino Sans GB"/>
                </a:rPr>
                <a:t>四项运营指标均改善，下一步将三项机制固化到日常作业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28662" y="812006"/>
              <a:ext cx="51720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5B6F86"/>
                  </a:solidFill>
                  <a:latin typeface="Hiragino Sans GB"/>
                  <a:ea typeface="Hiragino Sans GB"/>
                  <a:cs typeface="Hiragino Sans GB"/>
                </a:rPr>
                <a:t>仓储订单运营复盘｜合成演示｜对比口径：演示期起点与演示期当前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14350" y="1066800"/>
              <a:ext cx="11163300" cy="9525"/>
            </a:xfrm>
            <a:custGeom>
              <a:avLst/>
              <a:gdLst/>
              <a:ahLst/>
              <a:cxnLst/>
              <a:rect l="l" t="t" r="r" b="b"/>
              <a:pathLst>
                <a:path w="11163300" h="9525">
                  <a:moveTo>
                    <a:pt x="0" y="0"/>
                  </a:moveTo>
                  <a:lnTo>
                    <a:pt x="11163300" y="0"/>
                  </a:lnTo>
                </a:path>
              </a:pathLst>
            </a:custGeom>
            <a:noFill/>
            <a:ln w="9525">
              <a:solidFill>
                <a:srgbClr val="B8C6D8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14350" y="1200150"/>
            <a:ext cx="11163300" cy="514350"/>
            <a:chOff x="514350" y="1200150"/>
            <a:chExt cx="11163300" cy="514350"/>
          </a:xfrm>
        </p:grpSpPr>
        <p:sp>
          <p:nvSpPr>
            <p:cNvPr id="7" name="Rectangle 7"/>
            <p:cNvSpPr/>
            <p:nvPr/>
          </p:nvSpPr>
          <p:spPr>
            <a:xfrm>
              <a:off x="514350" y="1200150"/>
              <a:ext cx="11163300" cy="514350"/>
            </a:xfrm>
            <a:prstGeom prst="roundRect">
              <a:avLst>
                <a:gd name="adj" fmla="val 7407"/>
              </a:avLst>
            </a:prstGeom>
            <a:solidFill>
              <a:srgbClr val="EFF5FB"/>
            </a:solidFill>
            <a:ln w="9525">
              <a:solidFill>
                <a:srgbClr val="D6E1EE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14350" y="1200150"/>
              <a:ext cx="1447800" cy="514350"/>
            </a:xfrm>
            <a:prstGeom prst="roundRect">
              <a:avLst>
                <a:gd name="adj" fmla="val 7407"/>
              </a:avLst>
            </a:prstGeom>
            <a:solidFill>
              <a:srgbClr val="0B4E9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14375" y="1352550"/>
              <a:ext cx="9982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Hiragino Sans GB"/>
                  <a:ea typeface="Hiragino Sans GB"/>
                  <a:cs typeface="Hiragino Sans GB"/>
                </a:rPr>
                <a:t>复盘口径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2219325" y="1419225"/>
              <a:ext cx="76200" cy="76200"/>
            </a:xfrm>
            <a:prstGeom prst="ellipse">
              <a:avLst/>
            </a:prstGeom>
            <a:solidFill>
              <a:srgbClr val="1477C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85060" y="1375410"/>
              <a:ext cx="1127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83A61"/>
                  </a:solidFill>
                  <a:latin typeface="Hiragino Sans GB"/>
                  <a:ea typeface="Hiragino Sans GB"/>
                  <a:cs typeface="Hiragino Sans GB"/>
                </a:rPr>
                <a:t>同一仓配网络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762375" y="1323975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9525">
              <a:solidFill>
                <a:srgbClr val="BAC8D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4038600" y="1419225"/>
              <a:ext cx="76200" cy="76200"/>
            </a:xfrm>
            <a:prstGeom prst="ellipse">
              <a:avLst/>
            </a:prstGeom>
            <a:solidFill>
              <a:srgbClr val="1477C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204335" y="1375410"/>
              <a:ext cx="1493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83A61"/>
                  </a:solidFill>
                  <a:latin typeface="Hiragino Sans GB"/>
                  <a:ea typeface="Hiragino Sans GB"/>
                  <a:cs typeface="Hiragino Sans GB"/>
                </a:rPr>
                <a:t>四项指标方向一致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38850" y="1323975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9525">
              <a:solidFill>
                <a:srgbClr val="BAC8D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315075" y="1419225"/>
              <a:ext cx="76200" cy="76200"/>
            </a:xfrm>
            <a:prstGeom prst="ellipse">
              <a:avLst/>
            </a:prstGeom>
            <a:solidFill>
              <a:srgbClr val="1477C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80810" y="1375410"/>
              <a:ext cx="24079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dirty="0">
                  <a:solidFill>
                    <a:srgbClr val="183A61"/>
                  </a:solidFill>
                  <a:latin typeface="Hiragino Sans GB"/>
                  <a:ea typeface="Hiragino Sans GB"/>
                  <a:cs typeface="Hiragino Sans GB"/>
                </a:rPr>
                <a:t>仅描述同期变化，不推断因果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353675" y="1323975"/>
              <a:ext cx="1114425" cy="266700"/>
            </a:xfrm>
            <a:prstGeom prst="roundRect">
              <a:avLst>
                <a:gd name="adj" fmla="val 10714"/>
              </a:avLst>
            </a:prstGeom>
            <a:solidFill>
              <a:srgbClr val="DCEBF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87038" y="1393031"/>
              <a:ext cx="7486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b="1" dirty="0">
                  <a:solidFill>
                    <a:srgbClr val="0B4E9B"/>
                  </a:solidFill>
                  <a:latin typeface="Hiragino Sans GB"/>
                  <a:ea typeface="Hiragino Sans GB"/>
                  <a:cs typeface="Hiragino Sans GB"/>
                </a:rPr>
                <a:t>合成演示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14350" y="1906429"/>
            <a:ext cx="5400675" cy="320040"/>
            <a:chOff x="514350" y="1906429"/>
            <a:chExt cx="5400675" cy="320040"/>
          </a:xfrm>
        </p:grpSpPr>
        <p:sp>
          <p:nvSpPr>
            <p:cNvPr id="21" name="Line 21"/>
            <p:cNvSpPr/>
            <p:nvPr/>
          </p:nvSpPr>
          <p:spPr>
            <a:xfrm>
              <a:off x="514350" y="2009775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9525">
              <a:solidFill>
                <a:srgbClr val="6E849D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23172" y="1906429"/>
              <a:ext cx="15521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75" b="1" dirty="0">
                  <a:solidFill>
                    <a:srgbClr val="153F72"/>
                  </a:solidFill>
                  <a:latin typeface="Hiragino Sans GB"/>
                  <a:ea typeface="Hiragino Sans GB"/>
                  <a:cs typeface="Hiragino Sans GB"/>
                </a:rPr>
                <a:t>三项行动机制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914775" y="2009775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9525">
              <a:solidFill>
                <a:srgbClr val="6E849D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14350" y="2247900"/>
            <a:ext cx="1938337" cy="1669256"/>
            <a:chOff x="514350" y="2247900"/>
            <a:chExt cx="1938337" cy="1669256"/>
          </a:xfrm>
        </p:grpSpPr>
        <p:sp>
          <p:nvSpPr>
            <p:cNvPr id="25" name="Rectangle 25"/>
            <p:cNvSpPr/>
            <p:nvPr/>
          </p:nvSpPr>
          <p:spPr>
            <a:xfrm>
              <a:off x="514350" y="2247900"/>
              <a:ext cx="1676400" cy="161925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C8D5E3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14350" y="2247900"/>
              <a:ext cx="1676400" cy="361950"/>
            </a:xfrm>
            <a:prstGeom prst="roundRect">
              <a:avLst>
                <a:gd name="adj" fmla="val 10526"/>
              </a:avLst>
            </a:prstGeom>
            <a:solidFill>
              <a:srgbClr val="0B4E9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2364581"/>
              <a:ext cx="10817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Hiragino Sans GB"/>
                  <a:ea typeface="Hiragino Sans GB"/>
                  <a:cs typeface="Hiragino Sans GB"/>
                </a:rPr>
                <a:t>01｜库位重排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23900" y="2819400"/>
              <a:ext cx="419100" cy="161925"/>
            </a:xfrm>
            <a:prstGeom prst="roundRect">
              <a:avLst>
                <a:gd name="adj" fmla="val 11765"/>
              </a:avLst>
            </a:prstGeom>
            <a:solidFill>
              <a:srgbClr val="B8D7F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23900" y="3028950"/>
              <a:ext cx="647700" cy="161925"/>
            </a:xfrm>
            <a:prstGeom prst="roundRect">
              <a:avLst>
                <a:gd name="adj" fmla="val 11765"/>
              </a:avLst>
            </a:prstGeom>
            <a:solidFill>
              <a:srgbClr val="6FA8DD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3900" y="3238500"/>
              <a:ext cx="866775" cy="161925"/>
            </a:xfrm>
            <a:prstGeom prst="roundRect">
              <a:avLst>
                <a:gd name="adj" fmla="val 11765"/>
              </a:avLst>
            </a:prstGeom>
            <a:solidFill>
              <a:srgbClr val="0B4E9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9612" y="3498056"/>
              <a:ext cx="16487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b="1" dirty="0">
                  <a:solidFill>
                    <a:srgbClr val="173B66"/>
                  </a:solidFill>
                  <a:latin typeface="Hiragino Sans GB"/>
                  <a:ea typeface="Hiragino Sans GB"/>
                  <a:cs typeface="Hiragino Sans GB"/>
                </a:rPr>
                <a:t>按动销级别调整库位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9612" y="3688556"/>
              <a:ext cx="17430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556B82"/>
                  </a:solidFill>
                  <a:latin typeface="Hiragino Sans GB"/>
                  <a:ea typeface="Hiragino Sans GB"/>
                  <a:cs typeface="Hiragino Sans GB"/>
                </a:rPr>
                <a:t>缩短高频货品行走距离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190750" y="2990850"/>
            <a:ext cx="285750" cy="133350"/>
            <a:chOff x="2190750" y="2990850"/>
            <a:chExt cx="285750" cy="133350"/>
          </a:xfrm>
        </p:grpSpPr>
        <p:sp>
          <p:nvSpPr>
            <p:cNvPr id="34" name="Line 34"/>
            <p:cNvSpPr/>
            <p:nvPr/>
          </p:nvSpPr>
          <p:spPr>
            <a:xfrm>
              <a:off x="2190750" y="305752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28575">
              <a:solidFill>
                <a:srgbClr val="0B4E9B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2381250" y="2990850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0" y="0"/>
                  </a:moveTo>
                  <a:lnTo>
                    <a:pt x="952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0B4E9B"/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2476500" y="2247900"/>
            <a:ext cx="2024062" cy="1669256"/>
            <a:chOff x="2476500" y="2247900"/>
            <a:chExt cx="2024062" cy="1669256"/>
          </a:xfrm>
        </p:grpSpPr>
        <p:sp>
          <p:nvSpPr>
            <p:cNvPr id="37" name="Rectangle 37"/>
            <p:cNvSpPr/>
            <p:nvPr/>
          </p:nvSpPr>
          <p:spPr>
            <a:xfrm>
              <a:off x="2476500" y="2247900"/>
              <a:ext cx="1676400" cy="161925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C8D5E3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476500" y="2247900"/>
              <a:ext cx="1676400" cy="361950"/>
            </a:xfrm>
            <a:prstGeom prst="roundRect">
              <a:avLst>
                <a:gd name="adj" fmla="val 10526"/>
              </a:avLst>
            </a:prstGeom>
            <a:solidFill>
              <a:srgbClr val="1477C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595562" y="2364581"/>
              <a:ext cx="11267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Hiragino Sans GB"/>
                  <a:ea typeface="Hiragino Sans GB"/>
                  <a:cs typeface="Hiragino Sans GB"/>
                </a:rPr>
                <a:t>02｜扫描校验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695575" y="2838450"/>
              <a:ext cx="400050" cy="514350"/>
            </a:xfrm>
            <a:prstGeom prst="roundRect">
              <a:avLst>
                <a:gd name="adj" fmla="val 7143"/>
              </a:avLst>
            </a:prstGeom>
            <a:solidFill>
              <a:srgbClr val="E4F0FA"/>
            </a:solidFill>
            <a:ln w="19050">
              <a:solidFill>
                <a:srgbClr val="1477C9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2771775" y="296227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9050">
              <a:solidFill>
                <a:srgbClr val="1477C9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2771775" y="30575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9050">
              <a:solidFill>
                <a:srgbClr val="1477C9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248025" y="2857500"/>
              <a:ext cx="685800" cy="104775"/>
            </a:xfrm>
            <a:prstGeom prst="rect">
              <a:avLst/>
            </a:prstGeom>
            <a:solidFill>
              <a:srgbClr val="B8D7F3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3248025" y="3038475"/>
              <a:ext cx="571500" cy="104775"/>
            </a:xfrm>
            <a:prstGeom prst="rect">
              <a:avLst/>
            </a:prstGeom>
            <a:solidFill>
              <a:srgbClr val="6FA8DD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248025" y="3219450"/>
              <a:ext cx="447675" cy="104775"/>
            </a:xfrm>
            <a:prstGeom prst="rect">
              <a:avLst/>
            </a:prstGeom>
            <a:solidFill>
              <a:srgbClr val="0B4E9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671762" y="3498056"/>
              <a:ext cx="1828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b="1" dirty="0">
                  <a:solidFill>
                    <a:srgbClr val="173B66"/>
                  </a:solidFill>
                  <a:latin typeface="Hiragino Sans GB"/>
                  <a:ea typeface="Hiragino Sans GB"/>
                  <a:cs typeface="Hiragino Sans GB"/>
                </a:rPr>
                <a:t>出库与退货均扫描复核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671762" y="3688556"/>
              <a:ext cx="17430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556B82"/>
                  </a:solidFill>
                  <a:latin typeface="Hiragino Sans GB"/>
                  <a:ea typeface="Hiragino Sans GB"/>
                  <a:cs typeface="Hiragino Sans GB"/>
                </a:rPr>
                <a:t>异常记录进入班次复盘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152900" y="2990850"/>
            <a:ext cx="285750" cy="133350"/>
            <a:chOff x="4152900" y="2990850"/>
            <a:chExt cx="285750" cy="133350"/>
          </a:xfrm>
        </p:grpSpPr>
        <p:sp>
          <p:nvSpPr>
            <p:cNvPr id="49" name="Line 49"/>
            <p:cNvSpPr/>
            <p:nvPr/>
          </p:nvSpPr>
          <p:spPr>
            <a:xfrm>
              <a:off x="4152900" y="3057525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28575">
              <a:solidFill>
                <a:srgbClr val="0B4E9B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4343400" y="2990850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0" y="0"/>
                  </a:moveTo>
                  <a:lnTo>
                    <a:pt x="95250" y="66675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0B4E9B"/>
            </a:solidFill>
            <a:ln>
              <a:noFill/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4438650" y="2247900"/>
            <a:ext cx="2194560" cy="1669256"/>
            <a:chOff x="4438650" y="2247900"/>
            <a:chExt cx="2194560" cy="1669256"/>
          </a:xfrm>
        </p:grpSpPr>
        <p:sp>
          <p:nvSpPr>
            <p:cNvPr id="52" name="Rectangle 52"/>
            <p:cNvSpPr/>
            <p:nvPr/>
          </p:nvSpPr>
          <p:spPr>
            <a:xfrm>
              <a:off x="4438650" y="2247900"/>
              <a:ext cx="1476375" cy="1619250"/>
            </a:xfrm>
            <a:prstGeom prst="roundRect">
              <a:avLst>
                <a:gd name="adj" fmla="val 2581"/>
              </a:avLst>
            </a:prstGeom>
            <a:solidFill>
              <a:srgbClr val="FFFFFF"/>
            </a:solidFill>
            <a:ln w="9525">
              <a:solidFill>
                <a:srgbClr val="C8D5E3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4438650" y="2247900"/>
              <a:ext cx="1476375" cy="361950"/>
            </a:xfrm>
            <a:prstGeom prst="roundRect">
              <a:avLst>
                <a:gd name="adj" fmla="val 10526"/>
              </a:avLst>
            </a:prstGeom>
            <a:solidFill>
              <a:srgbClr val="0A2F6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557712" y="2364581"/>
              <a:ext cx="14867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Hiragino Sans GB"/>
                  <a:ea typeface="Hiragino Sans GB"/>
                  <a:cs typeface="Hiragino Sans GB"/>
                </a:rPr>
                <a:t>03｜调拨规则统一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4638675" y="2876550"/>
              <a:ext cx="361950" cy="361950"/>
            </a:xfrm>
            <a:prstGeom prst="ellipse">
              <a:avLst/>
            </a:prstGeom>
            <a:solidFill>
              <a:srgbClr val="E4F0FA"/>
            </a:solidFill>
            <a:ln w="19050">
              <a:solidFill>
                <a:srgbClr val="0B4E9B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5429250" y="2762250"/>
              <a:ext cx="209550" cy="209550"/>
            </a:xfrm>
            <a:prstGeom prst="ellipse">
              <a:avLst/>
            </a:prstGeom>
            <a:solidFill>
              <a:srgbClr val="B8D7F3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5429250" y="3143250"/>
              <a:ext cx="209550" cy="209550"/>
            </a:xfrm>
            <a:prstGeom prst="ellipse">
              <a:avLst/>
            </a:prstGeom>
            <a:solidFill>
              <a:srgbClr val="6FA8DD"/>
            </a:solidFill>
            <a:ln>
              <a:noFill/>
            </a:ln>
          </p:spPr>
        </p:sp>
        <p:sp>
          <p:nvSpPr>
            <p:cNvPr id="58" name="Line 58"/>
            <p:cNvSpPr/>
            <p:nvPr/>
          </p:nvSpPr>
          <p:spPr>
            <a:xfrm>
              <a:off x="5000625" y="2895600"/>
              <a:ext cx="409575" cy="104775"/>
            </a:xfrm>
            <a:custGeom>
              <a:avLst/>
              <a:gdLst/>
              <a:ahLst/>
              <a:cxnLst/>
              <a:rect l="l" t="t" r="r" b="b"/>
              <a:pathLst>
                <a:path w="409575" h="104775">
                  <a:moveTo>
                    <a:pt x="0" y="104775"/>
                  </a:moveTo>
                  <a:lnTo>
                    <a:pt x="409575" y="0"/>
                  </a:lnTo>
                </a:path>
              </a:pathLst>
            </a:custGeom>
            <a:noFill/>
            <a:ln w="19050">
              <a:solidFill>
                <a:srgbClr val="0B4E9B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5000625" y="3114675"/>
              <a:ext cx="409575" cy="104775"/>
            </a:xfrm>
            <a:custGeom>
              <a:avLst/>
              <a:gdLst/>
              <a:ahLst/>
              <a:cxnLst/>
              <a:rect l="l" t="t" r="r" b="b"/>
              <a:pathLst>
                <a:path w="409575" h="104775">
                  <a:moveTo>
                    <a:pt x="0" y="0"/>
                  </a:moveTo>
                  <a:lnTo>
                    <a:pt x="409575" y="104775"/>
                  </a:lnTo>
                </a:path>
              </a:pathLst>
            </a:custGeom>
            <a:noFill/>
            <a:ln w="19050">
              <a:solidFill>
                <a:srgbClr val="0B4E9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624388" y="3498056"/>
              <a:ext cx="20088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b="1" dirty="0">
                  <a:solidFill>
                    <a:srgbClr val="173B66"/>
                  </a:solidFill>
                  <a:latin typeface="Hiragino Sans GB"/>
                  <a:ea typeface="Hiragino Sans GB"/>
                  <a:cs typeface="Hiragino Sans GB"/>
                </a:rPr>
                <a:t>跨区申请采用同一优先级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624388" y="3688556"/>
              <a:ext cx="19145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556B82"/>
                  </a:solidFill>
                  <a:latin typeface="Hiragino Sans GB"/>
                  <a:ea typeface="Hiragino Sans GB"/>
                  <a:cs typeface="Hiragino Sans GB"/>
                </a:rPr>
                <a:t>缺货与加急条件统一登记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6191250" y="1906429"/>
            <a:ext cx="5486400" cy="320040"/>
            <a:chOff x="6191250" y="1906429"/>
            <a:chExt cx="5486400" cy="320040"/>
          </a:xfrm>
        </p:grpSpPr>
        <p:sp>
          <p:nvSpPr>
            <p:cNvPr id="63" name="Line 63"/>
            <p:cNvSpPr/>
            <p:nvPr/>
          </p:nvSpPr>
          <p:spPr>
            <a:xfrm>
              <a:off x="6191250" y="2009775"/>
              <a:ext cx="1695450" cy="9525"/>
            </a:xfrm>
            <a:custGeom>
              <a:avLst/>
              <a:gdLst/>
              <a:ahLst/>
              <a:cxnLst/>
              <a:rect l="l" t="t" r="r" b="b"/>
              <a:pathLst>
                <a:path w="1695450" h="9525">
                  <a:moveTo>
                    <a:pt x="0" y="0"/>
                  </a:moveTo>
                  <a:lnTo>
                    <a:pt x="1695450" y="0"/>
                  </a:lnTo>
                </a:path>
              </a:pathLst>
            </a:custGeom>
            <a:noFill/>
            <a:ln w="9525">
              <a:solidFill>
                <a:srgbClr val="6E849D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038148" y="1906429"/>
              <a:ext cx="1552194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75" b="1" dirty="0">
                  <a:solidFill>
                    <a:srgbClr val="153F72"/>
                  </a:solidFill>
                  <a:latin typeface="Hiragino Sans GB"/>
                  <a:ea typeface="Hiragino Sans GB"/>
                  <a:cs typeface="Hiragino Sans GB"/>
                </a:rPr>
                <a:t>四项指标对比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9525000" y="2009775"/>
              <a:ext cx="2152650" cy="9525"/>
            </a:xfrm>
            <a:custGeom>
              <a:avLst/>
              <a:gdLst/>
              <a:ahLst/>
              <a:cxnLst/>
              <a:rect l="l" t="t" r="r" b="b"/>
              <a:pathLst>
                <a:path w="2152650" h="9525">
                  <a:moveTo>
                    <a:pt x="0" y="0"/>
                  </a:moveTo>
                  <a:lnTo>
                    <a:pt x="2152650" y="0"/>
                  </a:lnTo>
                </a:path>
              </a:pathLst>
            </a:custGeom>
            <a:noFill/>
            <a:ln w="9525">
              <a:solidFill>
                <a:srgbClr val="6E849D"/>
              </a:solidFill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6191250" y="2247900"/>
            <a:ext cx="2628900" cy="1619250"/>
            <a:chOff x="6191250" y="2247900"/>
            <a:chExt cx="2628900" cy="1619250"/>
          </a:xfrm>
        </p:grpSpPr>
        <p:sp>
          <p:nvSpPr>
            <p:cNvPr id="67" name="Rectangle 67"/>
            <p:cNvSpPr/>
            <p:nvPr/>
          </p:nvSpPr>
          <p:spPr>
            <a:xfrm>
              <a:off x="6191250" y="2247900"/>
              <a:ext cx="2628900" cy="1619250"/>
            </a:xfrm>
            <a:prstGeom prst="roundRect">
              <a:avLst>
                <a:gd name="adj" fmla="val 2353"/>
              </a:avLst>
            </a:prstGeom>
            <a:solidFill>
              <a:srgbClr val="F9FBFD"/>
            </a:solidFill>
            <a:ln w="9525">
              <a:solidFill>
                <a:srgbClr val="C8D5E3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348412" y="2364581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b="1" dirty="0">
                  <a:solidFill>
                    <a:srgbClr val="183A61"/>
                  </a:solidFill>
                  <a:latin typeface="Hiragino Sans GB"/>
                  <a:ea typeface="Hiragino Sans GB"/>
                  <a:cs typeface="Hiragino Sans GB"/>
                </a:rPr>
                <a:t>订单准时交付率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337935" y="2618422"/>
              <a:ext cx="60240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B4E9B"/>
                  </a:solidFill>
                  <a:latin typeface="Hiragino Sans GB"/>
                  <a:ea typeface="Hiragino Sans GB"/>
                  <a:cs typeface="Hiragino Sans GB"/>
                </a:rPr>
                <a:t>82%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910388" y="2697956"/>
              <a:ext cx="385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60758D"/>
                  </a:solidFill>
                  <a:latin typeface="Hiragino Sans GB"/>
                  <a:ea typeface="Hiragino Sans GB"/>
                  <a:cs typeface="Hiragino Sans GB"/>
                </a:rPr>
                <a:t>起点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661910" y="2618422"/>
              <a:ext cx="60240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77C9"/>
                  </a:solidFill>
                  <a:latin typeface="Hiragino Sans GB"/>
                  <a:ea typeface="Hiragino Sans GB"/>
                  <a:cs typeface="Hiragino Sans GB"/>
                </a:rPr>
                <a:t>94%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43888" y="2697956"/>
              <a:ext cx="385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60758D"/>
                  </a:solidFill>
                  <a:latin typeface="Hiragino Sans GB"/>
                  <a:ea typeface="Hiragino Sans GB"/>
                  <a:cs typeface="Hiragino Sans GB"/>
                </a:rPr>
                <a:t>当前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6362700" y="3476625"/>
              <a:ext cx="2247900" cy="9525"/>
            </a:xfrm>
            <a:custGeom>
              <a:avLst/>
              <a:gdLst/>
              <a:ahLst/>
              <a:cxnLst/>
              <a:rect l="l" t="t" r="r" b="b"/>
              <a:pathLst>
                <a:path w="2247900" h="9525">
                  <a:moveTo>
                    <a:pt x="0" y="0"/>
                  </a:moveTo>
                  <a:lnTo>
                    <a:pt x="2247900" y="0"/>
                  </a:lnTo>
                </a:path>
              </a:pathLst>
            </a:custGeom>
            <a:noFill/>
            <a:ln w="9525">
              <a:solidFill>
                <a:srgbClr val="AAB9C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715125" y="3162300"/>
              <a:ext cx="476250" cy="314325"/>
            </a:xfrm>
            <a:prstGeom prst="rect">
              <a:avLst/>
            </a:prstGeom>
            <a:solidFill>
              <a:srgbClr val="AFCBE8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791450" y="3009900"/>
              <a:ext cx="476250" cy="466725"/>
            </a:xfrm>
            <a:prstGeom prst="rect">
              <a:avLst/>
            </a:prstGeom>
            <a:solidFill>
              <a:srgbClr val="0B4E9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348412" y="3602831"/>
              <a:ext cx="15201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556B82"/>
                  </a:solidFill>
                  <a:latin typeface="Hiragino Sans GB"/>
                  <a:ea typeface="Hiragino Sans GB"/>
                  <a:cs typeface="Hiragino Sans GB"/>
                </a:rPr>
                <a:t>变化：+12 个百分点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048750" y="2247900"/>
            <a:ext cx="2628900" cy="1619250"/>
            <a:chOff x="9048750" y="2247900"/>
            <a:chExt cx="2628900" cy="1619250"/>
          </a:xfrm>
        </p:grpSpPr>
        <p:sp>
          <p:nvSpPr>
            <p:cNvPr id="78" name="Rectangle 78"/>
            <p:cNvSpPr/>
            <p:nvPr/>
          </p:nvSpPr>
          <p:spPr>
            <a:xfrm>
              <a:off x="9048750" y="2247900"/>
              <a:ext cx="2628900" cy="1619250"/>
            </a:xfrm>
            <a:prstGeom prst="roundRect">
              <a:avLst>
                <a:gd name="adj" fmla="val 2353"/>
              </a:avLst>
            </a:prstGeom>
            <a:solidFill>
              <a:srgbClr val="F9FBFD"/>
            </a:solidFill>
            <a:ln w="9525">
              <a:solidFill>
                <a:srgbClr val="C8D5E3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205912" y="2364581"/>
              <a:ext cx="11087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b="1" dirty="0">
                  <a:solidFill>
                    <a:srgbClr val="183A61"/>
                  </a:solidFill>
                  <a:latin typeface="Hiragino Sans GB"/>
                  <a:ea typeface="Hiragino Sans GB"/>
                  <a:cs typeface="Hiragino Sans GB"/>
                </a:rPr>
                <a:t>单单拣货时长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195435" y="2618422"/>
              <a:ext cx="39438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B4E9B"/>
                  </a:solidFill>
                  <a:latin typeface="Hiragino Sans GB"/>
                  <a:ea typeface="Hiragino Sans GB"/>
                  <a:cs typeface="Hiragino Sans GB"/>
                </a:rPr>
                <a:t>14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548812" y="2697956"/>
              <a:ext cx="385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60758D"/>
                  </a:solidFill>
                  <a:latin typeface="Hiragino Sans GB"/>
                  <a:ea typeface="Hiragino Sans GB"/>
                  <a:cs typeface="Hiragino Sans GB"/>
                </a:rPr>
                <a:t>分钟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462260" y="2618422"/>
              <a:ext cx="25136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77C9"/>
                  </a:solidFill>
                  <a:latin typeface="Hiragino Sans GB"/>
                  <a:ea typeface="Hiragino Sans GB"/>
                  <a:cs typeface="Hiragino Sans GB"/>
                </a:rPr>
                <a:t>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624185" y="2618422"/>
              <a:ext cx="25136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77C9"/>
                  </a:solidFill>
                  <a:latin typeface="Hiragino Sans GB"/>
                  <a:ea typeface="Hiragino Sans GB"/>
                  <a:cs typeface="Hiragino Sans GB"/>
                </a:rPr>
                <a:t>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863262" y="2697956"/>
              <a:ext cx="385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60758D"/>
                  </a:solidFill>
                  <a:latin typeface="Hiragino Sans GB"/>
                  <a:ea typeface="Hiragino Sans GB"/>
                  <a:cs typeface="Hiragino Sans GB"/>
                </a:rPr>
                <a:t>分钟</a:t>
              </a:r>
            </a:p>
          </p:txBody>
        </p:sp>
        <p:sp>
          <p:nvSpPr>
            <p:cNvPr id="85" name="Line 85"/>
            <p:cNvSpPr/>
            <p:nvPr/>
          </p:nvSpPr>
          <p:spPr>
            <a:xfrm>
              <a:off x="9220200" y="3476625"/>
              <a:ext cx="2247900" cy="9525"/>
            </a:xfrm>
            <a:custGeom>
              <a:avLst/>
              <a:gdLst/>
              <a:ahLst/>
              <a:cxnLst/>
              <a:rect l="l" t="t" r="r" b="b"/>
              <a:pathLst>
                <a:path w="2247900" h="9525">
                  <a:moveTo>
                    <a:pt x="0" y="0"/>
                  </a:moveTo>
                  <a:lnTo>
                    <a:pt x="2247900" y="0"/>
                  </a:lnTo>
                </a:path>
              </a:pathLst>
            </a:custGeom>
            <a:noFill/>
            <a:ln w="9525">
              <a:solidFill>
                <a:srgbClr val="AAB9C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9572625" y="3009900"/>
              <a:ext cx="476250" cy="466725"/>
            </a:xfrm>
            <a:prstGeom prst="rect">
              <a:avLst/>
            </a:prstGeom>
            <a:solidFill>
              <a:srgbClr val="AFCBE8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10648950" y="3114675"/>
              <a:ext cx="476250" cy="361950"/>
            </a:xfrm>
            <a:prstGeom prst="rect">
              <a:avLst/>
            </a:prstGeom>
            <a:solidFill>
              <a:srgbClr val="0B4E9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205912" y="3602831"/>
              <a:ext cx="14258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556B82"/>
                  </a:solidFill>
                  <a:latin typeface="Hiragino Sans GB"/>
                  <a:ea typeface="Hiragino Sans GB"/>
                  <a:cs typeface="Hiragino Sans GB"/>
                </a:rPr>
                <a:t>变化：缩短 3 分钟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6191250" y="4038600"/>
            <a:ext cx="2628900" cy="1619250"/>
            <a:chOff x="6191250" y="4038600"/>
            <a:chExt cx="2628900" cy="1619250"/>
          </a:xfrm>
        </p:grpSpPr>
        <p:sp>
          <p:nvSpPr>
            <p:cNvPr id="90" name="Rectangle 90"/>
            <p:cNvSpPr/>
            <p:nvPr/>
          </p:nvSpPr>
          <p:spPr>
            <a:xfrm>
              <a:off x="6191250" y="4038600"/>
              <a:ext cx="2628900" cy="1619250"/>
            </a:xfrm>
            <a:prstGeom prst="roundRect">
              <a:avLst>
                <a:gd name="adj" fmla="val 2353"/>
              </a:avLst>
            </a:prstGeom>
            <a:solidFill>
              <a:srgbClr val="F9FBFD"/>
            </a:solidFill>
            <a:ln w="9525">
              <a:solidFill>
                <a:srgbClr val="C8D5E3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348412" y="4155281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b="1" dirty="0">
                  <a:solidFill>
                    <a:srgbClr val="183A61"/>
                  </a:solidFill>
                  <a:latin typeface="Hiragino Sans GB"/>
                  <a:ea typeface="Hiragino Sans GB"/>
                  <a:cs typeface="Hiragino Sans GB"/>
                </a:rPr>
                <a:t>退货错发率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337935" y="4409122"/>
              <a:ext cx="68041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B4E9B"/>
                  </a:solidFill>
                  <a:latin typeface="Hiragino Sans GB"/>
                  <a:ea typeface="Hiragino Sans GB"/>
                  <a:cs typeface="Hiragino Sans GB"/>
                </a:rPr>
                <a:t>1.6%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967538" y="4488656"/>
              <a:ext cx="385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60758D"/>
                  </a:solidFill>
                  <a:latin typeface="Hiragino Sans GB"/>
                  <a:ea typeface="Hiragino Sans GB"/>
                  <a:cs typeface="Hiragino Sans GB"/>
                </a:rPr>
                <a:t>起点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661910" y="4409122"/>
              <a:ext cx="74542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77C9"/>
                  </a:solidFill>
                  <a:latin typeface="Hiragino Sans GB"/>
                  <a:ea typeface="Hiragino Sans GB"/>
                  <a:cs typeface="Hiragino Sans GB"/>
                </a:rPr>
                <a:t>0.9%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301038" y="4488656"/>
              <a:ext cx="385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60758D"/>
                  </a:solidFill>
                  <a:latin typeface="Hiragino Sans GB"/>
                  <a:ea typeface="Hiragino Sans GB"/>
                  <a:cs typeface="Hiragino Sans GB"/>
                </a:rPr>
                <a:t>当前</a:t>
              </a:r>
            </a:p>
          </p:txBody>
        </p:sp>
        <p:sp>
          <p:nvSpPr>
            <p:cNvPr id="96" name="Line 96"/>
            <p:cNvSpPr/>
            <p:nvPr/>
          </p:nvSpPr>
          <p:spPr>
            <a:xfrm>
              <a:off x="6362700" y="5267325"/>
              <a:ext cx="2247900" cy="9525"/>
            </a:xfrm>
            <a:custGeom>
              <a:avLst/>
              <a:gdLst/>
              <a:ahLst/>
              <a:cxnLst/>
              <a:rect l="l" t="t" r="r" b="b"/>
              <a:pathLst>
                <a:path w="2247900" h="9525">
                  <a:moveTo>
                    <a:pt x="0" y="0"/>
                  </a:moveTo>
                  <a:lnTo>
                    <a:pt x="2247900" y="0"/>
                  </a:lnTo>
                </a:path>
              </a:pathLst>
            </a:custGeom>
            <a:noFill/>
            <a:ln w="9525">
              <a:solidFill>
                <a:srgbClr val="AAB9CA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6715125" y="4800600"/>
              <a:ext cx="476250" cy="466725"/>
            </a:xfrm>
            <a:prstGeom prst="rect">
              <a:avLst/>
            </a:prstGeom>
            <a:solidFill>
              <a:srgbClr val="AFCBE8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7791450" y="5010150"/>
              <a:ext cx="476250" cy="257175"/>
            </a:xfrm>
            <a:prstGeom prst="rect">
              <a:avLst/>
            </a:prstGeom>
            <a:solidFill>
              <a:srgbClr val="0B4E9B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348412" y="5393531"/>
              <a:ext cx="19573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556B82"/>
                  </a:solidFill>
                  <a:latin typeface="Hiragino Sans GB"/>
                  <a:ea typeface="Hiragino Sans GB"/>
                  <a:cs typeface="Hiragino Sans GB"/>
                </a:rPr>
                <a:t>变化：下降 0.7 个百分点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9048750" y="4038600"/>
            <a:ext cx="2628900" cy="1619250"/>
            <a:chOff x="9048750" y="4038600"/>
            <a:chExt cx="2628900" cy="1619250"/>
          </a:xfrm>
        </p:grpSpPr>
        <p:sp>
          <p:nvSpPr>
            <p:cNvPr id="101" name="Rectangle 101"/>
            <p:cNvSpPr/>
            <p:nvPr/>
          </p:nvSpPr>
          <p:spPr>
            <a:xfrm>
              <a:off x="9048750" y="4038600"/>
              <a:ext cx="2628900" cy="1619250"/>
            </a:xfrm>
            <a:prstGeom prst="roundRect">
              <a:avLst>
                <a:gd name="adj" fmla="val 2353"/>
              </a:avLst>
            </a:prstGeom>
            <a:solidFill>
              <a:srgbClr val="F9FBFD"/>
            </a:solidFill>
            <a:ln w="9525">
              <a:solidFill>
                <a:srgbClr val="C8D5E3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9205912" y="4155281"/>
              <a:ext cx="11087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b="1" dirty="0">
                  <a:solidFill>
                    <a:srgbClr val="183A61"/>
                  </a:solidFill>
                  <a:latin typeface="Hiragino Sans GB"/>
                  <a:ea typeface="Hiragino Sans GB"/>
                  <a:cs typeface="Hiragino Sans GB"/>
                </a:rPr>
                <a:t>跨区调拨等待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195435" y="4409122"/>
              <a:ext cx="60240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0B4E9B"/>
                  </a:solidFill>
                  <a:latin typeface="Hiragino Sans GB"/>
                  <a:ea typeface="Hiragino Sans GB"/>
                  <a:cs typeface="Hiragino Sans GB"/>
                </a:rPr>
                <a:t>2.5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615488" y="4488656"/>
              <a:ext cx="2428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60758D"/>
                  </a:solidFill>
                  <a:latin typeface="Hiragino Sans GB"/>
                  <a:ea typeface="Hiragino Sans GB"/>
                  <a:cs typeface="Hiragino Sans GB"/>
                </a:rPr>
                <a:t>天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0462260" y="4409122"/>
              <a:ext cx="53740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1477C9"/>
                  </a:solidFill>
                  <a:latin typeface="Hiragino Sans GB"/>
                  <a:ea typeface="Hiragino Sans GB"/>
                  <a:cs typeface="Hiragino Sans GB"/>
                </a:rPr>
                <a:t>1.4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882312" y="4488656"/>
              <a:ext cx="2428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60758D"/>
                  </a:solidFill>
                  <a:latin typeface="Hiragino Sans GB"/>
                  <a:ea typeface="Hiragino Sans GB"/>
                  <a:cs typeface="Hiragino Sans GB"/>
                </a:rPr>
                <a:t>天</a:t>
              </a:r>
            </a:p>
          </p:txBody>
        </p:sp>
        <p:sp>
          <p:nvSpPr>
            <p:cNvPr id="107" name="Line 107"/>
            <p:cNvSpPr/>
            <p:nvPr/>
          </p:nvSpPr>
          <p:spPr>
            <a:xfrm>
              <a:off x="9220200" y="5267325"/>
              <a:ext cx="2247900" cy="9525"/>
            </a:xfrm>
            <a:custGeom>
              <a:avLst/>
              <a:gdLst/>
              <a:ahLst/>
              <a:cxnLst/>
              <a:rect l="l" t="t" r="r" b="b"/>
              <a:pathLst>
                <a:path w="2247900" h="9525">
                  <a:moveTo>
                    <a:pt x="0" y="0"/>
                  </a:moveTo>
                  <a:lnTo>
                    <a:pt x="2247900" y="0"/>
                  </a:lnTo>
                </a:path>
              </a:pathLst>
            </a:custGeom>
            <a:noFill/>
            <a:ln w="9525">
              <a:solidFill>
                <a:srgbClr val="AAB9CA"/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9572625" y="4800600"/>
              <a:ext cx="476250" cy="466725"/>
            </a:xfrm>
            <a:prstGeom prst="rect">
              <a:avLst/>
            </a:prstGeom>
            <a:solidFill>
              <a:srgbClr val="AFCBE8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10648950" y="5010150"/>
              <a:ext cx="476250" cy="257175"/>
            </a:xfrm>
            <a:prstGeom prst="rect">
              <a:avLst/>
            </a:prstGeom>
            <a:solidFill>
              <a:srgbClr val="0B4E9B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9205912" y="5393531"/>
              <a:ext cx="1357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556B82"/>
                  </a:solidFill>
                  <a:latin typeface="Hiragino Sans GB"/>
                  <a:ea typeface="Hiragino Sans GB"/>
                  <a:cs typeface="Hiragino Sans GB"/>
                </a:rPr>
                <a:t>变化：缩短 1.1 天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514350" y="4038600"/>
            <a:ext cx="5400675" cy="1619250"/>
            <a:chOff x="514350" y="4038600"/>
            <a:chExt cx="5400675" cy="1619250"/>
          </a:xfrm>
        </p:grpSpPr>
        <p:sp>
          <p:nvSpPr>
            <p:cNvPr id="112" name="Rectangle 112"/>
            <p:cNvSpPr/>
            <p:nvPr/>
          </p:nvSpPr>
          <p:spPr>
            <a:xfrm>
              <a:off x="514350" y="4038600"/>
              <a:ext cx="5400675" cy="1619250"/>
            </a:xfrm>
            <a:prstGeom prst="roundRect">
              <a:avLst>
                <a:gd name="adj" fmla="val 2353"/>
              </a:avLst>
            </a:prstGeom>
            <a:solidFill>
              <a:srgbClr val="F4F8FC"/>
            </a:solidFill>
            <a:ln w="9525">
              <a:solidFill>
                <a:srgbClr val="D2DFEC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708660" y="4204335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00" b="1" dirty="0">
                  <a:solidFill>
                    <a:srgbClr val="153F72"/>
                  </a:solidFill>
                  <a:latin typeface="Hiragino Sans GB"/>
                  <a:ea typeface="Hiragino Sans GB"/>
                  <a:cs typeface="Hiragino Sans GB"/>
                </a:rPr>
                <a:t>执行观察点</a:t>
              </a:r>
            </a:p>
          </p:txBody>
        </p:sp>
        <p:sp>
          <p:nvSpPr>
            <p:cNvPr id="114" name="Ellipse 114"/>
            <p:cNvSpPr/>
            <p:nvPr/>
          </p:nvSpPr>
          <p:spPr>
            <a:xfrm>
              <a:off x="733425" y="4591050"/>
              <a:ext cx="95250" cy="95250"/>
            </a:xfrm>
            <a:prstGeom prst="ellipse">
              <a:avLst/>
            </a:prstGeom>
            <a:solidFill>
              <a:srgbClr val="1477C9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928688" y="4574381"/>
              <a:ext cx="3629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2E4B69"/>
                  </a:solidFill>
                  <a:latin typeface="Hiragino Sans GB"/>
                  <a:ea typeface="Hiragino Sans GB"/>
                  <a:cs typeface="Hiragino Sans GB"/>
                </a:rPr>
                <a:t>库位：每周更新动销分级，变更记录到库位清单</a:t>
              </a:r>
            </a:p>
          </p:txBody>
        </p:sp>
        <p:sp>
          <p:nvSpPr>
            <p:cNvPr id="116" name="Ellipse 116"/>
            <p:cNvSpPr/>
            <p:nvPr/>
          </p:nvSpPr>
          <p:spPr>
            <a:xfrm>
              <a:off x="733425" y="4972050"/>
              <a:ext cx="95250" cy="95250"/>
            </a:xfrm>
            <a:prstGeom prst="ellipse">
              <a:avLst/>
            </a:prstGeom>
            <a:solidFill>
              <a:srgbClr val="1477C9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928688" y="4955381"/>
              <a:ext cx="3629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2E4B69"/>
                  </a:solidFill>
                  <a:latin typeface="Hiragino Sans GB"/>
                  <a:ea typeface="Hiragino Sans GB"/>
                  <a:cs typeface="Hiragino Sans GB"/>
                </a:rPr>
                <a:t>扫描：班次内登记漏扫与复核异常，不补写结果</a:t>
              </a:r>
            </a:p>
          </p:txBody>
        </p:sp>
        <p:sp>
          <p:nvSpPr>
            <p:cNvPr id="118" name="Ellipse 118"/>
            <p:cNvSpPr/>
            <p:nvPr/>
          </p:nvSpPr>
          <p:spPr>
            <a:xfrm>
              <a:off x="733425" y="5353050"/>
              <a:ext cx="95250" cy="95250"/>
            </a:xfrm>
            <a:prstGeom prst="ellipse">
              <a:avLst/>
            </a:prstGeom>
            <a:solidFill>
              <a:srgbClr val="1477C9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928688" y="5336381"/>
              <a:ext cx="31146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2E4B69"/>
                  </a:solidFill>
                  <a:latin typeface="Hiragino Sans GB"/>
                  <a:ea typeface="Hiragino Sans GB"/>
                  <a:cs typeface="Hiragino Sans GB"/>
                </a:rPr>
                <a:t>调拨：统一缺货、加急和跨区优先级字段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514350" y="5915025"/>
            <a:ext cx="11163300" cy="609600"/>
            <a:chOff x="514350" y="5915025"/>
            <a:chExt cx="11163300" cy="609600"/>
          </a:xfrm>
        </p:grpSpPr>
        <p:sp>
          <p:nvSpPr>
            <p:cNvPr id="121" name="Rectangle 121"/>
            <p:cNvSpPr/>
            <p:nvPr/>
          </p:nvSpPr>
          <p:spPr>
            <a:xfrm>
              <a:off x="514350" y="5915025"/>
              <a:ext cx="11163300" cy="609600"/>
            </a:xfrm>
            <a:prstGeom prst="roundRect">
              <a:avLst>
                <a:gd name="adj" fmla="val 6250"/>
              </a:avLst>
            </a:prstGeom>
            <a:solidFill>
              <a:srgbClr val="0A2F61"/>
            </a:solidFill>
            <a:ln>
              <a:noFill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514350" y="5915025"/>
              <a:ext cx="1676400" cy="609600"/>
            </a:xfrm>
            <a:prstGeom prst="roundRect">
              <a:avLst>
                <a:gd name="adj" fmla="val 6250"/>
              </a:avLst>
            </a:prstGeom>
            <a:solidFill>
              <a:srgbClr val="1477C9"/>
            </a:solidFill>
            <a:ln>
              <a:noFill/>
            </a:ln>
          </p:spPr>
        </p:sp>
        <p:sp>
          <p:nvSpPr>
            <p:cNvPr id="123" name="Ellipse 123"/>
            <p:cNvSpPr/>
            <p:nvPr/>
          </p:nvSpPr>
          <p:spPr>
            <a:xfrm>
              <a:off x="676275" y="6057900"/>
              <a:ext cx="323850" cy="3238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4" name="Line 124"/>
            <p:cNvSpPr/>
            <p:nvPr/>
          </p:nvSpPr>
          <p:spPr>
            <a:xfrm>
              <a:off x="752475" y="6229350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0" y="0"/>
                  </a:moveTo>
                  <a:lnTo>
                    <a:pt x="66675" y="66675"/>
                  </a:lnTo>
                </a:path>
              </a:pathLst>
            </a:custGeom>
            <a:noFill/>
            <a:ln w="38100">
              <a:solidFill>
                <a:srgbClr val="1477C9"/>
              </a:solidFill>
            </a:ln>
          </p:spPr>
        </p:sp>
        <p:sp>
          <p:nvSpPr>
            <p:cNvPr id="125" name="Line 125"/>
            <p:cNvSpPr/>
            <p:nvPr/>
          </p:nvSpPr>
          <p:spPr>
            <a:xfrm>
              <a:off x="819150" y="6134100"/>
              <a:ext cx="114300" cy="161925"/>
            </a:xfrm>
            <a:custGeom>
              <a:avLst/>
              <a:gdLst/>
              <a:ahLst/>
              <a:cxnLst/>
              <a:rect l="l" t="t" r="r" b="b"/>
              <a:pathLst>
                <a:path w="114300" h="161925">
                  <a:moveTo>
                    <a:pt x="0" y="161925"/>
                  </a:moveTo>
                  <a:lnTo>
                    <a:pt x="114300" y="0"/>
                  </a:lnTo>
                </a:path>
              </a:pathLst>
            </a:custGeom>
            <a:noFill/>
            <a:ln w="38100">
              <a:solidFill>
                <a:srgbClr val="1477C9"/>
              </a:solidFill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1085850" y="612457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Hiragino Sans GB"/>
                  <a:ea typeface="Hiragino Sans GB"/>
                  <a:cs typeface="Hiragino Sans GB"/>
                </a:rPr>
                <a:t>洞察与行动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2430780" y="6026468"/>
              <a:ext cx="30586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Hiragino Sans GB"/>
                  <a:ea typeface="Hiragino Sans GB"/>
                  <a:cs typeface="Hiragino Sans GB"/>
                </a:rPr>
                <a:t>当前结果支持继续固化作业机制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2433638" y="6288881"/>
              <a:ext cx="50006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DCEBFA"/>
                  </a:solidFill>
                  <a:latin typeface="Hiragino Sans GB"/>
                  <a:ea typeface="Hiragino Sans GB"/>
                  <a:cs typeface="Hiragino Sans GB"/>
                </a:rPr>
                <a:t>下轮按同口径复盘四项指标，并单独验证各行动与指标变化的关系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0882312" y="6174581"/>
              <a:ext cx="2214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5" dirty="0">
                  <a:solidFill>
                    <a:srgbClr val="BBD3EA"/>
                  </a:solidFill>
                  <a:latin typeface="Hiragino Sans GB"/>
                  <a:ea typeface="Hiragino Sans GB"/>
                  <a:cs typeface="Hiragino Sans GB"/>
                </a:rPr>
                <a:t>01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